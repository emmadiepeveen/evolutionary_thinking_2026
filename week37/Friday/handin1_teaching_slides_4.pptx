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334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EVOLUTION · TA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Ideas Behind Hand-in 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 · AIC/BIC · Gamma &amp; invariant sites · mtDNA vs nuclear DNA · Humans, Neanderthals &amp; Denisovans · BRCA1 &amp; EKAF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 flipV="1">
            <a:off x="9418320" y="3657600"/>
            <a:ext cx="9144" cy="1463040"/>
          </a:xfrm>
          <a:prstGeom prst="line">
            <a:avLst/>
          </a:prstGeom>
          <a:noFill/>
          <a:ln w="30480">
            <a:solidFill>
              <a:srgbClr val="3D7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 flipH="1" flipV="1">
            <a:off x="8412480" y="2834640"/>
            <a:ext cx="1005840" cy="822960"/>
          </a:xfrm>
          <a:prstGeom prst="line">
            <a:avLst/>
          </a:prstGeom>
          <a:noFill/>
          <a:ln w="30480">
            <a:solidFill>
              <a:srgbClr val="3D7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 flipV="1">
            <a:off x="9418320" y="2926080"/>
            <a:ext cx="1005840" cy="731520"/>
          </a:xfrm>
          <a:prstGeom prst="line">
            <a:avLst/>
          </a:prstGeom>
          <a:noFill/>
          <a:ln w="30480">
            <a:solidFill>
              <a:srgbClr val="3D7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 flipH="1" flipV="1">
            <a:off x="7680960" y="2286000"/>
            <a:ext cx="731520" cy="548640"/>
          </a:xfrm>
          <a:prstGeom prst="line">
            <a:avLst/>
          </a:prstGeom>
          <a:noFill/>
          <a:ln w="30480">
            <a:solidFill>
              <a:srgbClr val="3D7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 flipV="1">
            <a:off x="8412480" y="2194560"/>
            <a:ext cx="548640" cy="640080"/>
          </a:xfrm>
          <a:prstGeom prst="line">
            <a:avLst/>
          </a:prstGeom>
          <a:noFill/>
          <a:ln w="30480">
            <a:solidFill>
              <a:srgbClr val="3D7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 flipH="1" flipV="1">
            <a:off x="9966960" y="2286000"/>
            <a:ext cx="457200" cy="640080"/>
          </a:xfrm>
          <a:prstGeom prst="line">
            <a:avLst/>
          </a:prstGeom>
          <a:noFill/>
          <a:ln w="30480">
            <a:solidFill>
              <a:srgbClr val="3D7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 flipV="1">
            <a:off x="10424160" y="2468880"/>
            <a:ext cx="731520" cy="457200"/>
          </a:xfrm>
          <a:prstGeom prst="line">
            <a:avLst/>
          </a:prstGeom>
          <a:noFill/>
          <a:ln w="30480">
            <a:solidFill>
              <a:srgbClr val="3D78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616952" y="2221992"/>
            <a:ext cx="128016" cy="128016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897112" y="2130552"/>
            <a:ext cx="128016" cy="128016"/>
          </a:xfrm>
          <a:prstGeom prst="ellipse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9902952" y="2221992"/>
            <a:ext cx="128016" cy="128016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1091672" y="2404872"/>
            <a:ext cx="128016" cy="128016"/>
          </a:xfrm>
          <a:prstGeom prst="ellipse">
            <a:avLst/>
          </a:prstGeom>
          <a:solidFill>
            <a:srgbClr val="BFE3E8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we didn't get to recap last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7335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seven ideas didn't make it into last session's recap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082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Bootstrapping, model selection (AIC/BIC), rate heterogeneity (+G and +I), mtDNA biology, and the human/Neanderthal/Denisovan story — we're covering them properly here instead.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15640"/>
            <a:ext cx="502920" cy="502920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94360" y="3215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5163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not optional background — they're what Hand-in 1 is actually asking about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9910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below maps onto a real part of your write-up, across the primates, homomtDNA, whales, BRCA1 and EKAF datasets.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693920"/>
            <a:ext cx="502920" cy="502920"/>
          </a:xfrm>
          <a:prstGeom prst="ellipse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594360" y="4693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62991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this as a reference, not a one-time read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7738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back to the matching section once you're sitting with that part of the hand-in and something doesn't quite click.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build up, and why it's on the hand-in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572768"/>
            <a:ext cx="444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929384"/>
            <a:ext cx="4449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confident is each branch, really?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24448" y="1600200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101688" y="1572768"/>
            <a:ext cx="444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vs BIC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01688" y="1929384"/>
            <a:ext cx="4449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a substitution model without overfitting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679192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35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444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Gamma 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008376"/>
            <a:ext cx="4449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different sites evolve at different rates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24448" y="2679192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01688" y="2651760"/>
            <a:ext cx="444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sites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01688" y="3008376"/>
            <a:ext cx="4449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that never change, modeled explicitly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758184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71600" y="3730752"/>
            <a:ext cx="444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mtDNA vs nuclear DNA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087368"/>
            <a:ext cx="4449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genomes, two very different histories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24448" y="3758184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35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101688" y="3730752"/>
            <a:ext cx="444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/ Neanderthal / Denisovan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01688" y="4087368"/>
            <a:ext cx="4449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homomtDNA dataset is really asking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4837176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371600" y="4809744"/>
            <a:ext cx="444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&amp; EKAF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5166360"/>
            <a:ext cx="4449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genes behind two of your datasets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1E55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2331720"/>
            <a:ext cx="740664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Bootstrapping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379476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should you trust each branch on your tree?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60520" y="1965960"/>
            <a:ext cx="146304" cy="146304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453128" y="1965960"/>
            <a:ext cx="146304" cy="146304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45736" y="1965960"/>
            <a:ext cx="146304" cy="146304"/>
          </a:xfrm>
          <a:prstGeom prst="ellipse">
            <a:avLst/>
          </a:prstGeom>
          <a:solidFill>
            <a:srgbClr val="BFE3E8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it solves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02920" cy="502920"/>
          </a:xfrm>
          <a:prstGeom prst="ellipse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7335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alignment is one sample of evolutionary history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082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have the sites that happened to be sequenced — a different (equally valid) sample of sites could, in principle, support a slightly different tree.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15640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94360" y="3215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5163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branches are well-supported by many sites; others hang on very few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9910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gives you one topology with no sense of which splits are solid and which are shaky.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693920"/>
            <a:ext cx="502920" cy="502920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594360" y="4693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62991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 turns that uncertainty into a number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7738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asks: if I had slightly different data drawn from the same alignment, would I still recover this exact branch? Repeating that many times gives a % — the bootstrap support value.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procedure,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329184" cy="329184"/>
          </a:xfrm>
          <a:prstGeom prst="ellipse">
            <a:avLst/>
          </a:prstGeom>
          <a:solidFill>
            <a:srgbClr val="1F5F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4264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the alignment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97280" y="2468880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239012" y="2468880"/>
            <a:ext cx="141732" cy="141732"/>
          </a:xfrm>
          <a:prstGeom prst="rect">
            <a:avLst/>
          </a:prstGeom>
          <a:solidFill>
            <a:srgbClr val="D98E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380744" y="2468880"/>
            <a:ext cx="141732" cy="141732"/>
          </a:xfrm>
          <a:prstGeom prst="rect">
            <a:avLst/>
          </a:prstGeom>
          <a:solidFill>
            <a:srgbClr val="BFE3E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522476" y="2468880"/>
            <a:ext cx="141732" cy="141732"/>
          </a:xfrm>
          <a:prstGeom prst="rect">
            <a:avLst/>
          </a:prstGeom>
          <a:solidFill>
            <a:srgbClr val="B3541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664208" y="2468880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05940" y="2468880"/>
            <a:ext cx="141732" cy="141732"/>
          </a:xfrm>
          <a:prstGeom prst="rect">
            <a:avLst/>
          </a:prstGeom>
          <a:solidFill>
            <a:srgbClr val="D98E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947672" y="2468880"/>
            <a:ext cx="141732" cy="141732"/>
          </a:xfrm>
          <a:prstGeom prst="rect">
            <a:avLst/>
          </a:prstGeom>
          <a:solidFill>
            <a:srgbClr val="BFE3E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089404" y="2468880"/>
            <a:ext cx="141732" cy="141732"/>
          </a:xfrm>
          <a:prstGeom prst="rect">
            <a:avLst/>
          </a:prstGeom>
          <a:solidFill>
            <a:srgbClr val="B3541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097280" y="2610612"/>
            <a:ext cx="141732" cy="141732"/>
          </a:xfrm>
          <a:prstGeom prst="rect">
            <a:avLst/>
          </a:prstGeom>
          <a:solidFill>
            <a:srgbClr val="D98E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239012" y="2610612"/>
            <a:ext cx="141732" cy="141732"/>
          </a:xfrm>
          <a:prstGeom prst="rect">
            <a:avLst/>
          </a:prstGeom>
          <a:solidFill>
            <a:srgbClr val="BFE3E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380744" y="2610612"/>
            <a:ext cx="141732" cy="141732"/>
          </a:xfrm>
          <a:prstGeom prst="rect">
            <a:avLst/>
          </a:prstGeom>
          <a:solidFill>
            <a:srgbClr val="B3541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522476" y="2610612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664208" y="2610612"/>
            <a:ext cx="141732" cy="141732"/>
          </a:xfrm>
          <a:prstGeom prst="rect">
            <a:avLst/>
          </a:prstGeom>
          <a:solidFill>
            <a:srgbClr val="D98E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805940" y="2610612"/>
            <a:ext cx="141732" cy="141732"/>
          </a:xfrm>
          <a:prstGeom prst="rect">
            <a:avLst/>
          </a:prstGeom>
          <a:solidFill>
            <a:srgbClr val="BFE3E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947672" y="2610612"/>
            <a:ext cx="141732" cy="141732"/>
          </a:xfrm>
          <a:prstGeom prst="rect">
            <a:avLst/>
          </a:prstGeom>
          <a:solidFill>
            <a:srgbClr val="B3541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089404" y="2610612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097280" y="2752344"/>
            <a:ext cx="141732" cy="141732"/>
          </a:xfrm>
          <a:prstGeom prst="rect">
            <a:avLst/>
          </a:prstGeom>
          <a:solidFill>
            <a:srgbClr val="BFE3E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239012" y="2752344"/>
            <a:ext cx="141732" cy="141732"/>
          </a:xfrm>
          <a:prstGeom prst="rect">
            <a:avLst/>
          </a:prstGeom>
          <a:solidFill>
            <a:srgbClr val="B3541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380744" y="2752344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522476" y="2752344"/>
            <a:ext cx="141732" cy="141732"/>
          </a:xfrm>
          <a:prstGeom prst="rect">
            <a:avLst/>
          </a:prstGeom>
          <a:solidFill>
            <a:srgbClr val="D98E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664208" y="2752344"/>
            <a:ext cx="141732" cy="141732"/>
          </a:xfrm>
          <a:prstGeom prst="rect">
            <a:avLst/>
          </a:prstGeom>
          <a:solidFill>
            <a:srgbClr val="BFE3E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805940" y="2752344"/>
            <a:ext cx="141732" cy="141732"/>
          </a:xfrm>
          <a:prstGeom prst="rect">
            <a:avLst/>
          </a:prstGeom>
          <a:solidFill>
            <a:srgbClr val="B3541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1947672" y="2752344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089404" y="2752344"/>
            <a:ext cx="141732" cy="141732"/>
          </a:xfrm>
          <a:prstGeom prst="rect">
            <a:avLst/>
          </a:prstGeom>
          <a:solidFill>
            <a:srgbClr val="D98E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1097280" y="2894076"/>
            <a:ext cx="141732" cy="141732"/>
          </a:xfrm>
          <a:prstGeom prst="rect">
            <a:avLst/>
          </a:prstGeom>
          <a:solidFill>
            <a:srgbClr val="B3541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1239012" y="2894076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1380744" y="2894076"/>
            <a:ext cx="141732" cy="141732"/>
          </a:xfrm>
          <a:prstGeom prst="rect">
            <a:avLst/>
          </a:prstGeom>
          <a:solidFill>
            <a:srgbClr val="D98E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1522476" y="2894076"/>
            <a:ext cx="141732" cy="141732"/>
          </a:xfrm>
          <a:prstGeom prst="rect">
            <a:avLst/>
          </a:prstGeom>
          <a:solidFill>
            <a:srgbClr val="BFE3E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1664208" y="2894076"/>
            <a:ext cx="141732" cy="141732"/>
          </a:xfrm>
          <a:prstGeom prst="rect">
            <a:avLst/>
          </a:prstGeom>
          <a:solidFill>
            <a:srgbClr val="B3541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1805940" y="2894076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1947672" y="2894076"/>
            <a:ext cx="141732" cy="141732"/>
          </a:xfrm>
          <a:prstGeom prst="rect">
            <a:avLst/>
          </a:prstGeom>
          <a:solidFill>
            <a:srgbClr val="D98E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2089404" y="2894076"/>
            <a:ext cx="141732" cy="141732"/>
          </a:xfrm>
          <a:prstGeom prst="rect">
            <a:avLst/>
          </a:prstGeom>
          <a:solidFill>
            <a:srgbClr val="BFE3E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94360" y="20848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alignment (columns = sites)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664208" y="3108960"/>
            <a:ext cx="914" cy="310896"/>
          </a:xfrm>
          <a:prstGeom prst="line">
            <a:avLst/>
          </a:prstGeom>
          <a:noFill/>
          <a:ln w="20320">
            <a:solidFill>
              <a:srgbClr val="5A6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1097280" y="3538728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1239012" y="3538728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1380744" y="3538728"/>
            <a:ext cx="141732" cy="141732"/>
          </a:xfrm>
          <a:prstGeom prst="rect">
            <a:avLst/>
          </a:prstGeom>
          <a:solidFill>
            <a:srgbClr val="D98E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1522476" y="3538728"/>
            <a:ext cx="141732" cy="141732"/>
          </a:xfrm>
          <a:prstGeom prst="rect">
            <a:avLst/>
          </a:prstGeom>
          <a:solidFill>
            <a:srgbClr val="BFE3E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1664208" y="3538728"/>
            <a:ext cx="141732" cy="141732"/>
          </a:xfrm>
          <a:prstGeom prst="rect">
            <a:avLst/>
          </a:prstGeom>
          <a:solidFill>
            <a:srgbClr val="B3541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1805940" y="3538728"/>
            <a:ext cx="141732" cy="141732"/>
          </a:xfrm>
          <a:prstGeom prst="rect">
            <a:avLst/>
          </a:prstGeom>
          <a:solidFill>
            <a:srgbClr val="B3541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1947672" y="3538728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2089404" y="3538728"/>
            <a:ext cx="141732" cy="141732"/>
          </a:xfrm>
          <a:prstGeom prst="rect">
            <a:avLst/>
          </a:prstGeom>
          <a:solidFill>
            <a:srgbClr val="D98E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1097280" y="3808476"/>
            <a:ext cx="141732" cy="141732"/>
          </a:xfrm>
          <a:prstGeom prst="rect">
            <a:avLst/>
          </a:prstGeom>
          <a:solidFill>
            <a:srgbClr val="D98E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1239012" y="3808476"/>
            <a:ext cx="141732" cy="141732"/>
          </a:xfrm>
          <a:prstGeom prst="rect">
            <a:avLst/>
          </a:prstGeom>
          <a:solidFill>
            <a:srgbClr val="BFE3E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1380744" y="3808476"/>
            <a:ext cx="141732" cy="141732"/>
          </a:xfrm>
          <a:prstGeom prst="rect">
            <a:avLst/>
          </a:prstGeom>
          <a:solidFill>
            <a:srgbClr val="BFE3E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1522476" y="3808476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1664208" y="3808476"/>
            <a:ext cx="141732" cy="141732"/>
          </a:xfrm>
          <a:prstGeom prst="rect">
            <a:avLst/>
          </a:prstGeom>
          <a:solidFill>
            <a:srgbClr val="B3541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1805940" y="3808476"/>
            <a:ext cx="141732" cy="141732"/>
          </a:xfrm>
          <a:prstGeom prst="rect">
            <a:avLst/>
          </a:prstGeom>
          <a:solidFill>
            <a:srgbClr val="D98E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1947672" y="3808476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2089404" y="3808476"/>
            <a:ext cx="141732" cy="141732"/>
          </a:xfrm>
          <a:prstGeom prst="rect">
            <a:avLst/>
          </a:prstGeom>
          <a:solidFill>
            <a:srgbClr val="B3541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1097280" y="4078224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1239012" y="4078224"/>
            <a:ext cx="141732" cy="141732"/>
          </a:xfrm>
          <a:prstGeom prst="rect">
            <a:avLst/>
          </a:prstGeom>
          <a:solidFill>
            <a:srgbClr val="D98E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1380744" y="4078224"/>
            <a:ext cx="141732" cy="141732"/>
          </a:xfrm>
          <a:prstGeom prst="rect">
            <a:avLst/>
          </a:prstGeom>
          <a:solidFill>
            <a:srgbClr val="B3541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1522476" y="4078224"/>
            <a:ext cx="141732" cy="141732"/>
          </a:xfrm>
          <a:prstGeom prst="rect">
            <a:avLst/>
          </a:prstGeom>
          <a:solidFill>
            <a:srgbClr val="B3541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1664208" y="4078224"/>
            <a:ext cx="141732" cy="141732"/>
          </a:xfrm>
          <a:prstGeom prst="rect">
            <a:avLst/>
          </a:prstGeom>
          <a:solidFill>
            <a:srgbClr val="BFE3E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1805940" y="4078224"/>
            <a:ext cx="141732" cy="141732"/>
          </a:xfrm>
          <a:prstGeom prst="rect">
            <a:avLst/>
          </a:prstGeom>
          <a:solidFill>
            <a:srgbClr val="1F5F6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1947672" y="4078224"/>
            <a:ext cx="141732" cy="141732"/>
          </a:xfrm>
          <a:prstGeom prst="rect">
            <a:avLst/>
          </a:prstGeom>
          <a:solidFill>
            <a:srgbClr val="D98E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2089404" y="4078224"/>
            <a:ext cx="141732" cy="141732"/>
          </a:xfrm>
          <a:prstGeom prst="rect">
            <a:avLst/>
          </a:prstGeom>
          <a:solidFill>
            <a:srgbClr val="BFE3E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594360" y="440283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replicate alignments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(drawn with replacement — 3 shown)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840480" y="2971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7" name="Shape 65"/>
          <p:cNvSpPr/>
          <p:nvPr/>
        </p:nvSpPr>
        <p:spPr>
          <a:xfrm>
            <a:off x="4206240" y="1481328"/>
            <a:ext cx="329184" cy="329184"/>
          </a:xfrm>
          <a:prstGeom prst="ellipse">
            <a:avLst/>
          </a:prstGeom>
          <a:solidFill>
            <a:srgbClr val="1F5F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4206240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4617720" y="14264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 tree from each replicate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5669280" y="3657600"/>
            <a:ext cx="1115568" cy="1161288"/>
          </a:xfrm>
          <a:prstGeom prst="roundRect">
            <a:avLst>
              <a:gd name="adj" fmla="val 4918"/>
            </a:avLst>
          </a:prstGeom>
          <a:ln w="16510">
            <a:solidFill>
              <a:srgbClr val="B3541E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4705502" y="2414016"/>
            <a:ext cx="296266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4705502" y="2743200"/>
            <a:ext cx="296266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4705502" y="2414016"/>
            <a:ext cx="914" cy="32918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4442155" y="2578608"/>
            <a:ext cx="263347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4442155" y="3072384"/>
            <a:ext cx="559613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4442155" y="2578608"/>
            <a:ext cx="914" cy="493776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4960620" y="2372868"/>
            <a:ext cx="82296" cy="82296"/>
          </a:xfrm>
          <a:prstGeom prst="ellipse">
            <a:avLst/>
          </a:prstGeom>
          <a:solidFill>
            <a:srgbClr val="1F5F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6"/>
          <p:cNvSpPr/>
          <p:nvPr/>
        </p:nvSpPr>
        <p:spPr>
          <a:xfrm>
            <a:off x="4960620" y="2702052"/>
            <a:ext cx="82296" cy="82296"/>
          </a:xfrm>
          <a:prstGeom prst="ellipse">
            <a:avLst/>
          </a:prstGeom>
          <a:solidFill>
            <a:srgbClr val="D9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4960620" y="3031236"/>
            <a:ext cx="82296" cy="82296"/>
          </a:xfrm>
          <a:prstGeom prst="ellipse">
            <a:avLst/>
          </a:prstGeom>
          <a:solidFill>
            <a:srgbClr val="B354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8"/>
          <p:cNvSpPr/>
          <p:nvPr/>
        </p:nvSpPr>
        <p:spPr>
          <a:xfrm>
            <a:off x="6168542" y="2414016"/>
            <a:ext cx="296266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6168542" y="2743200"/>
            <a:ext cx="296266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6168542" y="2414016"/>
            <a:ext cx="914" cy="32918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5905195" y="2578608"/>
            <a:ext cx="263347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5905195" y="3072384"/>
            <a:ext cx="559613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3"/>
          <p:cNvSpPr/>
          <p:nvPr/>
        </p:nvSpPr>
        <p:spPr>
          <a:xfrm>
            <a:off x="5905195" y="2578608"/>
            <a:ext cx="914" cy="493776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4"/>
          <p:cNvSpPr/>
          <p:nvPr/>
        </p:nvSpPr>
        <p:spPr>
          <a:xfrm>
            <a:off x="6423660" y="2372868"/>
            <a:ext cx="82296" cy="82296"/>
          </a:xfrm>
          <a:prstGeom prst="ellipse">
            <a:avLst/>
          </a:prstGeom>
          <a:solidFill>
            <a:srgbClr val="1F5F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5"/>
          <p:cNvSpPr/>
          <p:nvPr/>
        </p:nvSpPr>
        <p:spPr>
          <a:xfrm>
            <a:off x="6423660" y="2702052"/>
            <a:ext cx="82296" cy="82296"/>
          </a:xfrm>
          <a:prstGeom prst="ellipse">
            <a:avLst/>
          </a:prstGeom>
          <a:solidFill>
            <a:srgbClr val="D9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6"/>
          <p:cNvSpPr/>
          <p:nvPr/>
        </p:nvSpPr>
        <p:spPr>
          <a:xfrm>
            <a:off x="6423660" y="3031236"/>
            <a:ext cx="82296" cy="82296"/>
          </a:xfrm>
          <a:prstGeom prst="ellipse">
            <a:avLst/>
          </a:prstGeom>
          <a:solidFill>
            <a:srgbClr val="B354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7"/>
          <p:cNvSpPr/>
          <p:nvPr/>
        </p:nvSpPr>
        <p:spPr>
          <a:xfrm>
            <a:off x="4705502" y="3785616"/>
            <a:ext cx="296266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88"/>
          <p:cNvSpPr/>
          <p:nvPr/>
        </p:nvSpPr>
        <p:spPr>
          <a:xfrm>
            <a:off x="4705502" y="4114800"/>
            <a:ext cx="296266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Shape 89"/>
          <p:cNvSpPr/>
          <p:nvPr/>
        </p:nvSpPr>
        <p:spPr>
          <a:xfrm>
            <a:off x="4705502" y="3785616"/>
            <a:ext cx="914" cy="32918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Shape 90"/>
          <p:cNvSpPr/>
          <p:nvPr/>
        </p:nvSpPr>
        <p:spPr>
          <a:xfrm>
            <a:off x="4442155" y="3950208"/>
            <a:ext cx="263347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1"/>
          <p:cNvSpPr/>
          <p:nvPr/>
        </p:nvSpPr>
        <p:spPr>
          <a:xfrm>
            <a:off x="4442155" y="4443984"/>
            <a:ext cx="559613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92"/>
          <p:cNvSpPr/>
          <p:nvPr/>
        </p:nvSpPr>
        <p:spPr>
          <a:xfrm>
            <a:off x="4442155" y="3950208"/>
            <a:ext cx="914" cy="493776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Shape 93"/>
          <p:cNvSpPr/>
          <p:nvPr/>
        </p:nvSpPr>
        <p:spPr>
          <a:xfrm>
            <a:off x="4960620" y="3744468"/>
            <a:ext cx="82296" cy="82296"/>
          </a:xfrm>
          <a:prstGeom prst="ellipse">
            <a:avLst/>
          </a:prstGeom>
          <a:solidFill>
            <a:srgbClr val="1F5F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Shape 94"/>
          <p:cNvSpPr/>
          <p:nvPr/>
        </p:nvSpPr>
        <p:spPr>
          <a:xfrm>
            <a:off x="4960620" y="4073652"/>
            <a:ext cx="82296" cy="82296"/>
          </a:xfrm>
          <a:prstGeom prst="ellipse">
            <a:avLst/>
          </a:prstGeom>
          <a:solidFill>
            <a:srgbClr val="D9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5"/>
          <p:cNvSpPr/>
          <p:nvPr/>
        </p:nvSpPr>
        <p:spPr>
          <a:xfrm>
            <a:off x="4960620" y="4402836"/>
            <a:ext cx="82296" cy="82296"/>
          </a:xfrm>
          <a:prstGeom prst="ellipse">
            <a:avLst/>
          </a:prstGeom>
          <a:solidFill>
            <a:srgbClr val="B354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96"/>
          <p:cNvSpPr/>
          <p:nvPr/>
        </p:nvSpPr>
        <p:spPr>
          <a:xfrm>
            <a:off x="6168542" y="4114800"/>
            <a:ext cx="296266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Shape 97"/>
          <p:cNvSpPr/>
          <p:nvPr/>
        </p:nvSpPr>
        <p:spPr>
          <a:xfrm>
            <a:off x="6168542" y="4443984"/>
            <a:ext cx="296266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98"/>
          <p:cNvSpPr/>
          <p:nvPr/>
        </p:nvSpPr>
        <p:spPr>
          <a:xfrm>
            <a:off x="6168542" y="4114800"/>
            <a:ext cx="914" cy="32918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9"/>
          <p:cNvSpPr/>
          <p:nvPr/>
        </p:nvSpPr>
        <p:spPr>
          <a:xfrm>
            <a:off x="5905195" y="4279392"/>
            <a:ext cx="263347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Shape 100"/>
          <p:cNvSpPr/>
          <p:nvPr/>
        </p:nvSpPr>
        <p:spPr>
          <a:xfrm>
            <a:off x="5905195" y="3785616"/>
            <a:ext cx="559613" cy="914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Shape 101"/>
          <p:cNvSpPr/>
          <p:nvPr/>
        </p:nvSpPr>
        <p:spPr>
          <a:xfrm flipV="1">
            <a:off x="5905195" y="3785616"/>
            <a:ext cx="914" cy="493776"/>
          </a:xfrm>
          <a:prstGeom prst="line">
            <a:avLst/>
          </a:prstGeom>
          <a:noFill/>
          <a:ln w="1778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102"/>
          <p:cNvSpPr/>
          <p:nvPr/>
        </p:nvSpPr>
        <p:spPr>
          <a:xfrm>
            <a:off x="6423660" y="3744468"/>
            <a:ext cx="82296" cy="82296"/>
          </a:xfrm>
          <a:prstGeom prst="ellipse">
            <a:avLst/>
          </a:prstGeom>
          <a:solidFill>
            <a:srgbClr val="1F5F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3"/>
          <p:cNvSpPr/>
          <p:nvPr/>
        </p:nvSpPr>
        <p:spPr>
          <a:xfrm>
            <a:off x="6423660" y="4073652"/>
            <a:ext cx="82296" cy="82296"/>
          </a:xfrm>
          <a:prstGeom prst="ellipse">
            <a:avLst/>
          </a:prstGeom>
          <a:solidFill>
            <a:srgbClr val="D9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Shape 104"/>
          <p:cNvSpPr/>
          <p:nvPr/>
        </p:nvSpPr>
        <p:spPr>
          <a:xfrm>
            <a:off x="6423660" y="4402836"/>
            <a:ext cx="82296" cy="82296"/>
          </a:xfrm>
          <a:prstGeom prst="ellipse">
            <a:avLst/>
          </a:prstGeom>
          <a:solidFill>
            <a:srgbClr val="B354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Text 105"/>
          <p:cNvSpPr/>
          <p:nvPr/>
        </p:nvSpPr>
        <p:spPr>
          <a:xfrm>
            <a:off x="5486400" y="4828032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topology!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4206240" y="510235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 lineages tracked by tip color, across 4 (of the 1000) replicate trees — the shaded one groups them differently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7452360" y="2971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0" name="Shape 108"/>
          <p:cNvSpPr/>
          <p:nvPr/>
        </p:nvSpPr>
        <p:spPr>
          <a:xfrm>
            <a:off x="7818120" y="1481328"/>
            <a:ext cx="329184" cy="329184"/>
          </a:xfrm>
          <a:prstGeom prst="ellipse">
            <a:avLst/>
          </a:prstGeom>
          <a:solidFill>
            <a:srgbClr val="1F5F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Text 109"/>
          <p:cNvSpPr/>
          <p:nvPr/>
        </p:nvSpPr>
        <p:spPr>
          <a:xfrm>
            <a:off x="7818120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2" name="Text 110"/>
          <p:cNvSpPr/>
          <p:nvPr/>
        </p:nvSpPr>
        <p:spPr>
          <a:xfrm>
            <a:off x="8229600" y="142646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majority-rule consensus</a:t>
            </a:r>
            <a:endParaRPr lang="en-US" sz="1350" dirty="0"/>
          </a:p>
        </p:txBody>
      </p:sp>
      <p:sp>
        <p:nvSpPr>
          <p:cNvPr id="113" name="Shape 111"/>
          <p:cNvSpPr/>
          <p:nvPr/>
        </p:nvSpPr>
        <p:spPr>
          <a:xfrm>
            <a:off x="9283446" y="2674620"/>
            <a:ext cx="637794" cy="914"/>
          </a:xfrm>
          <a:prstGeom prst="line">
            <a:avLst/>
          </a:prstGeom>
          <a:noFill/>
          <a:ln w="254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Shape 112"/>
          <p:cNvSpPr/>
          <p:nvPr/>
        </p:nvSpPr>
        <p:spPr>
          <a:xfrm>
            <a:off x="9283446" y="3383280"/>
            <a:ext cx="637794" cy="914"/>
          </a:xfrm>
          <a:prstGeom prst="line">
            <a:avLst/>
          </a:prstGeom>
          <a:noFill/>
          <a:ln w="254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Shape 113"/>
          <p:cNvSpPr/>
          <p:nvPr/>
        </p:nvSpPr>
        <p:spPr>
          <a:xfrm>
            <a:off x="9283446" y="2674620"/>
            <a:ext cx="914" cy="708660"/>
          </a:xfrm>
          <a:prstGeom prst="line">
            <a:avLst/>
          </a:prstGeom>
          <a:noFill/>
          <a:ln w="254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Shape 114"/>
          <p:cNvSpPr/>
          <p:nvPr/>
        </p:nvSpPr>
        <p:spPr>
          <a:xfrm>
            <a:off x="8716518" y="3028950"/>
            <a:ext cx="566928" cy="914"/>
          </a:xfrm>
          <a:prstGeom prst="line">
            <a:avLst/>
          </a:prstGeom>
          <a:noFill/>
          <a:ln w="254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Shape 115"/>
          <p:cNvSpPr/>
          <p:nvPr/>
        </p:nvSpPr>
        <p:spPr>
          <a:xfrm>
            <a:off x="8716518" y="4091940"/>
            <a:ext cx="1204722" cy="914"/>
          </a:xfrm>
          <a:prstGeom prst="line">
            <a:avLst/>
          </a:prstGeom>
          <a:noFill/>
          <a:ln w="254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Shape 116"/>
          <p:cNvSpPr/>
          <p:nvPr/>
        </p:nvSpPr>
        <p:spPr>
          <a:xfrm>
            <a:off x="8716518" y="3028950"/>
            <a:ext cx="914" cy="1062990"/>
          </a:xfrm>
          <a:prstGeom prst="line">
            <a:avLst/>
          </a:prstGeom>
          <a:noFill/>
          <a:ln w="254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Shape 117"/>
          <p:cNvSpPr/>
          <p:nvPr/>
        </p:nvSpPr>
        <p:spPr>
          <a:xfrm>
            <a:off x="9880092" y="2633472"/>
            <a:ext cx="82296" cy="82296"/>
          </a:xfrm>
          <a:prstGeom prst="ellipse">
            <a:avLst/>
          </a:prstGeom>
          <a:solidFill>
            <a:srgbClr val="1F5F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Shape 118"/>
          <p:cNvSpPr/>
          <p:nvPr/>
        </p:nvSpPr>
        <p:spPr>
          <a:xfrm>
            <a:off x="9880092" y="3342132"/>
            <a:ext cx="82296" cy="82296"/>
          </a:xfrm>
          <a:prstGeom prst="ellipse">
            <a:avLst/>
          </a:prstGeom>
          <a:solidFill>
            <a:srgbClr val="D9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Shape 119"/>
          <p:cNvSpPr/>
          <p:nvPr/>
        </p:nvSpPr>
        <p:spPr>
          <a:xfrm>
            <a:off x="9880092" y="4050792"/>
            <a:ext cx="82296" cy="82296"/>
          </a:xfrm>
          <a:prstGeom prst="ellipse">
            <a:avLst/>
          </a:prstGeom>
          <a:solidFill>
            <a:srgbClr val="B354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Shape 120"/>
          <p:cNvSpPr/>
          <p:nvPr/>
        </p:nvSpPr>
        <p:spPr>
          <a:xfrm>
            <a:off x="9214866" y="2960370"/>
            <a:ext cx="137160" cy="137160"/>
          </a:xfrm>
          <a:prstGeom prst="ellipse">
            <a:avLst/>
          </a:prstGeom>
          <a:solidFill>
            <a:srgbClr val="D9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Shape 121"/>
          <p:cNvSpPr/>
          <p:nvPr/>
        </p:nvSpPr>
        <p:spPr>
          <a:xfrm>
            <a:off x="9164574" y="2910078"/>
            <a:ext cx="237744" cy="237744"/>
          </a:xfrm>
          <a:prstGeom prst="ellipse">
            <a:avLst/>
          </a:prstGeom>
          <a:ln w="17780">
            <a:solidFill>
              <a:srgbClr val="D98E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4" name="Text 122"/>
          <p:cNvSpPr/>
          <p:nvPr/>
        </p:nvSpPr>
        <p:spPr>
          <a:xfrm>
            <a:off x="9411462" y="288264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500" dirty="0"/>
          </a:p>
        </p:txBody>
      </p:sp>
      <p:sp>
        <p:nvSpPr>
          <p:cNvPr id="125" name="Text 123"/>
          <p:cNvSpPr/>
          <p:nvPr/>
        </p:nvSpPr>
        <p:spPr>
          <a:xfrm>
            <a:off x="7818120" y="4297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of the 1000 replicate trees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this exact split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594360" y="58978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7" name="Text 125"/>
          <p:cNvSpPr/>
          <p:nvPr/>
        </p:nvSpPr>
        <p:spPr>
          <a:xfrm>
            <a:off x="822960" y="58978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bootstrap value isn't a property of any single replicate tree — it's the % of all 1000 replicate trees whose consensus agrees with that split.</a:t>
            </a:r>
            <a:endParaRPr lang="en-US" sz="1250" dirty="0"/>
          </a:p>
        </p:txBody>
      </p:sp>
      <p:sp>
        <p:nvSpPr>
          <p:cNvPr id="128" name="Text 1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support values on a real tree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69080" y="1828800"/>
            <a:ext cx="594360" cy="914"/>
          </a:xfrm>
          <a:prstGeom prst="line">
            <a:avLst/>
          </a:prstGeom>
          <a:noFill/>
          <a:ln w="2286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069080" y="2331720"/>
            <a:ext cx="594360" cy="914"/>
          </a:xfrm>
          <a:prstGeom prst="line">
            <a:avLst/>
          </a:prstGeom>
          <a:noFill/>
          <a:ln w="2286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069080" y="1828800"/>
            <a:ext cx="914" cy="502920"/>
          </a:xfrm>
          <a:prstGeom prst="line">
            <a:avLst/>
          </a:prstGeom>
          <a:noFill/>
          <a:ln w="2286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429000" y="2080260"/>
            <a:ext cx="640080" cy="914"/>
          </a:xfrm>
          <a:prstGeom prst="line">
            <a:avLst/>
          </a:prstGeom>
          <a:noFill/>
          <a:ln w="2286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429000" y="2880360"/>
            <a:ext cx="1234440" cy="914"/>
          </a:xfrm>
          <a:prstGeom prst="line">
            <a:avLst/>
          </a:prstGeom>
          <a:noFill/>
          <a:ln w="2286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429000" y="2080260"/>
            <a:ext cx="914" cy="800100"/>
          </a:xfrm>
          <a:prstGeom prst="line">
            <a:avLst/>
          </a:prstGeom>
          <a:noFill/>
          <a:ln w="2286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697480" y="2480310"/>
            <a:ext cx="731520" cy="914"/>
          </a:xfrm>
          <a:prstGeom prst="line">
            <a:avLst/>
          </a:prstGeom>
          <a:noFill/>
          <a:ln w="2286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697480" y="3611880"/>
            <a:ext cx="1965960" cy="914"/>
          </a:xfrm>
          <a:prstGeom prst="line">
            <a:avLst/>
          </a:prstGeom>
          <a:noFill/>
          <a:ln w="2286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697480" y="2480310"/>
            <a:ext cx="914" cy="1131570"/>
          </a:xfrm>
          <a:prstGeom prst="line">
            <a:avLst/>
          </a:prstGeom>
          <a:noFill/>
          <a:ln w="2286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874520" y="3046095"/>
            <a:ext cx="822960" cy="914"/>
          </a:xfrm>
          <a:prstGeom prst="line">
            <a:avLst/>
          </a:prstGeom>
          <a:noFill/>
          <a:ln w="2286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874520" y="4434840"/>
            <a:ext cx="2788920" cy="914"/>
          </a:xfrm>
          <a:prstGeom prst="line">
            <a:avLst/>
          </a:prstGeom>
          <a:noFill/>
          <a:ln w="2286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874520" y="3046095"/>
            <a:ext cx="914" cy="1388745"/>
          </a:xfrm>
          <a:prstGeom prst="line">
            <a:avLst/>
          </a:prstGeom>
          <a:noFill/>
          <a:ln w="2286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554480" y="3740467"/>
            <a:ext cx="320040" cy="914"/>
          </a:xfrm>
          <a:prstGeom prst="line">
            <a:avLst/>
          </a:prstGeom>
          <a:noFill/>
          <a:ln w="2286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791456" y="16824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21854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91456" y="27340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Gorilla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91456" y="34655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Orangutan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91456" y="42885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Gibbon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014216" y="2025396"/>
            <a:ext cx="109728" cy="109728"/>
          </a:xfrm>
          <a:prstGeom prst="ellipse">
            <a:avLst/>
          </a:prstGeom>
          <a:solidFill>
            <a:srgbClr val="1F5F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383280" y="180594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74136" y="2425446"/>
            <a:ext cx="109728" cy="109728"/>
          </a:xfrm>
          <a:prstGeom prst="ellipse">
            <a:avLst/>
          </a:prstGeom>
          <a:solidFill>
            <a:srgbClr val="1F5F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743200" y="220599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42616" y="2991231"/>
            <a:ext cx="109728" cy="109728"/>
          </a:xfrm>
          <a:prstGeom prst="ellipse">
            <a:avLst/>
          </a:prstGeom>
          <a:solidFill>
            <a:srgbClr val="B354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011680" y="2771775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819656" y="3685603"/>
            <a:ext cx="109728" cy="109728"/>
          </a:xfrm>
          <a:prstGeom prst="ellipse">
            <a:avLst/>
          </a:prstGeom>
          <a:solidFill>
            <a:srgbClr val="1F5F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188720" y="3466147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959352" y="1970532"/>
            <a:ext cx="219456" cy="219456"/>
          </a:xfrm>
          <a:prstGeom prst="ellipse">
            <a:avLst/>
          </a:prstGeom>
          <a:ln w="19050">
            <a:solidFill>
              <a:srgbClr val="1F5F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94360" y="146304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dot marks the node itself — the % always sits on that internal branch, never on a tip.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5001768"/>
            <a:ext cx="146304" cy="146304"/>
          </a:xfrm>
          <a:prstGeom prst="ellipse">
            <a:avLst/>
          </a:prstGeom>
          <a:solidFill>
            <a:srgbClr val="1F5F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813816" y="4937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 strong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995221" y="5001768"/>
            <a:ext cx="146304" cy="146304"/>
          </a:xfrm>
          <a:prstGeom prst="ellipse">
            <a:avLst/>
          </a:prstGeom>
          <a:solidFill>
            <a:srgbClr val="D9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2214677" y="4937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70–89 moderate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21024" y="5001768"/>
            <a:ext cx="146304" cy="146304"/>
          </a:xfrm>
          <a:prstGeom prst="ellipse">
            <a:avLst/>
          </a:prstGeom>
          <a:solidFill>
            <a:srgbClr val="B354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840480" y="4937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70 weak / poorly resolved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 flipV="1">
            <a:off x="4160520" y="1783080"/>
            <a:ext cx="2240280" cy="251460"/>
          </a:xfrm>
          <a:prstGeom prst="line">
            <a:avLst/>
          </a:prstGeom>
          <a:noFill/>
          <a:ln w="13970">
            <a:solidFill>
              <a:srgbClr val="5A6B72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537960" y="148132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"98%" actually mean?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537960" y="187452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 of the 1000 bootstrap replicate trees placed Human and Chimp together as sisters — recovering exactly this split.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37960" y="2450592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20 replicates grouped them differently: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056882" y="2857500"/>
            <a:ext cx="349758" cy="914"/>
          </a:xfrm>
          <a:prstGeom prst="line">
            <a:avLst/>
          </a:prstGeom>
          <a:noFill/>
          <a:ln w="16510">
            <a:solidFill>
              <a:srgbClr val="5A6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056882" y="3246120"/>
            <a:ext cx="349758" cy="914"/>
          </a:xfrm>
          <a:prstGeom prst="line">
            <a:avLst/>
          </a:prstGeom>
          <a:noFill/>
          <a:ln w="16510">
            <a:solidFill>
              <a:srgbClr val="5A6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056882" y="2857500"/>
            <a:ext cx="914" cy="388620"/>
          </a:xfrm>
          <a:prstGeom prst="line">
            <a:avLst/>
          </a:prstGeom>
          <a:noFill/>
          <a:ln w="16510">
            <a:solidFill>
              <a:srgbClr val="5A6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6745986" y="3051810"/>
            <a:ext cx="310896" cy="914"/>
          </a:xfrm>
          <a:prstGeom prst="line">
            <a:avLst/>
          </a:prstGeom>
          <a:noFill/>
          <a:ln w="16510">
            <a:solidFill>
              <a:srgbClr val="5A6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6745986" y="3634740"/>
            <a:ext cx="660654" cy="914"/>
          </a:xfrm>
          <a:prstGeom prst="line">
            <a:avLst/>
          </a:prstGeom>
          <a:noFill/>
          <a:ln w="16510">
            <a:solidFill>
              <a:srgbClr val="5A6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6745986" y="3051810"/>
            <a:ext cx="914" cy="582930"/>
          </a:xfrm>
          <a:prstGeom prst="line">
            <a:avLst/>
          </a:prstGeom>
          <a:noFill/>
          <a:ln w="16510">
            <a:solidFill>
              <a:srgbClr val="5A6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7479792" y="272948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479792" y="31181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Gorilla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479792" y="35067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Chimp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537960" y="374904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 of the 20 group Human + Gorilla instead, with Chimp outside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056882" y="4709160"/>
            <a:ext cx="349758" cy="914"/>
          </a:xfrm>
          <a:prstGeom prst="line">
            <a:avLst/>
          </a:prstGeom>
          <a:noFill/>
          <a:ln w="16510">
            <a:solidFill>
              <a:srgbClr val="5A6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7056882" y="5097780"/>
            <a:ext cx="349758" cy="914"/>
          </a:xfrm>
          <a:prstGeom prst="line">
            <a:avLst/>
          </a:prstGeom>
          <a:noFill/>
          <a:ln w="16510">
            <a:solidFill>
              <a:srgbClr val="5A6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7056882" y="4709160"/>
            <a:ext cx="914" cy="388620"/>
          </a:xfrm>
          <a:prstGeom prst="line">
            <a:avLst/>
          </a:prstGeom>
          <a:noFill/>
          <a:ln w="16510">
            <a:solidFill>
              <a:srgbClr val="5A6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6745986" y="4903470"/>
            <a:ext cx="310896" cy="914"/>
          </a:xfrm>
          <a:prstGeom prst="line">
            <a:avLst/>
          </a:prstGeom>
          <a:noFill/>
          <a:ln w="16510">
            <a:solidFill>
              <a:srgbClr val="5A6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6745986" y="4320540"/>
            <a:ext cx="660654" cy="914"/>
          </a:xfrm>
          <a:prstGeom prst="line">
            <a:avLst/>
          </a:prstGeom>
          <a:noFill/>
          <a:ln w="16510">
            <a:solidFill>
              <a:srgbClr val="5A6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 flipV="1">
            <a:off x="6745986" y="4320540"/>
            <a:ext cx="914" cy="582930"/>
          </a:xfrm>
          <a:prstGeom prst="line">
            <a:avLst/>
          </a:prstGeom>
          <a:noFill/>
          <a:ln w="16510">
            <a:solidFill>
              <a:srgbClr val="5A6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7479792" y="41925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479792" y="458114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Chimp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479792" y="496976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Gorilla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537960" y="521208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of the 20 group Chimp + Gorilla instead, with Human outside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94360" y="58978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822960" y="58978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= the fraction of the 1000 replicate trees that agree with one specific split — not a vote on the whole tree, and never assigned to a tip.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bootstrap value does and doesn't tell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94360" y="1883664"/>
            <a:ext cx="5074920" cy="283464"/>
          </a:xfrm>
          <a:prstGeom prst="rect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measure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5262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repeatable this split is, given this alignment and this method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signal for a clade is spread across many sites or resting on just a few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tree is well-resolved vs. ambiguous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172200" y="1883664"/>
            <a:ext cx="5074920" cy="283464"/>
          </a:xfrm>
          <a:prstGeom prst="rect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00800" y="1600200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measure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5262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that the clade is biologically true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about systematic error — a wrong model or bad alignment can give 100% support to a wrong clade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Comparability across different methods (NJ vs MP use different information)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548640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&gt; 70% is often called “significant”, &gt; 80–95% is “strong” — but always ask what could be inflating or deflating the number.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1E55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2331720"/>
            <a:ext cx="740664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 vs BIC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379476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substitution model without just picking the most complex 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60520" y="1965960"/>
            <a:ext cx="146304" cy="146304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453128" y="1965960"/>
            <a:ext cx="146304" cy="146304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45736" y="1965960"/>
            <a:ext cx="146304" cy="146304"/>
          </a:xfrm>
          <a:prstGeom prst="ellipse">
            <a:avLst/>
          </a:prstGeom>
          <a:solidFill>
            <a:srgbClr val="BFE3E8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/ BIC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use the most complex model?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02920" cy="502920"/>
          </a:xfrm>
          <a:prstGeom prst="ellipse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7335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complex model (more free parameters) can only fit the data better — or equally well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082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parameters (rate categories, base frequencies…) never hurts the likelihood, so likelihood alone always favors GTR+G+I over JC69.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15640"/>
            <a:ext cx="502920" cy="502920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94360" y="3215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5163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an overly complex model overfits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9910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explaining noise in your particular alignment, not the real evolutionary process — and its estimates (branch lengths, distances) become less reliable.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693920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594360" y="4693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62991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and BIC formalize the trade-off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7738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 = (badness of fit) + (a penalty that grows with the number of parameters, k). Lower score = better trade-off.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/ BIC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improves with complexity — the penalty grows too</a:t>
            </a:r>
            <a:endParaRPr lang="en-US" sz="3000" dirty="0"/>
          </a:p>
        </p:txBody>
      </p:sp>
      <p:pic>
        <p:nvPicPr>
          <p:cNvPr id="4" name="Image 0" descr="/tmp/claude-0/-home-claude/9f71a64d-4cec-57f9-b654-d5939c15103f/scratchpad/slides/figures/aic_bic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792" y="1536192"/>
            <a:ext cx="5896111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58978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58978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isn't the one with the best fit — it's the one that minimizes fit + penalty.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/ BIC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 vs BIC — same idea, different penalty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94360" y="1883664"/>
            <a:ext cx="5074920" cy="283464"/>
          </a:xfrm>
          <a:prstGeom prst="rect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= 2k − 2·ln(L)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5262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grows linearly with k (2 points per parameter)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Tends to keep more parameters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</a:t>
            </a:r>
            <a:r>
              <a:rPr lang="en-US" sz="130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both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1233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172200" y="1883664"/>
            <a:ext cx="5074920" cy="283464"/>
          </a:xfrm>
          <a:prstGeom prst="rect">
            <a:avLst/>
          </a:prstGeom>
          <a:solidFill>
            <a:srgbClr val="1233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00800" y="1600200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= k·ln(n) − 2·ln(L)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5262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scales with ln(n), n = number of sites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ln(n) &gt; 2 for any alignment longer than ~7 sites, BIC punishes extra parameters harder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Favors simpler models, especially on long alignments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548640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the model's likelihood given your data; lower AIC/BIC = better trade-off of fit vs. complexity, not a probability itself.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1E55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2331720"/>
            <a:ext cx="740664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Gamma Model (+G)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379476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different sites evolve at different speeds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60520" y="1965960"/>
            <a:ext cx="146304" cy="146304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453128" y="1965960"/>
            <a:ext cx="146304" cy="146304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45736" y="1965960"/>
            <a:ext cx="146304" cy="146304"/>
          </a:xfrm>
          <a:prstGeom prst="ellipse">
            <a:avLst/>
          </a:prstGeom>
          <a:solidFill>
            <a:srgbClr val="BFE3E8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we mean by a “site”, and its “rate”?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02920" cy="502920"/>
          </a:xfrm>
          <a:prstGeom prst="ellipse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7335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 is one column of the alignment — one homologous nucleotide position shared across all your sequences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082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“relative rate” just means: how often does this particular column show a difference between sequences, compared to other columns in the same alignment? +G assigns each column its own rate multiplier, estimated purely from how much change is actually observed there.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15640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94360" y="3215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5163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position is the clearest example — but not the only source of rate variation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9910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codon positions being “fast” is the textbook case, but the same idea covers e.g. paired vs. unpaired bases in rRNA/tRNA secondary structure, buried vs. surface-exposed protein residues, and regulatory vs. functionally unconstrained stretches of DNA.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693920"/>
            <a:ext cx="502920" cy="502920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594360" y="4693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62991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asks WHY a site is fast or slow — only THAT it is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7738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is fit from the data, column by column; the biological reason (codon position, structural role, …) is something you interpret afterward, not something you tell the model in advance.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Codon position: the clearest 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02920" cy="502920"/>
          </a:xfrm>
          <a:prstGeom prst="ellipse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7335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codon positions change often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082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genetic code is degenerate there — many mutations don't change the amino acid, so they aren't removed by selection.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15640"/>
            <a:ext cx="502920" cy="502920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94360" y="3215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5163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1st/2nd codon positions and structurally critical residues change rarely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9910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any change there alters the protein, so purifying selection removes most of them.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693920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594360" y="4693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62991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this unevenness underestimates true divergence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7738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hits pile up at the few fast sites and go uncounted, dragging every distance-based estimate down.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Γ distribution models that unevenness</a:t>
            </a:r>
            <a:endParaRPr lang="en-US" sz="3000" dirty="0"/>
          </a:p>
        </p:txBody>
      </p:sp>
      <p:pic>
        <p:nvPicPr>
          <p:cNvPr id="4" name="Image 0" descr="/tmp/claude-0/-home-claude/9f71a64d-4cec-57f9-b654-d5939c15103f/scratchpad/slides/figures/gamma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172" y="1536192"/>
            <a:ext cx="6799351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58978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58978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is estimated by maximum likelihood directly from your alignment — it's not something you guess.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shape parameter 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126480" y="1600200"/>
            <a:ext cx="5074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α (&lt; 1): very uneven rates — most sites nearly frozen, a handful of “hot” sites absorb most of the change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≈ 1: moderate unevenness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α (&gt;&gt; 1): rates flatten toward uniform — close to what JC69/K2P silently assume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reports α alongside the best-fit model (Models → Find Best DNA Model)</a:t>
            </a:r>
            <a:endParaRPr lang="en-US" sz="1450" dirty="0"/>
          </a:p>
        </p:txBody>
      </p:sp>
      <p:pic>
        <p:nvPicPr>
          <p:cNvPr id="5" name="Image 0" descr="/tmp/claude-0/-home-claude/9f71a64d-4cec-57f9-b654-d5939c15103f/scratchpad/slides/figures/gamma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96369"/>
            <a:ext cx="5074920" cy="31053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1E55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2331720"/>
            <a:ext cx="740664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Invariant Sites (+I)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379476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sites simply never change — model them as such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60520" y="1965960"/>
            <a:ext cx="146304" cy="146304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453128" y="1965960"/>
            <a:ext cx="146304" cy="146304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45736" y="1965960"/>
            <a:ext cx="146304" cy="146304"/>
          </a:xfrm>
          <a:prstGeom prst="ellipse">
            <a:avLst/>
          </a:prstGeom>
          <a:solidFill>
            <a:srgbClr val="BFE3E8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SITES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different kind of “slow”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02920" cy="502920"/>
          </a:xfrm>
          <a:prstGeom prst="ellipse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7335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 says a site is slow; +I says a site is essentially frozen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0824"/>
            <a:ext cx="10271455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still lets every site have some (small) rate. Invariant sites are modeled as having zero rate — they simply don't contribute a mutational opportunity, at any depth of divergence.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954780"/>
            <a:ext cx="502920" cy="502920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94360" y="39547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▮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9077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usually sites under very strong structural or functional constraint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38244"/>
            <a:ext cx="10271455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there is so damaging that it's essentially never tolerated — not “rare”, but excluded from the variable-rate pool entirely.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SITES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Invariant vs. variable columns in an alignment</a:t>
            </a:r>
            <a:endParaRPr lang="en-US" sz="3000" dirty="0"/>
          </a:p>
        </p:txBody>
      </p:sp>
      <p:pic>
        <p:nvPicPr>
          <p:cNvPr id="4" name="Image 0" descr="/tmp/claude-0/-home-claude/9f71a64d-4cec-57f9-b654-d5939c15103f/scratchpad/slides/figures/invariant_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66459"/>
            <a:ext cx="11002975" cy="409998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58978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58978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proportion of invariant columns is the parameter I — reported by MEGA's Find Best Model alongside R and α.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SITES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+G and +I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94360" y="1883664"/>
            <a:ext cx="5074920" cy="283464"/>
          </a:xfrm>
          <a:prstGeom prst="rect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 alone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5262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gets a rate drawn from Γ(α)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slowest sites still get some (tiny) chance of change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172200" y="1883664"/>
            <a:ext cx="5074920" cy="283464"/>
          </a:xfrm>
          <a:prstGeom prst="rect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00800" y="1600200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+G+I together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5262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proportion I of sites is set aside as truly invariant (rate = 0)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(1−I) sites still get Γ-distributed rates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usually the better fit for real coding/mtDNA data — hence models like GTR+G+I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548640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MEGA's Find Best Model tests +G, +I and +G+I versions of each substitution model and ranks them all together by BIC/AICc.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1E55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2331720"/>
            <a:ext cx="740664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mtDNA vs. Nuclear DNA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379476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genomes in every cell, with very different evolutionary rules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60520" y="1965960"/>
            <a:ext cx="146304" cy="146304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453128" y="1965960"/>
            <a:ext cx="146304" cy="146304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45736" y="1965960"/>
            <a:ext cx="146304" cy="146304"/>
          </a:xfrm>
          <a:prstGeom prst="ellipse">
            <a:avLst/>
          </a:prstGeom>
          <a:solidFill>
            <a:srgbClr val="BFE3E8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mtDNA vs NUCLEAR DNA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genomes, one cell</a:t>
            </a:r>
            <a:endParaRPr lang="en-US" sz="3000" dirty="0"/>
          </a:p>
        </p:txBody>
      </p:sp>
      <p:pic>
        <p:nvPicPr>
          <p:cNvPr id="4" name="Image 0" descr="/tmp/claude-0/-home-claude/9f71a64d-4cec-57f9-b654-d5939c15103f/scratchpad/slides/figures/mtdna_c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431" y="1536192"/>
            <a:ext cx="8312834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58978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58978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DNA: 2 linear copies per cell. Mitochondrial DNA: hundreds to thousands of circular copies per cell.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mtDNA vs NUCLEAR DNA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by side</a:t>
            </a:r>
            <a:endParaRPr lang="en-US" sz="3000" dirty="0"/>
          </a:p>
        </p:txBody>
      </p:sp>
      <p:pic>
        <p:nvPicPr>
          <p:cNvPr id="4" name="Image 0" descr="/tmp/claude-0/-home-claude/9f71a64d-4cec-57f9-b654-d5939c15103f/scratchpad/slides/figures/mtdna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774" y="1536192"/>
            <a:ext cx="7252146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mtDNA vs NUCLEAR DNA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building trees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02920" cy="502920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7335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Maternal-only inheritance → mtDNA traces a single matrilineal line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082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 about the history of mothers, not the whole population — a father's mtDNA lineage is simply not passed 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15640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94360" y="3215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5163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recombination → the whole mitochondrial genome is one non-recombining locus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9910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shares exactly one genealogy — so mtDNA gives you one gene tree, not an average over many independently-inherited loci like the nuclear genome does.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693920"/>
            <a:ext cx="502920" cy="502920"/>
          </a:xfrm>
          <a:prstGeom prst="ellipse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594360" y="4693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⇧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62991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mutation rate → good resolution for recent splits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7738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5–10× faster than nuclear DNA, which is why mtDNA is the classic marker for recent population history — but it also saturates sooner on deep splits.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1E55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2331720"/>
            <a:ext cx="740664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Humans, Neanderthals &amp; Denisovans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379476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homomtDNA dataset is actually testing you 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60520" y="1965960"/>
            <a:ext cx="146304" cy="146304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453128" y="1965960"/>
            <a:ext cx="146304" cy="146304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45736" y="1965960"/>
            <a:ext cx="146304" cy="146304"/>
          </a:xfrm>
          <a:prstGeom prst="ellipse">
            <a:avLst/>
          </a:prstGeom>
          <a:solidFill>
            <a:srgbClr val="BFE3E8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LINEAGE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were they, and where did they live?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6675120" cy="4160520"/>
          </a:xfrm>
          <a:prstGeom prst="roundRect">
            <a:avLst>
              <a:gd name="adj" fmla="val 2637"/>
            </a:avLst>
          </a:prstGeom>
          <a:solidFill>
            <a:srgbClr val="EA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645920" y="2743200"/>
            <a:ext cx="1920240" cy="2834640"/>
          </a:xfrm>
          <a:prstGeom prst="ellipse">
            <a:avLst/>
          </a:prstGeom>
          <a:solidFill>
            <a:srgbClr val="ECE7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737360" y="1737360"/>
            <a:ext cx="1554480" cy="1188720"/>
          </a:xfrm>
          <a:prstGeom prst="ellipse">
            <a:avLst/>
          </a:prstGeom>
          <a:solidFill>
            <a:srgbClr val="ECE7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063240" y="1508760"/>
            <a:ext cx="3566160" cy="2286000"/>
          </a:xfrm>
          <a:prstGeom prst="ellipse">
            <a:avLst/>
          </a:prstGeom>
          <a:solidFill>
            <a:srgbClr val="ECE7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280160" y="1517904"/>
            <a:ext cx="3108960" cy="1554480"/>
          </a:xfrm>
          <a:prstGeom prst="ellipse">
            <a:avLst/>
          </a:prstGeom>
          <a:solidFill>
            <a:srgbClr val="B3541E">
              <a:alpha val="2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794760" y="1517904"/>
            <a:ext cx="3200400" cy="1554480"/>
          </a:xfrm>
          <a:prstGeom prst="ellipse">
            <a:avLst/>
          </a:prstGeom>
          <a:solidFill>
            <a:srgbClr val="D98E2B">
              <a:alpha val="2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587752" y="3867912"/>
            <a:ext cx="128016" cy="128016"/>
          </a:xfrm>
          <a:prstGeom prst="ellipse">
            <a:avLst/>
          </a:prstGeom>
          <a:solidFill>
            <a:srgbClr val="1F5F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221992" y="2039112"/>
            <a:ext cx="128016" cy="128016"/>
          </a:xfrm>
          <a:prstGeom prst="ellipse">
            <a:avLst/>
          </a:prstGeom>
          <a:solidFill>
            <a:srgbClr val="B3541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788152" y="1764792"/>
            <a:ext cx="128016" cy="128016"/>
          </a:xfrm>
          <a:prstGeom prst="ellipse">
            <a:avLst/>
          </a:prstGeom>
          <a:solidFill>
            <a:srgbClr val="D9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77240" y="1627632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6D3D6"/>
            </a:solidFill>
            <a:prstDash val="solid"/>
          </a:ln>
          <a:effectLst>
            <a:outerShdw blurRad="76200" dist="25400" dir="5400000" algn="bl" rotWithShape="0">
              <a:srgbClr val="1C25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14400" y="168249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Neanderthals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1920240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&amp; western Asia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7240" y="489204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C6D3D6"/>
            </a:solidFill>
            <a:prstDash val="solid"/>
          </a:ln>
          <a:effectLst>
            <a:outerShdw blurRad="76200" dist="25400" dir="5400000" algn="bl" rotWithShape="0">
              <a:srgbClr val="1C25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14400" y="49469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 sapiens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5184648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in East Africa, ~300 kya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49240" y="4315968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6D3D6"/>
            </a:solidFill>
            <a:prstDash val="solid"/>
          </a:ln>
          <a:effectLst>
            <a:outerShdw blurRad="76200" dist="25400" dir="5400000" algn="bl" rotWithShape="0">
              <a:srgbClr val="1C253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486400" y="43708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Denisovans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0" y="460857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Siberia &amp; eastern/central Asia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26680" y="1481328"/>
            <a:ext cx="3870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 sapiens — us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26680" y="1792224"/>
            <a:ext cx="3870655" cy="1021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Anatomically modern humans. Evolved in Africa roughly 300,000 years ago, then spread across the rest of the world starting around 70,000–60,000 years ago.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26680" y="2868168"/>
            <a:ext cx="3870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Neanderthals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26680" y="3179064"/>
            <a:ext cx="3870655" cy="1021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closely related species (Homo neanderthalensis), Europe &amp; western Asia, ~400,000–40,000 years ago — robust build, large brains, fire, tools. Went extinct shortly after modern humans arrived, but interbred with them first: most non-African people today carry ~1–2% Neanderthal DNA.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26680" y="4255008"/>
            <a:ext cx="38706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Denisovans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26680" y="4565904"/>
            <a:ext cx="3870655" cy="1021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sister group to Neanderthals, known almost entirely from DNA and a handful of fossils (a finger bone, teeth, a jawbone) from Denisova Cave, Siberia, and a jaw from Tibet. Also interbred with modern humans — Melanesians and Papuans carry the highest share of Denisovan DNA today, up to ~4–6%.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58978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22960" y="58978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overlapped in time and, in places, in space — which is exactly why their DNA got mixed together.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LINEAGE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species tree, with dates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44752"/>
            <a:ext cx="110029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sequential splits, not a three-way branch — read left (older) to right (present day).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83080" y="3246120"/>
            <a:ext cx="411480" cy="914"/>
          </a:xfrm>
          <a:prstGeom prst="line">
            <a:avLst/>
          </a:prstGeom>
          <a:noFill/>
          <a:ln w="254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194560" y="2103120"/>
            <a:ext cx="914" cy="2286000"/>
          </a:xfrm>
          <a:prstGeom prst="line">
            <a:avLst/>
          </a:prstGeom>
          <a:noFill/>
          <a:ln w="254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194560" y="2103120"/>
            <a:ext cx="6400800" cy="914"/>
          </a:xfrm>
          <a:prstGeom prst="line">
            <a:avLst/>
          </a:prstGeom>
          <a:noFill/>
          <a:ln w="254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194560" y="4389120"/>
            <a:ext cx="3474720" cy="914"/>
          </a:xfrm>
          <a:prstGeom prst="line">
            <a:avLst/>
          </a:prstGeom>
          <a:noFill/>
          <a:ln w="254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669280" y="3840480"/>
            <a:ext cx="914" cy="1097280"/>
          </a:xfrm>
          <a:prstGeom prst="line">
            <a:avLst/>
          </a:prstGeom>
          <a:noFill/>
          <a:ln w="254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669280" y="3840480"/>
            <a:ext cx="2926080" cy="914"/>
          </a:xfrm>
          <a:prstGeom prst="line">
            <a:avLst/>
          </a:prstGeom>
          <a:noFill/>
          <a:ln w="254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669280" y="4937760"/>
            <a:ext cx="2926080" cy="914"/>
          </a:xfrm>
          <a:prstGeom prst="line">
            <a:avLst/>
          </a:prstGeom>
          <a:noFill/>
          <a:ln w="254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130552" y="3182112"/>
            <a:ext cx="128016" cy="128016"/>
          </a:xfrm>
          <a:prstGeom prst="ellipse">
            <a:avLst/>
          </a:prstGeom>
          <a:solidFill>
            <a:srgbClr val="1F5F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605272" y="4325112"/>
            <a:ext cx="128016" cy="128016"/>
          </a:xfrm>
          <a:prstGeom prst="ellipse">
            <a:avLst/>
          </a:prstGeom>
          <a:solidFill>
            <a:srgbClr val="D9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377440" y="24871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700–500 kya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 sapiens splits off first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06440" y="400507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400–300 kya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Neanderthals / Denisovans split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3252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 sapiens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32520" y="3657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Neanderthals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3252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Denisovans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58978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22960" y="58978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splits, not three: Homo sapiens branches off first (700–500 kya); Neanderthals and Denisovans then split from each other later (400–300 kya).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LINEAGE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Sima de los Huesos puzzle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02920" cy="502920"/>
          </a:xfrm>
          <a:prstGeom prst="ellipse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7335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~430,000-year-old fossils from Spain, morphologically Neanderthal-like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082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a cave system (“pit of bones”) with hundreds of early hominin remains.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15640"/>
            <a:ext cx="502920" cy="502920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94360" y="3215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❗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5163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mtDNA (recovered first, 2013) looked surprisingly Denisovan-like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9910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confusing result at the time — not what anyone expected from a European fossil this old.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693920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594360" y="4693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62991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DNA (2016) resolved it: they're early Neanderthals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7738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mtDNA result is now understood as either an ancient mtDNA-only introgression event, or incomplete lineage sorting — a single locus's history misleading you about the species' history.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LINEAGE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gene tree can disagree with the species tree</a:t>
            </a:r>
            <a:endParaRPr lang="en-US" sz="3000" dirty="0"/>
          </a:p>
        </p:txBody>
      </p:sp>
      <p:pic>
        <p:nvPicPr>
          <p:cNvPr id="4" name="Image 0" descr="/tmp/claude-0/-home-claude/9f71a64d-4cec-57f9-b654-d5939c15103f/scratchpad/slides/figures/ils_trapezo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857" y="1536192"/>
            <a:ext cx="673798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58978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58978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lineage sorting: which ancestral variant a lineage happens to keep is down to chance — especially when splits happen close together in time.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1E55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2331720"/>
            <a:ext cx="740664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BRCA1 &amp; EKAF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379476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biology behind two of your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60520" y="1965960"/>
            <a:ext cx="146304" cy="146304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453128" y="1965960"/>
            <a:ext cx="146304" cy="146304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45736" y="1965960"/>
            <a:ext cx="146304" cy="146304"/>
          </a:xfrm>
          <a:prstGeom prst="ellipse">
            <a:avLst/>
          </a:prstGeom>
          <a:solidFill>
            <a:srgbClr val="BFE3E8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DNA-repair gene, and why it makes a good dataset</a:t>
            </a:r>
            <a:endParaRPr lang="en-US" sz="3000" dirty="0"/>
          </a:p>
        </p:txBody>
      </p:sp>
      <p:pic>
        <p:nvPicPr>
          <p:cNvPr id="4" name="Image 0" descr="/tmp/claude-0/-home-claude/9f71a64d-4cec-57f9-b654-d5939c15103f/scratchpad/slides/figures/brca1_fun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01" y="1536192"/>
            <a:ext cx="9090692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58978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58978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is a tumor suppressor — conserved, single-copy, coding sequence orthologs across 23 rodent species.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EKAF is FOXP2, spelled as a joke</a:t>
            </a:r>
            <a:endParaRPr lang="en-US" sz="3000" dirty="0"/>
          </a:p>
        </p:txBody>
      </p:sp>
      <p:pic>
        <p:nvPicPr>
          <p:cNvPr id="4" name="Image 0" descr="/tmp/claude-0/-home-claude/9f71a64d-4cec-57f9-b654-d5939c15103f/scratchpad/slides/figures/foxp2_d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840" y="1536192"/>
            <a:ext cx="8866015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589788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EE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589788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“EKAF” backwards is “FAKE” — the “ability to lie and fake stories” description is a wink at FOXP2's real reputation as a speech/language gene.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FOXP2 actually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02920" cy="502920"/>
          </a:xfrm>
          <a:prstGeom prst="ellipse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7335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transcription factor — it switches other genes on and off, mostly in the brain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0824"/>
            <a:ext cx="10271455" cy="742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FOXP2 doesn't build a vocal tract or vocal cords itself. It helps direct how certain neural circuits (especially cortico-striatal and cortico-cerebellar loops) wire up during development.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846070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94360" y="284607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8206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circuits handle fine, sequential motor control — including the fast movements needed for articulate speech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29534"/>
            <a:ext cx="10271455" cy="742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FOXP2-dependent circuitry is used for other learned, sequenced motor skills too; an equivalent gene shapes song-learning in birds. That's why it's better described as a “motor sequencing / vocal learning” gene than a dedicated “language gene.”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954780"/>
            <a:ext cx="502920" cy="502920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594360" y="39547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9077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 family mutation shows what breaks without it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238244"/>
            <a:ext cx="10271455" cy="742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point mutation (R553H) in one copy of FOXP2 causes developmental verbal dyspraxia: trouble coordinating the fast, sequential tongue and mouth movements needed for clear speech, plus wider difficulties with grammar and language comprehension.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063490"/>
            <a:ext cx="502920" cy="502920"/>
          </a:xfrm>
          <a:prstGeom prst="ellipse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594360" y="506349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99948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story your dN/dS numbers sit inside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346954"/>
            <a:ext cx="10271455" cy="742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amino-acid changes fixed on the human lineage (T303N, N325S) are a plausible signature of selection acting on this same speech/language circuitry — suggestive evidence, not proof on their own.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&amp; EKAF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two genes,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02920" cy="502920"/>
          </a:xfrm>
          <a:prstGeom prst="ellipse">
            <a:avLst/>
          </a:prstGeom>
          <a:solidFill>
            <a:srgbClr val="1F5F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7335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Purifying selection story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082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DNA-repair gene under strong functional constraint — useful for practicing standard distance/ML trees and bootstrap significance on real, moderately-diverged coding sequences.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15640"/>
            <a:ext cx="502920" cy="502920"/>
          </a:xfrm>
          <a:prstGeom prst="ellipse">
            <a:avLst/>
          </a:prstGeom>
          <a:solidFill>
            <a:srgbClr val="B354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94360" y="3215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5163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Positive-selection story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9910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FOXP2 carries the textbook example of two human-specific substitutions with evidence of a selective sweep — useful for practicing synonymous vs. non-synonymous trees and dN/dS logic.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693920"/>
            <a:ext cx="502920" cy="50292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594360" y="4693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629912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cover both directions of selection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77384"/>
            <a:ext cx="1027145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dN/dS &lt; 1 (BRCA1-like, purifying) and dN/dS momentarily &gt; 1 on specific lineages (EKAF/FOXP2-like, positive) — the two ends of the spectrum your report should be able to recognize.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2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 tells you how repeatable a branch is — not whether it's true.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AIC/BIC pick a substitution model by balancing fit against complexity; BIC penalizes harder.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 models uneven rates across sites; +I sets aside sites that never change at all.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mtDNA and nuclear DNA are inherited, and evolve, completely differently — that shapes what each can tell you.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gene tree (like mtDNA) can genuinely disagree with the species tree — that's not always an error.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and EKAF/FOXP2 illustrate the two ends of selection: purifying and positive.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2952</Words>
  <Application>Microsoft Office PowerPoint</Application>
  <PresentationFormat>Widescreen</PresentationFormat>
  <Paragraphs>360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Viktoria Reka Weisz</cp:lastModifiedBy>
  <cp:revision>2</cp:revision>
  <dcterms:created xsi:type="dcterms:W3CDTF">2026-09-11T06:33:58Z</dcterms:created>
  <dcterms:modified xsi:type="dcterms:W3CDTF">2026-09-11T07:54:45Z</dcterms:modified>
</cp:coreProperties>
</file>