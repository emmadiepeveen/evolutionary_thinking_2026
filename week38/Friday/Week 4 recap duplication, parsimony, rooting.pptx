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at the start that these three came from their own questions, and that all three turn out to be the same story: a duplication is raw material, a trap, and a tool. That sentence is the spine of the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to keep on the board: how does a second copy appear? what does selection do with it once there are two? and what does it do to a phylogeny? The third one is the bridge to the rest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panels are the same story told at two scales: repeated sequence lets the machinery lose its place. Ectopic recombination loses its place between two chromosomes, slippage loses it within one strand. The self-reinforcing part is worth saying out loud - repeats cause both accidents, and both accidents make more repeats, so once an array exists it keeps growing and shrinking. That is the situation in the rDNA and olfactory receptor families later in this part. Also note the asymmetry in panel a: every duplication comes with a deletion in the sister product, so the two are always produced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unifying logic: duplication removes the constraint. With one copy, every change is tested against the job the gene already does; with two, one of them is invisible to selection for a while. What differs between the four fates is only what happens during that window of freedom - and the window is short, because loss-of-function mutations are much more common than improvements. That is why nonfunctionalisation is the default and neofunctionalisation is the exception worth writing papers about. The opsin example on the right is the one from the lecture: the M gene duplicated and gave M and L, which is where Old World monkey trichromacy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boxes at the top before anything else: one gene, one genome, becoming two genes in the same genome. No species has split yet at that moment. Then the gene tree is always a correct history of the genes; the error is in reading it as a history of the species. Worth saying out loud: if you sample Y from human and Z from mouse, the node you date is the duplication, and you will conclude humans and mice split hundreds of millions of years earlier than they did. Also flag the direction this points: the duplication node is older than every speciation below it, which is the hinge of part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 three would wreck a phylogeny most quietly. Concerted evolution is the dangerous one: the copies within a species look like each other rather than like their true orthologs, so a tree built from them recovers the species tree by accident and the duplication looks far younger than it is. Come back to this in part three - the EF-Tu / EF-G rooting only works because those two paralogues have never been homogenised.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1 and 2 are the warnings, point 3 is the payoff. Do not rush point 3: it is counter-intuitive that you can root a tree using a gene from inside the group. The trick is that the duplication node is outside the group in time even though the sequences are inside it in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alignment on the next slide is the one from the lecture figure, so they should recognise it. Doing it by hand is the point: once they have counted steps themselves, the words "tree length" and "optimality criterion" stop being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the only unrooted topologies four taxa can make, and they are what Tree A, B and C mean for the rest of this part. Show on the drawings why a singleton site cannot choose: put taxon I's odd base on any of the three and it is still one change on the branch leading to I. Then put sites 5 to 7 on them and the counts separate. Worth stating plainly: a 1000 bp alignment of close relatives may contain twenty informative sites, which is why parsimony analyses can flip on a handful of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node = a union was taken, so a step was paid; teal = the intersection was non-empty and it was free. This is Fitch's algorithm, and the only thing it needs is that the tree is binary - which is why multi2di exists in the R practical. Two things to say out loud. One: the root's position does not affect the count, which is why parsimony scores unrooted trees. Two: the algorithm gives the minimum number of changes, but it does not claim that is what happened - it is a criterion for choosing between trees, not a reconstruction of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follow-ups. First: with four taxa there are only three unrooted topologies, so we could be exhaustive. With ten taxa there are two million, with twenty there are more than the number of atoms in a person - that is the whole reason the lecture covered branch and bound and heuristic searching. Second: the margin here is one step. Ask what they would do about that. The honest answer is bootstrap it, and expect weak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the right-hand table is before anything else: sixteen ways to fill in the two unknown ancestral bases, and the total cost of the tree under each. The tips are fixed; only u and v are free. Then note that Sankoff's algorithm does not actually enumerate all sixteen; it carries a vector of four best-costs up the tree, which is the same trick as Fitch but with numbers instead of sets. Sixteen cells is just how you see it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intuition to hand them: rare events are informative, common events are cheap. If two people both own a car that tells you little; if both own the same rare first edition, they probably got it from the same place. Transitions are cars. This is also why transversion-only analyses were once used for deep divergences - at that depth transitions have saturated and carry nothing but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make them check by hand. Site 3 on Tree A: whatever you put at the two internal nodes you are stuck with transversions, and the cheapest reading costs 10; on Tree B you put C at one node and A at the other and pay a single transversion, 5. Sites 1 and 2 are a straight A-to-G transition either way, so weighting barely moves them. The honest warning to give with it: the flip is real, but it is only as good as the cost matrix, and you chose that yourself before you looked at the data. Work out where the flip happens: with a transversion costing k, Tree A scores 2 + 2k and Tree B scores 4 + k, so they tie at k = 2, Tree A wins below it and Tree B above. The threshold is that low, the ratio is doing all the work, and nothing in this analysis tests whether the ratio you chose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puzzle before giving the answer. Ask them directly: how would you root a tree that contains every living thing? Let them try outgroups for a minute and hit the wall themselves. The answer is much more satisfying if they have felt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drawing point: whenever they see this figure in a textbook it is drawn with a root, and the root is almost never justified by the figure itself. Ask them to say what the central node means on an unrooted tree - it is not an ancestor, it is just a point where three branches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do the check: cover the root of each drawing and confirm that the three trees become identical. This is the same point as the R practical, where rerooting changed which groups were clades but left the unrooted topology alone. Here it changes the entire narrative of early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ATPase alpha and beta subunits were used the same way and gave the same answer, which matters because it is an independent gene pair. Iwabe and colleagues published the elongation factor version in 1989. If anyone asks how we know the duplication predates LUCA rather than being an early lateral transfer, the answer is the tree shape itself: if it were later, one or more domains would be missing a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small trees are the same big tree, read twice: each time one family is collapsed to a triangle and used as the outgroup for the other. The move to make explicit is that we converted an unrootable problem into two ordinary rooted analyses by doubling the data. It only works because the duplication is older than every split we care about - which is the general rule, and the reason this method is used inside gene families all the time, not only for the tree of life. Both readings agreeing is the point: one alignment, two independent roots,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that this is the classic result and that the picture has since become more complicated: several analyses place eukaryotes within the archaea rather than as their sister group, which would make Archaea paraphyletic. That does not undermine the method - it is still the rooting logic everyone uses - but it is a live question, and a good one to end on if anyone is interested.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A388"/>
                </a:solidFill>
                <a:latin typeface="IBM Plex Sans" pitchFamily="34" charset="0"/>
                <a:ea typeface="IBM Plex Sans" pitchFamily="34" charset="-122"/>
                <a:cs typeface="IBM Plex Sans" pitchFamily="34" charset="-120"/>
              </a:rPr>
              <a:t>WEEK 4 — RECAP SESSION</a:t>
            </a:r>
            <a:endParaRPr lang="en-US" sz="1200" dirty="0"/>
          </a:p>
        </p:txBody>
      </p:sp>
      <p:sp>
        <p:nvSpPr>
          <p:cNvPr id="3" name="Text 1"/>
          <p:cNvSpPr/>
          <p:nvPr/>
        </p:nvSpPr>
        <p:spPr>
          <a:xfrm>
            <a:off x="812800" y="2515870"/>
            <a:ext cx="9810750" cy="13055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4F1EA"/>
                </a:solidFill>
                <a:latin typeface="EB Garamond" pitchFamily="34" charset="0"/>
                <a:ea typeface="EB Garamond" pitchFamily="34" charset="-122"/>
                <a:cs typeface="EB Garamond" pitchFamily="34" charset="-120"/>
              </a:rPr>
              <a:t>The three things you asked to go over again</a:t>
            </a:r>
            <a:endParaRPr lang="en-US" sz="4800" dirty="0"/>
          </a:p>
        </p:txBody>
      </p:sp>
      <p:sp>
        <p:nvSpPr>
          <p:cNvPr id="4" name="Text 2"/>
          <p:cNvSpPr/>
          <p:nvPr/>
        </p:nvSpPr>
        <p:spPr>
          <a:xfrm>
            <a:off x="812800" y="3999230"/>
            <a:ext cx="9156700"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CC6CF"/>
                </a:solidFill>
                <a:latin typeface="IBM Plex Sans" pitchFamily="34" charset="0"/>
                <a:ea typeface="IBM Plex Sans" pitchFamily="34" charset="-122"/>
                <a:cs typeface="IBM Plex Sans" pitchFamily="34" charset="-120"/>
              </a:rPr>
              <a:t>Gene duplication · Generalised (weighted) parsimony · Rooting the tree of life</a:t>
            </a:r>
            <a:endParaRPr lang="en-US" sz="2000" dirty="0"/>
          </a:p>
        </p:txBody>
      </p:sp>
      <p:sp>
        <p:nvSpPr>
          <p:cNvPr id="5" name="Text 3"/>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9AA5"/>
                </a:solidFill>
                <a:latin typeface="IBM Plex Sans" pitchFamily="34" charset="0"/>
                <a:ea typeface="IBM Plex Sans" pitchFamily="34" charset="-122"/>
                <a:cs typeface="IBM Plex Sans" pitchFamily="34" charset="-120"/>
              </a:rPr>
              <a:t>Follows the week 4 lecture. Figures redrawn from the lecture slides.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222E"/>
        </a:solidFill>
      </p:bgPr>
    </p:bg>
    <p:spTree>
      <p:nvGrpSpPr>
        <p:cNvPr id="1" name=""/>
        <p:cNvGrpSpPr/>
        <p:nvPr/>
      </p:nvGrpSpPr>
      <p:grpSpPr>
        <a:xfrm>
          <a:off x="0" y="0"/>
          <a:ext cx="0" cy="0"/>
          <a:chOff x="0" y="0"/>
          <a:chExt cx="0" cy="0"/>
        </a:xfrm>
      </p:grpSpPr>
      <p:sp>
        <p:nvSpPr>
          <p:cNvPr id="2" name="Text 0"/>
          <p:cNvSpPr/>
          <p:nvPr/>
        </p:nvSpPr>
        <p:spPr>
          <a:xfrm>
            <a:off x="812800" y="18288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D9A388"/>
                </a:solidFill>
                <a:latin typeface="IBM Plex Sans" pitchFamily="34" charset="0"/>
                <a:ea typeface="IBM Plex Sans" pitchFamily="34" charset="-122"/>
                <a:cs typeface="IBM Plex Sans" pitchFamily="34" charset="-120"/>
              </a:rPr>
              <a:t>PART ONE</a:t>
            </a:r>
            <a:endParaRPr lang="en-US" sz="1600" dirty="0"/>
          </a:p>
        </p:txBody>
      </p:sp>
      <p:sp>
        <p:nvSpPr>
          <p:cNvPr id="3" name="Text 1"/>
          <p:cNvSpPr/>
          <p:nvPr/>
        </p:nvSpPr>
        <p:spPr>
          <a:xfrm>
            <a:off x="812800" y="2316480"/>
            <a:ext cx="9483725" cy="194564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4F1EA"/>
                </a:solidFill>
                <a:latin typeface="EB Garamond" pitchFamily="34" charset="0"/>
                <a:ea typeface="EB Garamond" pitchFamily="34" charset="-122"/>
                <a:cs typeface="EB Garamond" pitchFamily="34" charset="-120"/>
              </a:rPr>
              <a:t>Gene duplication: where the copies come from, and what becomes of them</a:t>
            </a:r>
            <a:endParaRPr lang="en-US" sz="4800" dirty="0"/>
          </a:p>
        </p:txBody>
      </p:sp>
      <p:sp>
        <p:nvSpPr>
          <p:cNvPr id="4" name="Text 2"/>
          <p:cNvSpPr/>
          <p:nvPr/>
        </p:nvSpPr>
        <p:spPr>
          <a:xfrm>
            <a:off x="812800" y="4439920"/>
            <a:ext cx="8829675"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CC6CF"/>
                </a:solidFill>
                <a:latin typeface="IBM Plex Sans" pitchFamily="34" charset="0"/>
                <a:ea typeface="IBM Plex Sans" pitchFamily="34" charset="-122"/>
                <a:cs typeface="IBM Plex Sans" pitchFamily="34" charset="-120"/>
              </a:rPr>
              <a:t>Two ways a second copy appears, then the four fates it can meet — and finally why any of this belongs in a week about building trees.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415449"/>
          </a:xfrm>
          <a:prstGeom prst="rect">
            <a:avLst/>
          </a:prstGeom>
          <a:noFill/>
          <a:ln/>
        </p:spPr>
        <p:txBody>
          <a:bodyPr wrap="square" lIns="0" tIns="0" rIns="0" bIns="0" rtlCol="0" anchor="t">
            <a:normAutofit/>
          </a:bodyPr>
          <a:lstStyle/>
          <a:p>
            <a:pPr algn="l" indent="0" marL="0">
              <a:lnSpc>
                <a:spcPts val="3069"/>
              </a:lnSpc>
              <a:buNone/>
            </a:pPr>
            <a:r>
              <a:rPr lang="en-US" sz="2790" b="1" dirty="0">
                <a:solidFill>
                  <a:srgbClr val="17222E"/>
                </a:solidFill>
                <a:latin typeface="EB Garamond" pitchFamily="34" charset="0"/>
                <a:ea typeface="EB Garamond" pitchFamily="34" charset="-122"/>
                <a:cs typeface="EB Garamond" pitchFamily="34" charset="-120"/>
              </a:rPr>
              <a:t>Two accidents that hand you a second copy</a:t>
            </a:r>
            <a:endParaRPr lang="en-US" sz="2790" dirty="0"/>
          </a:p>
        </p:txBody>
      </p:sp>
      <p:sp>
        <p:nvSpPr>
          <p:cNvPr id="3" name="Text 1"/>
          <p:cNvSpPr/>
          <p:nvPr/>
        </p:nvSpPr>
        <p:spPr>
          <a:xfrm>
            <a:off x="812800" y="1342549"/>
            <a:ext cx="10883392" cy="238125"/>
          </a:xfrm>
          <a:prstGeom prst="rect">
            <a:avLst/>
          </a:prstGeom>
          <a:noFill/>
          <a:ln/>
        </p:spPr>
        <p:txBody>
          <a:bodyPr wrap="square" lIns="0" tIns="0" rIns="0" bIns="0" rtlCol="0" anchor="t">
            <a:normAutofit/>
          </a:bodyPr>
          <a:lstStyle/>
          <a:p>
            <a:pPr algn="l" indent="0" marL="0">
              <a:lnSpc>
                <a:spcPts val="1722"/>
              </a:lnSpc>
              <a:buNone/>
            </a:pPr>
            <a:r>
              <a:rPr lang="en-US" sz="1435" b="1" dirty="0">
                <a:solidFill>
                  <a:srgbClr val="B24C2E"/>
                </a:solidFill>
                <a:latin typeface="IBM Plex Sans" pitchFamily="34" charset="0"/>
                <a:ea typeface="IBM Plex Sans" pitchFamily="34" charset="-122"/>
                <a:cs typeface="IBM Plex Sans" pitchFamily="34" charset="-120"/>
              </a:rPr>
              <a:t>a  —  Ectopic recombination</a:t>
            </a:r>
            <a:endParaRPr lang="en-US" sz="1435" dirty="0"/>
          </a:p>
        </p:txBody>
      </p:sp>
      <p:pic>
        <p:nvPicPr>
          <p:cNvPr id="4" name="Image 0" descr="Three stages: two chromosomes each carrying repeat, gene A, gene B, repeat; then the repeats misalign and one loops out with a crossover marked; then one product carries both genes twice and the other has lost them">    </p:cNvPr>
          <p:cNvPicPr>
            <a:picLocks noChangeAspect="1"/>
          </p:cNvPicPr>
          <p:nvPr/>
        </p:nvPicPr>
        <p:blipFill>
          <a:blip r:embed="rId1"/>
          <a:srcRect l="0" r="0" t="-31" b="-31"/>
          <a:stretch/>
        </p:blipFill>
        <p:spPr>
          <a:xfrm>
            <a:off x="812800" y="1694974"/>
            <a:ext cx="10566400" cy="1270000"/>
          </a:xfrm>
          <a:prstGeom prst="rect">
            <a:avLst/>
          </a:prstGeom>
        </p:spPr>
      </p:pic>
      <p:sp>
        <p:nvSpPr>
          <p:cNvPr id="5" name="Text 2"/>
          <p:cNvSpPr/>
          <p:nvPr/>
        </p:nvSpPr>
        <p:spPr>
          <a:xfrm>
            <a:off x="3136900" y="1771174"/>
            <a:ext cx="1511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the repeats misalign</a:t>
            </a:r>
            <a:endParaRPr lang="en-US" sz="1200" dirty="0"/>
          </a:p>
        </p:txBody>
      </p:sp>
      <p:sp>
        <p:nvSpPr>
          <p:cNvPr id="6" name="Text 3"/>
          <p:cNvSpPr/>
          <p:nvPr/>
        </p:nvSpPr>
        <p:spPr>
          <a:xfrm>
            <a:off x="7010400" y="1771174"/>
            <a:ext cx="1511300"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crossover between them</a:t>
            </a:r>
            <a:endParaRPr lang="en-US" sz="1200" dirty="0"/>
          </a:p>
        </p:txBody>
      </p:sp>
      <p:sp>
        <p:nvSpPr>
          <p:cNvPr id="7" name="Text 4"/>
          <p:cNvSpPr/>
          <p:nvPr/>
        </p:nvSpPr>
        <p:spPr>
          <a:xfrm>
            <a:off x="8509000" y="1923574"/>
            <a:ext cx="11303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duplication</a:t>
            </a:r>
            <a:endParaRPr lang="en-US" sz="1200" dirty="0"/>
          </a:p>
        </p:txBody>
      </p:sp>
      <p:sp>
        <p:nvSpPr>
          <p:cNvPr id="8" name="Text 5"/>
          <p:cNvSpPr/>
          <p:nvPr/>
        </p:nvSpPr>
        <p:spPr>
          <a:xfrm>
            <a:off x="8509000" y="2368074"/>
            <a:ext cx="11303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5616E"/>
                </a:solidFill>
                <a:latin typeface="IBM Plex Sans" pitchFamily="34" charset="0"/>
                <a:ea typeface="IBM Plex Sans" pitchFamily="34" charset="-122"/>
                <a:cs typeface="IBM Plex Sans" pitchFamily="34" charset="-120"/>
              </a:rPr>
              <a:t>deletion</a:t>
            </a:r>
            <a:endParaRPr lang="en-US" sz="1200" dirty="0"/>
          </a:p>
        </p:txBody>
      </p:sp>
      <p:sp>
        <p:nvSpPr>
          <p:cNvPr id="9" name="Text 6"/>
          <p:cNvSpPr/>
          <p:nvPr/>
        </p:nvSpPr>
        <p:spPr>
          <a:xfrm>
            <a:off x="812800" y="3104674"/>
            <a:ext cx="10883392" cy="443151"/>
          </a:xfrm>
          <a:prstGeom prst="rect">
            <a:avLst/>
          </a:prstGeom>
          <a:noFill/>
          <a:ln/>
        </p:spPr>
        <p:txBody>
          <a:bodyPr wrap="square" lIns="0" tIns="0" rIns="0" bIns="0" rtlCol="0" anchor="t">
            <a:normAutofit/>
          </a:bodyPr>
          <a:lstStyle/>
          <a:p>
            <a:pPr algn="l" indent="0" marL="0">
              <a:lnSpc>
                <a:spcPts val="1661"/>
              </a:lnSpc>
              <a:buNone/>
            </a:pPr>
            <a:r>
              <a:rPr lang="en-US" sz="1146" dirty="0">
                <a:solidFill>
                  <a:srgbClr val="3D4A57"/>
                </a:solidFill>
                <a:latin typeface="IBM Plex Sans" pitchFamily="34" charset="0"/>
                <a:ea typeface="IBM Plex Sans" pitchFamily="34" charset="-122"/>
                <a:cs typeface="IBM Plex Sans" pitchFamily="34" charset="-120"/>
              </a:rPr>
              <a:t>The flanking repeats let the two chromosomes pair out of register, and a crossover between mismatched repeats gives one product a second copy of both genes while the other is stripped bare. </a:t>
            </a:r>
            <a:r>
              <a:rPr lang="en-US" sz="1146" b="1" dirty="0">
                <a:solidFill>
                  <a:srgbClr val="2E6E6B"/>
                </a:solidFill>
                <a:latin typeface="IBM Plex Sans" pitchFamily="34" charset="0"/>
                <a:ea typeface="IBM Plex Sans" pitchFamily="34" charset="-122"/>
                <a:cs typeface="IBM Plex Sans" pitchFamily="34" charset="-120"/>
              </a:rPr>
              <a:t>Teal = repeat</a:t>
            </a:r>
            <a:r>
              <a:rPr lang="en-US" sz="1146" dirty="0">
                <a:solidFill>
                  <a:srgbClr val="3D4A57"/>
                </a:solidFill>
                <a:latin typeface="IBM Plex Sans" pitchFamily="34" charset="0"/>
                <a:ea typeface="IBM Plex Sans" pitchFamily="34" charset="-122"/>
                <a:cs typeface="IBM Plex Sans" pitchFamily="34" charset="-120"/>
              </a:rPr>
              <a:t>, </a:t>
            </a:r>
            <a:r>
              <a:rPr lang="en-US" sz="1146" b="1" dirty="0">
                <a:solidFill>
                  <a:srgbClr val="C9A227"/>
                </a:solidFill>
                <a:latin typeface="IBM Plex Sans" pitchFamily="34" charset="0"/>
                <a:ea typeface="IBM Plex Sans" pitchFamily="34" charset="-122"/>
                <a:cs typeface="IBM Plex Sans" pitchFamily="34" charset="-120"/>
              </a:rPr>
              <a:t>gold = gene A</a:t>
            </a:r>
            <a:r>
              <a:rPr lang="en-US" sz="1146" dirty="0">
                <a:solidFill>
                  <a:srgbClr val="3D4A57"/>
                </a:solidFill>
                <a:latin typeface="IBM Plex Sans" pitchFamily="34" charset="0"/>
                <a:ea typeface="IBM Plex Sans" pitchFamily="34" charset="-122"/>
                <a:cs typeface="IBM Plex Sans" pitchFamily="34" charset="-120"/>
              </a:rPr>
              <a:t>, </a:t>
            </a:r>
            <a:r>
              <a:rPr lang="en-US" sz="1146" b="1" dirty="0">
                <a:solidFill>
                  <a:srgbClr val="4A6FA5"/>
                </a:solidFill>
                <a:latin typeface="IBM Plex Sans" pitchFamily="34" charset="0"/>
                <a:ea typeface="IBM Plex Sans" pitchFamily="34" charset="-122"/>
                <a:cs typeface="IBM Plex Sans" pitchFamily="34" charset="-120"/>
              </a:rPr>
              <a:t>blue = gene B</a:t>
            </a:r>
            <a:r>
              <a:rPr lang="en-US" sz="1146" dirty="0">
                <a:solidFill>
                  <a:srgbClr val="3D4A57"/>
                </a:solidFill>
                <a:latin typeface="IBM Plex Sans" pitchFamily="34" charset="0"/>
                <a:ea typeface="IBM Plex Sans" pitchFamily="34" charset="-122"/>
                <a:cs typeface="IBM Plex Sans" pitchFamily="34" charset="-120"/>
              </a:rPr>
              <a:t>.</a:t>
            </a:r>
            <a:endParaRPr lang="en-US" sz="1146" dirty="0"/>
          </a:p>
        </p:txBody>
      </p:sp>
      <p:sp>
        <p:nvSpPr>
          <p:cNvPr id="10" name="Text 7"/>
          <p:cNvSpPr/>
          <p:nvPr/>
        </p:nvSpPr>
        <p:spPr>
          <a:xfrm>
            <a:off x="812800" y="3662125"/>
            <a:ext cx="10883392" cy="238125"/>
          </a:xfrm>
          <a:prstGeom prst="rect">
            <a:avLst/>
          </a:prstGeom>
          <a:noFill/>
          <a:ln/>
        </p:spPr>
        <p:txBody>
          <a:bodyPr wrap="square" lIns="0" tIns="0" rIns="0" bIns="0" rtlCol="0" anchor="t">
            <a:normAutofit/>
          </a:bodyPr>
          <a:lstStyle/>
          <a:p>
            <a:pPr algn="l" indent="0" marL="0">
              <a:lnSpc>
                <a:spcPts val="1722"/>
              </a:lnSpc>
              <a:buNone/>
            </a:pPr>
            <a:r>
              <a:rPr lang="en-US" sz="1435" b="1" dirty="0">
                <a:solidFill>
                  <a:srgbClr val="B24C2E"/>
                </a:solidFill>
                <a:latin typeface="IBM Plex Sans" pitchFamily="34" charset="0"/>
                <a:ea typeface="IBM Plex Sans" pitchFamily="34" charset="-122"/>
                <a:cs typeface="IBM Plex Sans" pitchFamily="34" charset="-120"/>
              </a:rPr>
              <a:t>b  —  Replication slippage</a:t>
            </a:r>
            <a:endParaRPr lang="en-US" sz="1435" dirty="0"/>
          </a:p>
        </p:txBody>
      </p:sp>
      <p:pic>
        <p:nvPicPr>
          <p:cNvPr id="11" name="Image 1" descr="Three stages: the polymerase copies gene A and gene B along the template; the new strand slips, loops out and reattaches further back; polymerisation resumes and the same two genes are copied a second time">    </p:cNvPr>
          <p:cNvPicPr>
            <a:picLocks noChangeAspect="1"/>
          </p:cNvPicPr>
          <p:nvPr/>
        </p:nvPicPr>
        <p:blipFill>
          <a:blip r:embed="rId2"/>
          <a:srcRect l="0" r="0" t="-31" b="-31"/>
          <a:stretch/>
        </p:blipFill>
        <p:spPr>
          <a:xfrm>
            <a:off x="812800" y="4014550"/>
            <a:ext cx="10566400" cy="1270000"/>
          </a:xfrm>
          <a:prstGeom prst="rect">
            <a:avLst/>
          </a:prstGeom>
        </p:spPr>
      </p:pic>
      <p:sp>
        <p:nvSpPr>
          <p:cNvPr id="12" name="Text 8"/>
          <p:cNvSpPr/>
          <p:nvPr/>
        </p:nvSpPr>
        <p:spPr>
          <a:xfrm>
            <a:off x="914400" y="4992450"/>
            <a:ext cx="1003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gene A</a:t>
            </a:r>
            <a:endParaRPr lang="en-US" sz="1200" dirty="0"/>
          </a:p>
        </p:txBody>
      </p:sp>
      <p:sp>
        <p:nvSpPr>
          <p:cNvPr id="13" name="Text 9"/>
          <p:cNvSpPr/>
          <p:nvPr/>
        </p:nvSpPr>
        <p:spPr>
          <a:xfrm>
            <a:off x="1866900" y="4992450"/>
            <a:ext cx="812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gene B</a:t>
            </a:r>
            <a:endParaRPr lang="en-US" sz="1200" dirty="0"/>
          </a:p>
        </p:txBody>
      </p:sp>
      <p:sp>
        <p:nvSpPr>
          <p:cNvPr id="14" name="Text 10"/>
          <p:cNvSpPr/>
          <p:nvPr/>
        </p:nvSpPr>
        <p:spPr>
          <a:xfrm>
            <a:off x="3200400" y="4116150"/>
            <a:ext cx="1511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slippage and looping</a:t>
            </a:r>
            <a:endParaRPr lang="en-US" sz="1200" dirty="0"/>
          </a:p>
        </p:txBody>
      </p:sp>
      <p:sp>
        <p:nvSpPr>
          <p:cNvPr id="15" name="Text 11"/>
          <p:cNvSpPr/>
          <p:nvPr/>
        </p:nvSpPr>
        <p:spPr>
          <a:xfrm>
            <a:off x="7073900" y="4116150"/>
            <a:ext cx="1511300"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polymerisation resumes</a:t>
            </a:r>
            <a:endParaRPr lang="en-US" sz="1200" dirty="0"/>
          </a:p>
        </p:txBody>
      </p:sp>
      <p:sp>
        <p:nvSpPr>
          <p:cNvPr id="16" name="Text 12"/>
          <p:cNvSpPr/>
          <p:nvPr/>
        </p:nvSpPr>
        <p:spPr>
          <a:xfrm>
            <a:off x="10115550" y="4992450"/>
            <a:ext cx="685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gene A</a:t>
            </a:r>
            <a:endParaRPr lang="en-US" sz="1200" dirty="0"/>
          </a:p>
        </p:txBody>
      </p:sp>
      <p:sp>
        <p:nvSpPr>
          <p:cNvPr id="17" name="Text 13"/>
          <p:cNvSpPr/>
          <p:nvPr/>
        </p:nvSpPr>
        <p:spPr>
          <a:xfrm>
            <a:off x="10585450" y="4992450"/>
            <a:ext cx="685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gene B</a:t>
            </a:r>
            <a:endParaRPr lang="en-US" sz="1200" dirty="0"/>
          </a:p>
        </p:txBody>
      </p:sp>
      <p:sp>
        <p:nvSpPr>
          <p:cNvPr id="18" name="Text 14"/>
          <p:cNvSpPr/>
          <p:nvPr/>
        </p:nvSpPr>
        <p:spPr>
          <a:xfrm>
            <a:off x="812800" y="5424250"/>
            <a:ext cx="10883392" cy="443151"/>
          </a:xfrm>
          <a:prstGeom prst="rect">
            <a:avLst/>
          </a:prstGeom>
          <a:noFill/>
          <a:ln/>
        </p:spPr>
        <p:txBody>
          <a:bodyPr wrap="square" lIns="0" tIns="0" rIns="0" bIns="0" rtlCol="0" anchor="t">
            <a:normAutofit/>
          </a:bodyPr>
          <a:lstStyle/>
          <a:p>
            <a:pPr algn="l" indent="0" marL="0">
              <a:lnSpc>
                <a:spcPts val="1661"/>
              </a:lnSpc>
              <a:buNone/>
            </a:pPr>
            <a:r>
              <a:rPr lang="en-US" sz="1146" dirty="0">
                <a:solidFill>
                  <a:srgbClr val="3D4A57"/>
                </a:solidFill>
                <a:latin typeface="IBM Plex Sans" pitchFamily="34" charset="0"/>
                <a:ea typeface="IBM Plex Sans" pitchFamily="34" charset="-122"/>
                <a:cs typeface="IBM Plex Sans" pitchFamily="34" charset="-120"/>
              </a:rPr>
              <a:t>The new strand comes loose, loops out and re-anneals further back along the template (black), so the polymerase reads the same stretch twice. The daughter molecule leaves with </a:t>
            </a:r>
            <a:r>
              <a:rPr lang="en-US" sz="1146" b="1" dirty="0">
                <a:solidFill>
                  <a:srgbClr val="3D4A57"/>
                </a:solidFill>
                <a:latin typeface="IBM Plex Sans" pitchFamily="34" charset="0"/>
                <a:ea typeface="IBM Plex Sans" pitchFamily="34" charset="-122"/>
                <a:cs typeface="IBM Plex Sans" pitchFamily="34" charset="-120"/>
              </a:rPr>
              <a:t>two copies of each gene</a:t>
            </a:r>
            <a:r>
              <a:rPr lang="en-US" sz="1146" dirty="0">
                <a:solidFill>
                  <a:srgbClr val="3D4A57"/>
                </a:solidFill>
                <a:latin typeface="IBM Plex Sans" pitchFamily="34" charset="0"/>
                <a:ea typeface="IBM Plex Sans" pitchFamily="34" charset="-122"/>
                <a:cs typeface="IBM Plex Sans" pitchFamily="34" charset="-120"/>
              </a:rPr>
              <a:t> — one in the loop, one on the strand.</a:t>
            </a:r>
            <a:endParaRPr lang="en-US" sz="1146"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C2E"/>
                </a:solidFill>
                <a:latin typeface="IBM Plex Sans" pitchFamily="34" charset="0"/>
                <a:ea typeface="IBM Plex Sans" pitchFamily="34" charset="-122"/>
                <a:cs typeface="IBM Plex Sans" pitchFamily="34" charset="-120"/>
              </a:rPr>
              <a:t>THE FOUR FATES</a:t>
            </a:r>
            <a:endParaRPr lang="en-US" sz="1200" dirty="0"/>
          </a:p>
        </p:txBody>
      </p:sp>
      <p:sp>
        <p:nvSpPr>
          <p:cNvPr id="3" name="Text 1"/>
          <p:cNvSpPr/>
          <p:nvPr/>
        </p:nvSpPr>
        <p:spPr>
          <a:xfrm>
            <a:off x="812800" y="1254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222E"/>
                </a:solidFill>
                <a:latin typeface="EB Garamond" pitchFamily="34" charset="0"/>
                <a:ea typeface="EB Garamond" pitchFamily="34" charset="-122"/>
                <a:cs typeface="EB Garamond" pitchFamily="34" charset="-120"/>
              </a:rPr>
              <a:t>Once there are two copies, selection only needs one of them</a:t>
            </a:r>
            <a:endParaRPr lang="en-US" sz="3200" dirty="0"/>
          </a:p>
        </p:txBody>
      </p:sp>
      <p:sp>
        <p:nvSpPr>
          <p:cNvPr id="4" name="Shape 2"/>
          <p:cNvSpPr/>
          <p:nvPr/>
        </p:nvSpPr>
        <p:spPr>
          <a:xfrm>
            <a:off x="815975" y="1933575"/>
            <a:ext cx="2520950" cy="3155950"/>
          </a:xfrm>
          <a:prstGeom prst="roundRect">
            <a:avLst>
              <a:gd name="adj" fmla="val 3904"/>
            </a:avLst>
          </a:prstGeom>
          <a:solidFill>
            <a:srgbClr val="FFFDF8"/>
          </a:solidFill>
          <a:ln w="6350">
            <a:solidFill>
              <a:srgbClr val="E4DDD0"/>
            </a:solidFill>
            <a:prstDash val="solid"/>
          </a:ln>
        </p:spPr>
      </p:sp>
      <p:sp>
        <p:nvSpPr>
          <p:cNvPr id="5" name="Shape 3"/>
          <p:cNvSpPr/>
          <p:nvPr/>
        </p:nvSpPr>
        <p:spPr>
          <a:xfrm>
            <a:off x="995680" y="2113280"/>
            <a:ext cx="749300" cy="241300"/>
          </a:xfrm>
          <a:prstGeom prst="roundRect">
            <a:avLst>
              <a:gd name="adj" fmla="val 15789"/>
            </a:avLst>
          </a:prstGeom>
          <a:solidFill>
            <a:srgbClr val="2E6E6B"/>
          </a:solidFill>
          <a:ln/>
        </p:spPr>
      </p:sp>
      <p:sp>
        <p:nvSpPr>
          <p:cNvPr id="6" name="Shape 4"/>
          <p:cNvSpPr/>
          <p:nvPr/>
        </p:nvSpPr>
        <p:spPr>
          <a:xfrm>
            <a:off x="1814830" y="2119630"/>
            <a:ext cx="736600" cy="228600"/>
          </a:xfrm>
          <a:prstGeom prst="roundRect">
            <a:avLst>
              <a:gd name="adj" fmla="val 13889"/>
            </a:avLst>
          </a:prstGeom>
          <a:solidFill>
            <a:srgbClr val="FAF8F4"/>
          </a:solidFill>
          <a:ln w="12700">
            <a:solidFill>
              <a:srgbClr val="A7ADB4"/>
            </a:solidFill>
            <a:prstDash val="dash"/>
          </a:ln>
        </p:spPr>
      </p:sp>
      <p:sp>
        <p:nvSpPr>
          <p:cNvPr id="7" name="Text 5"/>
          <p:cNvSpPr/>
          <p:nvPr/>
        </p:nvSpPr>
        <p:spPr>
          <a:xfrm>
            <a:off x="995680" y="2443480"/>
            <a:ext cx="222638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24C2E"/>
                </a:solidFill>
                <a:latin typeface="IBM Plex Sans" pitchFamily="34" charset="0"/>
                <a:ea typeface="IBM Plex Sans" pitchFamily="34" charset="-122"/>
                <a:cs typeface="IBM Plex Sans" pitchFamily="34" charset="-120"/>
              </a:rPr>
              <a:t>Nonfunctionalisation</a:t>
            </a:r>
            <a:endParaRPr lang="en-US" sz="1300" dirty="0"/>
          </a:p>
        </p:txBody>
      </p:sp>
      <p:sp>
        <p:nvSpPr>
          <p:cNvPr id="8" name="Text 6"/>
          <p:cNvSpPr/>
          <p:nvPr/>
        </p:nvSpPr>
        <p:spPr>
          <a:xfrm>
            <a:off x="995680" y="2730500"/>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One copy picks up a stop codon or a frameshift and dies. </a:t>
            </a:r>
            <a:r>
              <a:rPr lang="en-US" sz="1200" b="1" dirty="0">
                <a:solidFill>
                  <a:srgbClr val="3D4A57"/>
                </a:solidFill>
                <a:latin typeface="IBM Plex Sans" pitchFamily="34" charset="0"/>
                <a:ea typeface="IBM Plex Sans" pitchFamily="34" charset="-122"/>
                <a:cs typeface="IBM Plex Sans" pitchFamily="34" charset="-120"/>
              </a:rPr>
              <a:t>By far the commonest outcome.</a:t>
            </a:r>
            <a:endParaRPr lang="en-US" sz="1200" dirty="0"/>
          </a:p>
        </p:txBody>
      </p:sp>
      <p:pic>
        <p:nvPicPr>
          <p:cNvPr id="9" name="Image 0" descr="Three rising scent trails struck through with a line, beside an empty dashed gene box">    </p:cNvPr>
          <p:cNvPicPr>
            <a:picLocks noChangeAspect="1"/>
          </p:cNvPicPr>
          <p:nvPr/>
        </p:nvPicPr>
        <p:blipFill>
          <a:blip r:embed="rId1"/>
          <a:srcRect l="0" r="0" t="0" b="0"/>
          <a:stretch/>
        </p:blipFill>
        <p:spPr>
          <a:xfrm>
            <a:off x="995680" y="3459480"/>
            <a:ext cx="2032000" cy="508000"/>
          </a:xfrm>
          <a:prstGeom prst="rect">
            <a:avLst/>
          </a:prstGeom>
        </p:spPr>
      </p:pic>
      <p:sp>
        <p:nvSpPr>
          <p:cNvPr id="10" name="Text 7"/>
          <p:cNvSpPr/>
          <p:nvPr/>
        </p:nvSpPr>
        <p:spPr>
          <a:xfrm>
            <a:off x="995680" y="4056380"/>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For example, about half of our olfactory receptor genes are dead.</a:t>
            </a:r>
            <a:endParaRPr lang="en-US" sz="1200" dirty="0"/>
          </a:p>
        </p:txBody>
      </p:sp>
      <p:sp>
        <p:nvSpPr>
          <p:cNvPr id="11" name="Shape 8"/>
          <p:cNvSpPr/>
          <p:nvPr/>
        </p:nvSpPr>
        <p:spPr>
          <a:xfrm>
            <a:off x="3495675" y="1933575"/>
            <a:ext cx="2520950" cy="3155950"/>
          </a:xfrm>
          <a:prstGeom prst="roundRect">
            <a:avLst>
              <a:gd name="adj" fmla="val 3904"/>
            </a:avLst>
          </a:prstGeom>
          <a:solidFill>
            <a:srgbClr val="FFFDF8"/>
          </a:solidFill>
          <a:ln w="6350">
            <a:solidFill>
              <a:srgbClr val="E4DDD0"/>
            </a:solidFill>
            <a:prstDash val="solid"/>
          </a:ln>
        </p:spPr>
      </p:sp>
      <p:sp>
        <p:nvSpPr>
          <p:cNvPr id="12" name="Shape 9"/>
          <p:cNvSpPr/>
          <p:nvPr/>
        </p:nvSpPr>
        <p:spPr>
          <a:xfrm>
            <a:off x="3675380" y="2113280"/>
            <a:ext cx="749300" cy="241300"/>
          </a:xfrm>
          <a:prstGeom prst="roundRect">
            <a:avLst>
              <a:gd name="adj" fmla="val 15789"/>
            </a:avLst>
          </a:prstGeom>
          <a:solidFill>
            <a:srgbClr val="2E6E6B"/>
          </a:solidFill>
          <a:ln/>
        </p:spPr>
      </p:sp>
      <p:sp>
        <p:nvSpPr>
          <p:cNvPr id="13" name="Shape 10"/>
          <p:cNvSpPr/>
          <p:nvPr/>
        </p:nvSpPr>
        <p:spPr>
          <a:xfrm>
            <a:off x="4488180" y="2113280"/>
            <a:ext cx="749300" cy="241300"/>
          </a:xfrm>
          <a:prstGeom prst="roundRect">
            <a:avLst>
              <a:gd name="adj" fmla="val 15789"/>
            </a:avLst>
          </a:prstGeom>
          <a:solidFill>
            <a:srgbClr val="2E6E6B"/>
          </a:solidFill>
          <a:ln/>
        </p:spPr>
      </p:sp>
      <p:sp>
        <p:nvSpPr>
          <p:cNvPr id="14" name="Text 11"/>
          <p:cNvSpPr/>
          <p:nvPr/>
        </p:nvSpPr>
        <p:spPr>
          <a:xfrm>
            <a:off x="3675380" y="2443480"/>
            <a:ext cx="222638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E6E6B"/>
                </a:solidFill>
                <a:latin typeface="IBM Plex Sans" pitchFamily="34" charset="0"/>
                <a:ea typeface="IBM Plex Sans" pitchFamily="34" charset="-122"/>
                <a:cs typeface="IBM Plex Sans" pitchFamily="34" charset="-120"/>
              </a:rPr>
              <a:t>Conservation</a:t>
            </a:r>
            <a:endParaRPr lang="en-US" sz="1300" dirty="0"/>
          </a:p>
        </p:txBody>
      </p:sp>
      <p:sp>
        <p:nvSpPr>
          <p:cNvPr id="15" name="Text 12"/>
          <p:cNvSpPr/>
          <p:nvPr/>
        </p:nvSpPr>
        <p:spPr>
          <a:xfrm>
            <a:off x="3675380" y="2730500"/>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Both copies are kept because </a:t>
            </a:r>
            <a:r>
              <a:rPr lang="en-US" sz="1200" b="1" dirty="0">
                <a:solidFill>
                  <a:srgbClr val="3D4A57"/>
                </a:solidFill>
                <a:latin typeface="IBM Plex Sans" pitchFamily="34" charset="0"/>
                <a:ea typeface="IBM Plex Sans" pitchFamily="34" charset="-122"/>
                <a:cs typeface="IBM Plex Sans" pitchFamily="34" charset="-120"/>
              </a:rPr>
              <a:t>more product is better</a:t>
            </a:r>
            <a:r>
              <a:rPr lang="en-US" sz="1200" dirty="0">
                <a:solidFill>
                  <a:srgbClr val="3D4A57"/>
                </a:solidFill>
                <a:latin typeface="IBM Plex Sans" pitchFamily="34" charset="0"/>
                <a:ea typeface="IBM Plex Sans" pitchFamily="34" charset="-122"/>
                <a:cs typeface="IBM Plex Sans" pitchFamily="34" charset="-120"/>
              </a:rPr>
              <a:t>. Dosage selection holds them identical.</a:t>
            </a:r>
            <a:endParaRPr lang="en-US" sz="1200" dirty="0"/>
          </a:p>
        </p:txBody>
      </p:sp>
      <p:pic>
        <p:nvPicPr>
          <p:cNvPr id="16" name="Image 1" descr="Six identical gene blocks in a row under a bracket, a tandem array">    </p:cNvPr>
          <p:cNvPicPr>
            <a:picLocks noChangeAspect="1"/>
          </p:cNvPicPr>
          <p:nvPr/>
        </p:nvPicPr>
        <p:blipFill>
          <a:blip r:embed="rId2"/>
          <a:srcRect l="0" r="0" t="0" b="0"/>
          <a:stretch/>
        </p:blipFill>
        <p:spPr>
          <a:xfrm>
            <a:off x="3675380" y="3459480"/>
            <a:ext cx="2032000" cy="508000"/>
          </a:xfrm>
          <a:prstGeom prst="rect">
            <a:avLst/>
          </a:prstGeom>
        </p:spPr>
      </p:pic>
      <p:sp>
        <p:nvSpPr>
          <p:cNvPr id="17" name="Text 13"/>
          <p:cNvSpPr/>
          <p:nvPr/>
        </p:nvSpPr>
        <p:spPr>
          <a:xfrm>
            <a:off x="3675380" y="4056380"/>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For example, rRNA genes sit in arrays of hundreds of near-identical copies.</a:t>
            </a:r>
            <a:endParaRPr lang="en-US" sz="1200" dirty="0"/>
          </a:p>
        </p:txBody>
      </p:sp>
      <p:sp>
        <p:nvSpPr>
          <p:cNvPr id="18" name="Shape 14"/>
          <p:cNvSpPr/>
          <p:nvPr/>
        </p:nvSpPr>
        <p:spPr>
          <a:xfrm>
            <a:off x="6175375" y="1933575"/>
            <a:ext cx="2520950" cy="3155950"/>
          </a:xfrm>
          <a:prstGeom prst="roundRect">
            <a:avLst>
              <a:gd name="adj" fmla="val 3904"/>
            </a:avLst>
          </a:prstGeom>
          <a:solidFill>
            <a:srgbClr val="FFFDF8"/>
          </a:solidFill>
          <a:ln w="6350">
            <a:solidFill>
              <a:srgbClr val="E4DDD0"/>
            </a:solidFill>
            <a:prstDash val="solid"/>
          </a:ln>
        </p:spPr>
      </p:sp>
      <p:sp>
        <p:nvSpPr>
          <p:cNvPr id="19" name="Shape 15"/>
          <p:cNvSpPr/>
          <p:nvPr/>
        </p:nvSpPr>
        <p:spPr>
          <a:xfrm>
            <a:off x="6355080" y="2113280"/>
            <a:ext cx="749300" cy="241300"/>
          </a:xfrm>
          <a:prstGeom prst="roundRect">
            <a:avLst>
              <a:gd name="adj" fmla="val 15789"/>
            </a:avLst>
          </a:prstGeom>
          <a:solidFill>
            <a:srgbClr val="8FB8B6"/>
          </a:solidFill>
          <a:ln/>
        </p:spPr>
      </p:sp>
      <p:sp>
        <p:nvSpPr>
          <p:cNvPr id="20" name="Shape 16"/>
          <p:cNvSpPr/>
          <p:nvPr/>
        </p:nvSpPr>
        <p:spPr>
          <a:xfrm>
            <a:off x="7167880" y="2113280"/>
            <a:ext cx="749300" cy="241300"/>
          </a:xfrm>
          <a:prstGeom prst="roundRect">
            <a:avLst>
              <a:gd name="adj" fmla="val 15789"/>
            </a:avLst>
          </a:prstGeom>
          <a:solidFill>
            <a:srgbClr val="8FB8B6"/>
          </a:solidFill>
          <a:ln/>
        </p:spPr>
      </p:sp>
      <p:sp>
        <p:nvSpPr>
          <p:cNvPr id="21" name="Text 17"/>
          <p:cNvSpPr/>
          <p:nvPr/>
        </p:nvSpPr>
        <p:spPr>
          <a:xfrm>
            <a:off x="6355080" y="2443480"/>
            <a:ext cx="222638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E6E6B"/>
                </a:solidFill>
                <a:latin typeface="IBM Plex Sans" pitchFamily="34" charset="0"/>
                <a:ea typeface="IBM Plex Sans" pitchFamily="34" charset="-122"/>
                <a:cs typeface="IBM Plex Sans" pitchFamily="34" charset="-120"/>
              </a:rPr>
              <a:t>Subfunctionalisation</a:t>
            </a:r>
            <a:endParaRPr lang="en-US" sz="1300" dirty="0"/>
          </a:p>
        </p:txBody>
      </p:sp>
      <p:sp>
        <p:nvSpPr>
          <p:cNvPr id="22" name="Text 18"/>
          <p:cNvSpPr/>
          <p:nvPr/>
        </p:nvSpPr>
        <p:spPr>
          <a:xfrm>
            <a:off x="6355080" y="2730500"/>
            <a:ext cx="2226386"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The ancestor did two jobs; each copy loses one. </a:t>
            </a:r>
            <a:r>
              <a:rPr lang="en-US" sz="1200" b="1" dirty="0">
                <a:solidFill>
                  <a:srgbClr val="3D4A57"/>
                </a:solidFill>
                <a:latin typeface="IBM Plex Sans" pitchFamily="34" charset="0"/>
                <a:ea typeface="IBM Plex Sans" pitchFamily="34" charset="-122"/>
                <a:cs typeface="IBM Plex Sans" pitchFamily="34" charset="-120"/>
              </a:rPr>
              <a:t>Both are now needed</a:t>
            </a:r>
            <a:r>
              <a:rPr lang="en-US" sz="1200" dirty="0">
                <a:solidFill>
                  <a:srgbClr val="3D4A57"/>
                </a:solidFill>
                <a:latin typeface="IBM Plex Sans" pitchFamily="34" charset="0"/>
                <a:ea typeface="IBM Plex Sans" pitchFamily="34" charset="-122"/>
                <a:cs typeface="IBM Plex Sans" pitchFamily="34" charset="-120"/>
              </a:rPr>
              <a:t> to do what one gene did.</a:t>
            </a:r>
            <a:endParaRPr lang="en-US" sz="1200" dirty="0"/>
          </a:p>
        </p:txBody>
      </p:sp>
      <p:pic>
        <p:nvPicPr>
          <p:cNvPr id="23" name="Image 2" descr="One gene box holding two different symbols splits into two boxes, each keeping one symbol">    </p:cNvPr>
          <p:cNvPicPr>
            <a:picLocks noChangeAspect="1"/>
          </p:cNvPicPr>
          <p:nvPr/>
        </p:nvPicPr>
        <p:blipFill>
          <a:blip r:embed="rId3"/>
          <a:srcRect l="0" r="0" t="0" b="0"/>
          <a:stretch/>
        </p:blipFill>
        <p:spPr>
          <a:xfrm>
            <a:off x="6355080" y="3672841"/>
            <a:ext cx="2032000" cy="508000"/>
          </a:xfrm>
          <a:prstGeom prst="rect">
            <a:avLst/>
          </a:prstGeom>
        </p:spPr>
      </p:pic>
      <p:sp>
        <p:nvSpPr>
          <p:cNvPr id="24" name="Text 19"/>
          <p:cNvSpPr/>
          <p:nvPr/>
        </p:nvSpPr>
        <p:spPr>
          <a:xfrm>
            <a:off x="6355080" y="4269741"/>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For example, a gene used in two tissues; each copy keeps one of them.</a:t>
            </a:r>
            <a:endParaRPr lang="en-US" sz="1200" dirty="0"/>
          </a:p>
        </p:txBody>
      </p:sp>
      <p:sp>
        <p:nvSpPr>
          <p:cNvPr id="25" name="Shape 20"/>
          <p:cNvSpPr/>
          <p:nvPr/>
        </p:nvSpPr>
        <p:spPr>
          <a:xfrm>
            <a:off x="8855075" y="1933575"/>
            <a:ext cx="2520950" cy="3155950"/>
          </a:xfrm>
          <a:prstGeom prst="roundRect">
            <a:avLst>
              <a:gd name="adj" fmla="val 3904"/>
            </a:avLst>
          </a:prstGeom>
          <a:solidFill>
            <a:srgbClr val="FFFDF8"/>
          </a:solidFill>
          <a:ln w="6350">
            <a:solidFill>
              <a:srgbClr val="E4DDD0"/>
            </a:solidFill>
            <a:prstDash val="solid"/>
          </a:ln>
        </p:spPr>
      </p:sp>
      <p:sp>
        <p:nvSpPr>
          <p:cNvPr id="26" name="Shape 21"/>
          <p:cNvSpPr/>
          <p:nvPr/>
        </p:nvSpPr>
        <p:spPr>
          <a:xfrm>
            <a:off x="9034780" y="2113280"/>
            <a:ext cx="749300" cy="241300"/>
          </a:xfrm>
          <a:prstGeom prst="roundRect">
            <a:avLst>
              <a:gd name="adj" fmla="val 15789"/>
            </a:avLst>
          </a:prstGeom>
          <a:solidFill>
            <a:srgbClr val="2E6E6B"/>
          </a:solidFill>
          <a:ln/>
        </p:spPr>
      </p:sp>
      <p:sp>
        <p:nvSpPr>
          <p:cNvPr id="27" name="Shape 22"/>
          <p:cNvSpPr/>
          <p:nvPr/>
        </p:nvSpPr>
        <p:spPr>
          <a:xfrm>
            <a:off x="9847580" y="2113280"/>
            <a:ext cx="749300" cy="241300"/>
          </a:xfrm>
          <a:prstGeom prst="roundRect">
            <a:avLst>
              <a:gd name="adj" fmla="val 15789"/>
            </a:avLst>
          </a:prstGeom>
          <a:solidFill>
            <a:srgbClr val="B24C2E"/>
          </a:solidFill>
          <a:ln/>
        </p:spPr>
      </p:sp>
      <p:sp>
        <p:nvSpPr>
          <p:cNvPr id="28" name="Text 23"/>
          <p:cNvSpPr/>
          <p:nvPr/>
        </p:nvSpPr>
        <p:spPr>
          <a:xfrm>
            <a:off x="9034780" y="2443480"/>
            <a:ext cx="222638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24C2E"/>
                </a:solidFill>
                <a:latin typeface="IBM Plex Sans" pitchFamily="34" charset="0"/>
                <a:ea typeface="IBM Plex Sans" pitchFamily="34" charset="-122"/>
                <a:cs typeface="IBM Plex Sans" pitchFamily="34" charset="-120"/>
              </a:rPr>
              <a:t>Neofunctionalisation</a:t>
            </a:r>
            <a:endParaRPr lang="en-US" sz="1300" dirty="0"/>
          </a:p>
        </p:txBody>
      </p:sp>
      <p:sp>
        <p:nvSpPr>
          <p:cNvPr id="29" name="Text 24"/>
          <p:cNvSpPr/>
          <p:nvPr/>
        </p:nvSpPr>
        <p:spPr>
          <a:xfrm>
            <a:off x="9034780" y="2730500"/>
            <a:ext cx="2226386"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The spare copy is free to change and lands on </a:t>
            </a:r>
            <a:r>
              <a:rPr lang="en-US" sz="1200" b="1" dirty="0">
                <a:solidFill>
                  <a:srgbClr val="3D4A57"/>
                </a:solidFill>
                <a:latin typeface="IBM Plex Sans" pitchFamily="34" charset="0"/>
                <a:ea typeface="IBM Plex Sans" pitchFamily="34" charset="-122"/>
                <a:cs typeface="IBM Plex Sans" pitchFamily="34" charset="-120"/>
              </a:rPr>
              <a:t>something genuinely new</a:t>
            </a:r>
            <a:r>
              <a:rPr lang="en-US" sz="1200" dirty="0">
                <a:solidFill>
                  <a:srgbClr val="3D4A57"/>
                </a:solidFill>
                <a:latin typeface="IBM Plex Sans" pitchFamily="34" charset="0"/>
                <a:ea typeface="IBM Plex Sans" pitchFamily="34" charset="-122"/>
                <a:cs typeface="IBM Plex Sans" pitchFamily="34" charset="-120"/>
              </a:rPr>
              <a:t>. Rare, and the reason gene families exist.</a:t>
            </a:r>
            <a:endParaRPr lang="en-US" sz="1200" dirty="0"/>
          </a:p>
        </p:txBody>
      </p:sp>
      <p:pic>
        <p:nvPicPr>
          <p:cNvPr id="30" name="Image 3" descr="Three overlapping colour circles standing for blue, green and red colour vision">    </p:cNvPr>
          <p:cNvPicPr>
            <a:picLocks noChangeAspect="1"/>
          </p:cNvPicPr>
          <p:nvPr/>
        </p:nvPicPr>
        <p:blipFill>
          <a:blip r:embed="rId4"/>
          <a:srcRect l="0" r="0" t="0" b="0"/>
          <a:stretch/>
        </p:blipFill>
        <p:spPr>
          <a:xfrm>
            <a:off x="9034780" y="3886200"/>
            <a:ext cx="2032000" cy="508000"/>
          </a:xfrm>
          <a:prstGeom prst="rect">
            <a:avLst/>
          </a:prstGeom>
        </p:spPr>
      </p:pic>
      <p:sp>
        <p:nvSpPr>
          <p:cNvPr id="31" name="Text 25"/>
          <p:cNvSpPr/>
          <p:nvPr/>
        </p:nvSpPr>
        <p:spPr>
          <a:xfrm>
            <a:off x="9034780" y="4483100"/>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For example, our red and green opsins, and three-colour vision.</a:t>
            </a:r>
            <a:endParaRPr lang="en-US" sz="1200" dirty="0"/>
          </a:p>
        </p:txBody>
      </p:sp>
      <p:sp>
        <p:nvSpPr>
          <p:cNvPr id="32" name="Text 26"/>
          <p:cNvSpPr/>
          <p:nvPr/>
        </p:nvSpPr>
        <p:spPr>
          <a:xfrm>
            <a:off x="812800" y="6238239"/>
            <a:ext cx="83388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Colour follows the lecture figure: teal = original function, pale teal = partial loss, dashed = dead, orange = new function.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22012"/>
          </a:xfrm>
          <a:prstGeom prst="rect">
            <a:avLst/>
          </a:prstGeom>
          <a:noFill/>
          <a:ln/>
        </p:spPr>
        <p:txBody>
          <a:bodyPr wrap="square" lIns="0" tIns="0" rIns="0" bIns="0" rtlCol="0" anchor="t">
            <a:normAutofit/>
          </a:bodyPr>
          <a:lstStyle/>
          <a:p>
            <a:pPr algn="l" indent="0" marL="0">
              <a:lnSpc>
                <a:spcPts val="1570"/>
              </a:lnSpc>
              <a:buNone/>
            </a:pPr>
            <a:r>
              <a:rPr lang="en-US" sz="1121" b="1" spc="100" kern="0" dirty="0">
                <a:solidFill>
                  <a:srgbClr val="B24C2E"/>
                </a:solidFill>
                <a:latin typeface="IBM Plex Sans" pitchFamily="34" charset="0"/>
                <a:ea typeface="IBM Plex Sans" pitchFamily="34" charset="-122"/>
                <a:cs typeface="IBM Plex Sans" pitchFamily="34" charset="-120"/>
              </a:rPr>
              <a:t>WHY A TREE PERSON CARES</a:t>
            </a:r>
            <a:endParaRPr lang="en-US" sz="1121" dirty="0"/>
          </a:p>
        </p:txBody>
      </p:sp>
      <p:sp>
        <p:nvSpPr>
          <p:cNvPr id="3" name="Text 1"/>
          <p:cNvSpPr/>
          <p:nvPr/>
        </p:nvSpPr>
        <p:spPr>
          <a:xfrm>
            <a:off x="812800" y="1238011"/>
            <a:ext cx="10883392" cy="437436"/>
          </a:xfrm>
          <a:prstGeom prst="rect">
            <a:avLst/>
          </a:prstGeom>
          <a:noFill/>
          <a:ln/>
        </p:spPr>
        <p:txBody>
          <a:bodyPr wrap="square" lIns="0" tIns="0" rIns="0" bIns="0" rtlCol="0" anchor="t">
            <a:normAutofit/>
          </a:bodyPr>
          <a:lstStyle/>
          <a:p>
            <a:pPr algn="l" indent="0" marL="0">
              <a:lnSpc>
                <a:spcPts val="3267"/>
              </a:lnSpc>
              <a:buNone/>
            </a:pPr>
            <a:r>
              <a:rPr lang="en-US" sz="2970" b="1" dirty="0">
                <a:solidFill>
                  <a:srgbClr val="17222E"/>
                </a:solidFill>
                <a:latin typeface="EB Garamond" pitchFamily="34" charset="0"/>
                <a:ea typeface="EB Garamond" pitchFamily="34" charset="-122"/>
                <a:cs typeface="EB Garamond" pitchFamily="34" charset="-120"/>
              </a:rPr>
              <a:t>Orthologs, paralogs, and which pair dates what</a:t>
            </a:r>
            <a:endParaRPr lang="en-US" sz="2970" dirty="0"/>
          </a:p>
        </p:txBody>
      </p:sp>
      <p:pic>
        <p:nvPicPr>
          <p:cNvPr id="4" name="Image 0" descr="An ancestral gene X duplicates into a teal copy Y and an orange copy Z, drawn as two boxes at the top of the tree; each copy then splits by speciation into species one and species two">    </p:cNvPr>
          <p:cNvPicPr>
            <a:picLocks noChangeAspect="1"/>
          </p:cNvPicPr>
          <p:nvPr/>
        </p:nvPicPr>
        <p:blipFill>
          <a:blip r:embed="rId1"/>
          <a:srcRect l="0" r="0" t="0" b="0"/>
          <a:stretch/>
        </p:blipFill>
        <p:spPr>
          <a:xfrm>
            <a:off x="812800" y="1878648"/>
            <a:ext cx="5969000" cy="3556000"/>
          </a:xfrm>
          <a:prstGeom prst="rect">
            <a:avLst/>
          </a:prstGeom>
        </p:spPr>
      </p:pic>
      <p:sp>
        <p:nvSpPr>
          <p:cNvPr id="5" name="Text 2"/>
          <p:cNvSpPr/>
          <p:nvPr/>
        </p:nvSpPr>
        <p:spPr>
          <a:xfrm>
            <a:off x="2603500" y="1916748"/>
            <a:ext cx="812800"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gene X</a:t>
            </a:r>
            <a:endParaRPr lang="en-US" sz="1300" dirty="0"/>
          </a:p>
        </p:txBody>
      </p:sp>
      <p:sp>
        <p:nvSpPr>
          <p:cNvPr id="6" name="Text 3"/>
          <p:cNvSpPr/>
          <p:nvPr/>
        </p:nvSpPr>
        <p:spPr>
          <a:xfrm>
            <a:off x="4622800" y="2208848"/>
            <a:ext cx="19621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the duplication: one gene becomes two</a:t>
            </a:r>
            <a:endParaRPr lang="en-US" sz="1200" dirty="0"/>
          </a:p>
        </p:txBody>
      </p:sp>
      <p:sp>
        <p:nvSpPr>
          <p:cNvPr id="7" name="Text 4"/>
          <p:cNvSpPr/>
          <p:nvPr/>
        </p:nvSpPr>
        <p:spPr>
          <a:xfrm>
            <a:off x="889000" y="3110548"/>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speciation</a:t>
            </a:r>
            <a:endParaRPr lang="en-US" sz="1200" dirty="0"/>
          </a:p>
        </p:txBody>
      </p:sp>
      <p:sp>
        <p:nvSpPr>
          <p:cNvPr id="8" name="Text 5"/>
          <p:cNvSpPr/>
          <p:nvPr/>
        </p:nvSpPr>
        <p:spPr>
          <a:xfrm>
            <a:off x="5448300" y="3110548"/>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speciation</a:t>
            </a:r>
            <a:endParaRPr lang="en-US" sz="1200" dirty="0"/>
          </a:p>
        </p:txBody>
      </p:sp>
      <p:sp>
        <p:nvSpPr>
          <p:cNvPr id="9" name="Text 6"/>
          <p:cNvSpPr/>
          <p:nvPr/>
        </p:nvSpPr>
        <p:spPr>
          <a:xfrm>
            <a:off x="1168400" y="4812348"/>
            <a:ext cx="106680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E6E6B"/>
                </a:solidFill>
                <a:latin typeface="IBM Plex Sans" pitchFamily="34" charset="0"/>
                <a:ea typeface="IBM Plex Sans" pitchFamily="34" charset="-122"/>
                <a:cs typeface="IBM Plex Sans" pitchFamily="34" charset="-120"/>
              </a:rPr>
              <a:t>Y1</a:t>
            </a:r>
            <a:endParaRPr lang="en-US" sz="1600" dirty="0"/>
          </a:p>
        </p:txBody>
      </p:sp>
      <p:sp>
        <p:nvSpPr>
          <p:cNvPr id="10" name="Text 7"/>
          <p:cNvSpPr/>
          <p:nvPr/>
        </p:nvSpPr>
        <p:spPr>
          <a:xfrm>
            <a:off x="2438400" y="4812348"/>
            <a:ext cx="106680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E6E6B"/>
                </a:solidFill>
                <a:latin typeface="IBM Plex Sans" pitchFamily="34" charset="0"/>
                <a:ea typeface="IBM Plex Sans" pitchFamily="34" charset="-122"/>
                <a:cs typeface="IBM Plex Sans" pitchFamily="34" charset="-120"/>
              </a:rPr>
              <a:t>Y2</a:t>
            </a:r>
            <a:endParaRPr lang="en-US" sz="1600" dirty="0"/>
          </a:p>
        </p:txBody>
      </p:sp>
      <p:sp>
        <p:nvSpPr>
          <p:cNvPr id="11" name="Text 8"/>
          <p:cNvSpPr/>
          <p:nvPr/>
        </p:nvSpPr>
        <p:spPr>
          <a:xfrm>
            <a:off x="4089400" y="4812348"/>
            <a:ext cx="106680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B24C2E"/>
                </a:solidFill>
                <a:latin typeface="IBM Plex Sans" pitchFamily="34" charset="0"/>
                <a:ea typeface="IBM Plex Sans" pitchFamily="34" charset="-122"/>
                <a:cs typeface="IBM Plex Sans" pitchFamily="34" charset="-120"/>
              </a:rPr>
              <a:t>Z1</a:t>
            </a:r>
            <a:endParaRPr lang="en-US" sz="1600" dirty="0"/>
          </a:p>
        </p:txBody>
      </p:sp>
      <p:sp>
        <p:nvSpPr>
          <p:cNvPr id="12" name="Text 9"/>
          <p:cNvSpPr/>
          <p:nvPr/>
        </p:nvSpPr>
        <p:spPr>
          <a:xfrm>
            <a:off x="5359400" y="4812348"/>
            <a:ext cx="106680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B24C2E"/>
                </a:solidFill>
                <a:latin typeface="IBM Plex Sans" pitchFamily="34" charset="0"/>
                <a:ea typeface="IBM Plex Sans" pitchFamily="34" charset="-122"/>
                <a:cs typeface="IBM Plex Sans" pitchFamily="34" charset="-120"/>
              </a:rPr>
              <a:t>Z2</a:t>
            </a:r>
            <a:endParaRPr lang="en-US" sz="1600" dirty="0"/>
          </a:p>
        </p:txBody>
      </p:sp>
      <p:sp>
        <p:nvSpPr>
          <p:cNvPr id="13" name="Text 10"/>
          <p:cNvSpPr/>
          <p:nvPr/>
        </p:nvSpPr>
        <p:spPr>
          <a:xfrm>
            <a:off x="1168400" y="5091748"/>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species 1</a:t>
            </a:r>
            <a:endParaRPr lang="en-US" sz="1200" dirty="0"/>
          </a:p>
        </p:txBody>
      </p:sp>
      <p:sp>
        <p:nvSpPr>
          <p:cNvPr id="14" name="Text 11"/>
          <p:cNvSpPr/>
          <p:nvPr/>
        </p:nvSpPr>
        <p:spPr>
          <a:xfrm>
            <a:off x="2438400" y="5091748"/>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species 2</a:t>
            </a:r>
            <a:endParaRPr lang="en-US" sz="1200" dirty="0"/>
          </a:p>
        </p:txBody>
      </p:sp>
      <p:sp>
        <p:nvSpPr>
          <p:cNvPr id="15" name="Text 12"/>
          <p:cNvSpPr/>
          <p:nvPr/>
        </p:nvSpPr>
        <p:spPr>
          <a:xfrm>
            <a:off x="4089400" y="5091748"/>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species 1</a:t>
            </a:r>
            <a:endParaRPr lang="en-US" sz="1200" dirty="0"/>
          </a:p>
        </p:txBody>
      </p:sp>
      <p:sp>
        <p:nvSpPr>
          <p:cNvPr id="16" name="Text 13"/>
          <p:cNvSpPr/>
          <p:nvPr/>
        </p:nvSpPr>
        <p:spPr>
          <a:xfrm>
            <a:off x="5359400" y="5091748"/>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species 2</a:t>
            </a:r>
            <a:endParaRPr lang="en-US" sz="1200" dirty="0"/>
          </a:p>
        </p:txBody>
      </p:sp>
      <p:sp>
        <p:nvSpPr>
          <p:cNvPr id="17" name="Shape 14"/>
          <p:cNvSpPr/>
          <p:nvPr/>
        </p:nvSpPr>
        <p:spPr>
          <a:xfrm>
            <a:off x="6985000" y="1878648"/>
            <a:ext cx="4394200" cy="1292860"/>
          </a:xfrm>
          <a:prstGeom prst="roundRect">
            <a:avLst>
              <a:gd name="adj" fmla="val 3929"/>
            </a:avLst>
          </a:prstGeom>
          <a:solidFill>
            <a:srgbClr val="FFFDF8"/>
          </a:solidFill>
          <a:ln/>
        </p:spPr>
      </p:sp>
      <p:sp>
        <p:nvSpPr>
          <p:cNvPr id="18" name="Shape 15"/>
          <p:cNvSpPr/>
          <p:nvPr/>
        </p:nvSpPr>
        <p:spPr>
          <a:xfrm>
            <a:off x="7010400" y="1878648"/>
            <a:ext cx="0" cy="1292860"/>
          </a:xfrm>
          <a:prstGeom prst="line">
            <a:avLst/>
          </a:prstGeom>
          <a:noFill/>
          <a:ln w="50800">
            <a:solidFill>
              <a:srgbClr val="2E6E6B"/>
            </a:solidFill>
            <a:prstDash val="solid"/>
          </a:ln>
        </p:spPr>
      </p:sp>
      <p:sp>
        <p:nvSpPr>
          <p:cNvPr id="19" name="Text 16"/>
          <p:cNvSpPr/>
          <p:nvPr/>
        </p:nvSpPr>
        <p:spPr>
          <a:xfrm>
            <a:off x="7213600" y="2031048"/>
            <a:ext cx="410743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E6E6B"/>
                </a:solidFill>
                <a:latin typeface="IBM Plex Sans" pitchFamily="34" charset="0"/>
                <a:ea typeface="IBM Plex Sans" pitchFamily="34" charset="-122"/>
                <a:cs typeface="IBM Plex Sans" pitchFamily="34" charset="-120"/>
              </a:rPr>
              <a:t>Orthologs — Y1 and Y2</a:t>
            </a:r>
            <a:endParaRPr lang="en-US" sz="1600" dirty="0"/>
          </a:p>
        </p:txBody>
      </p:sp>
      <p:sp>
        <p:nvSpPr>
          <p:cNvPr id="20" name="Text 17"/>
          <p:cNvSpPr/>
          <p:nvPr/>
        </p:nvSpPr>
        <p:spPr>
          <a:xfrm>
            <a:off x="7213600" y="2325688"/>
            <a:ext cx="410743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7"/>
                </a:solidFill>
                <a:latin typeface="IBM Plex Sans" pitchFamily="34" charset="0"/>
                <a:ea typeface="IBM Plex Sans" pitchFamily="34" charset="-122"/>
                <a:cs typeface="IBM Plex Sans" pitchFamily="34" charset="-120"/>
              </a:rPr>
              <a:t>Separated by the </a:t>
            </a:r>
            <a:r>
              <a:rPr lang="en-US" sz="1300" b="1" dirty="0">
                <a:solidFill>
                  <a:srgbClr val="3D4A57"/>
                </a:solidFill>
                <a:latin typeface="IBM Plex Sans" pitchFamily="34" charset="0"/>
                <a:ea typeface="IBM Plex Sans" pitchFamily="34" charset="-122"/>
                <a:cs typeface="IBM Plex Sans" pitchFamily="34" charset="-120"/>
              </a:rPr>
              <a:t>speciation</a:t>
            </a:r>
            <a:r>
              <a:rPr lang="en-US" sz="1300" dirty="0">
                <a:solidFill>
                  <a:srgbClr val="3D4A57"/>
                </a:solidFill>
                <a:latin typeface="IBM Plex Sans" pitchFamily="34" charset="0"/>
                <a:ea typeface="IBM Plex Sans" pitchFamily="34" charset="-122"/>
                <a:cs typeface="IBM Plex Sans" pitchFamily="34" charset="-120"/>
              </a:rPr>
              <a:t>. Their divergence dates the split between the two species. These are the sequences you want in a species tree.</a:t>
            </a:r>
            <a:endParaRPr lang="en-US" sz="1300" dirty="0"/>
          </a:p>
        </p:txBody>
      </p:sp>
      <p:sp>
        <p:nvSpPr>
          <p:cNvPr id="21" name="Shape 18"/>
          <p:cNvSpPr/>
          <p:nvPr/>
        </p:nvSpPr>
        <p:spPr>
          <a:xfrm>
            <a:off x="6985000" y="3298509"/>
            <a:ext cx="4394200" cy="1524000"/>
          </a:xfrm>
          <a:prstGeom prst="roundRect">
            <a:avLst>
              <a:gd name="adj" fmla="val 3333"/>
            </a:avLst>
          </a:prstGeom>
          <a:solidFill>
            <a:srgbClr val="FFFDF8"/>
          </a:solidFill>
          <a:ln/>
        </p:spPr>
      </p:sp>
      <p:sp>
        <p:nvSpPr>
          <p:cNvPr id="22" name="Shape 19"/>
          <p:cNvSpPr/>
          <p:nvPr/>
        </p:nvSpPr>
        <p:spPr>
          <a:xfrm>
            <a:off x="7010400" y="3298509"/>
            <a:ext cx="0" cy="1524000"/>
          </a:xfrm>
          <a:prstGeom prst="line">
            <a:avLst/>
          </a:prstGeom>
          <a:noFill/>
          <a:ln w="50800">
            <a:solidFill>
              <a:srgbClr val="B24C2E"/>
            </a:solidFill>
            <a:prstDash val="solid"/>
          </a:ln>
        </p:spPr>
      </p:sp>
      <p:sp>
        <p:nvSpPr>
          <p:cNvPr id="23" name="Text 20"/>
          <p:cNvSpPr/>
          <p:nvPr/>
        </p:nvSpPr>
        <p:spPr>
          <a:xfrm>
            <a:off x="7213600" y="3450909"/>
            <a:ext cx="410743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24C2E"/>
                </a:solidFill>
                <a:latin typeface="IBM Plex Sans" pitchFamily="34" charset="0"/>
                <a:ea typeface="IBM Plex Sans" pitchFamily="34" charset="-122"/>
                <a:cs typeface="IBM Plex Sans" pitchFamily="34" charset="-120"/>
              </a:rPr>
              <a:t>Paralogs — Y1 and Z1</a:t>
            </a:r>
            <a:endParaRPr lang="en-US" sz="1600" dirty="0"/>
          </a:p>
        </p:txBody>
      </p:sp>
      <p:sp>
        <p:nvSpPr>
          <p:cNvPr id="24" name="Text 21"/>
          <p:cNvSpPr/>
          <p:nvPr/>
        </p:nvSpPr>
        <p:spPr>
          <a:xfrm>
            <a:off x="7213600" y="3745548"/>
            <a:ext cx="4107434"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7"/>
                </a:solidFill>
                <a:latin typeface="IBM Plex Sans" pitchFamily="34" charset="0"/>
                <a:ea typeface="IBM Plex Sans" pitchFamily="34" charset="-122"/>
                <a:cs typeface="IBM Plex Sans" pitchFamily="34" charset="-120"/>
              </a:rPr>
              <a:t>Separated by the </a:t>
            </a:r>
            <a:r>
              <a:rPr lang="en-US" sz="1300" b="1" dirty="0">
                <a:solidFill>
                  <a:srgbClr val="3D4A57"/>
                </a:solidFill>
                <a:latin typeface="IBM Plex Sans" pitchFamily="34" charset="0"/>
                <a:ea typeface="IBM Plex Sans" pitchFamily="34" charset="-122"/>
                <a:cs typeface="IBM Plex Sans" pitchFamily="34" charset="-120"/>
              </a:rPr>
              <a:t>duplication</a:t>
            </a:r>
            <a:r>
              <a:rPr lang="en-US" sz="1300" dirty="0">
                <a:solidFill>
                  <a:srgbClr val="3D4A57"/>
                </a:solidFill>
                <a:latin typeface="IBM Plex Sans" pitchFamily="34" charset="0"/>
                <a:ea typeface="IBM Plex Sans" pitchFamily="34" charset="-122"/>
                <a:cs typeface="IBM Plex Sans" pitchFamily="34" charset="-120"/>
              </a:rPr>
              <a:t> at the top of the tree, which is older. Their divergence dates that event — and both live in the same genome, so no speciation is involved at all.</a:t>
            </a:r>
            <a:endParaRPr lang="en-US" sz="1300" dirty="0"/>
          </a:p>
        </p:txBody>
      </p:sp>
      <p:sp>
        <p:nvSpPr>
          <p:cNvPr id="25" name="Shape 22"/>
          <p:cNvSpPr/>
          <p:nvPr/>
        </p:nvSpPr>
        <p:spPr>
          <a:xfrm>
            <a:off x="6985000" y="4949509"/>
            <a:ext cx="4394200" cy="1229360"/>
          </a:xfrm>
          <a:prstGeom prst="roundRect">
            <a:avLst>
              <a:gd name="adj" fmla="val 4132"/>
            </a:avLst>
          </a:prstGeom>
          <a:solidFill>
            <a:srgbClr val="EFE9DE"/>
          </a:solidFill>
          <a:ln/>
        </p:spPr>
      </p:sp>
      <p:sp>
        <p:nvSpPr>
          <p:cNvPr id="26" name="Text 23"/>
          <p:cNvSpPr/>
          <p:nvPr/>
        </p:nvSpPr>
        <p:spPr>
          <a:xfrm>
            <a:off x="7162800" y="5101909"/>
            <a:ext cx="4159758"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Put Y1 and Z2 in an alignment and call it a species comparison and the tree is not wrong — </a:t>
            </a:r>
            <a:r>
              <a:rPr lang="en-US" sz="1300" b="1" dirty="0">
                <a:solidFill>
                  <a:srgbClr val="17222E"/>
                </a:solidFill>
                <a:latin typeface="IBM Plex Sans" pitchFamily="34" charset="0"/>
                <a:ea typeface="IBM Plex Sans" pitchFamily="34" charset="-122"/>
                <a:cs typeface="IBM Plex Sans" pitchFamily="34" charset="-120"/>
              </a:rPr>
              <a:t>it is answering a different question</a:t>
            </a:r>
            <a:r>
              <a:rPr lang="en-US" sz="1300" dirty="0">
                <a:solidFill>
                  <a:srgbClr val="17222E"/>
                </a:solidFill>
                <a:latin typeface="IBM Plex Sans" pitchFamily="34" charset="0"/>
                <a:ea typeface="IBM Plex Sans" pitchFamily="34" charset="-122"/>
                <a:cs typeface="IBM Plex Sans" pitchFamily="34" charset="-120"/>
              </a:rPr>
              <a:t>. A BLAST best hit is not automatically an ortholog.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CE4"/>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222E"/>
                </a:solidFill>
                <a:latin typeface="EB Garamond" pitchFamily="34" charset="0"/>
                <a:ea typeface="EB Garamond" pitchFamily="34" charset="-122"/>
                <a:cs typeface="EB Garamond" pitchFamily="34" charset="-120"/>
              </a:rPr>
              <a:t>Three ways a gene family can evolve</a:t>
            </a:r>
            <a:endParaRPr lang="en-US" sz="3200" dirty="0"/>
          </a:p>
        </p:txBody>
      </p:sp>
      <p:sp>
        <p:nvSpPr>
          <p:cNvPr id="3" name="Shape 1"/>
          <p:cNvSpPr/>
          <p:nvPr/>
        </p:nvSpPr>
        <p:spPr>
          <a:xfrm>
            <a:off x="815975" y="1491614"/>
            <a:ext cx="3380264" cy="3717290"/>
          </a:xfrm>
          <a:prstGeom prst="roundRect">
            <a:avLst>
              <a:gd name="adj" fmla="val 2912"/>
            </a:avLst>
          </a:prstGeom>
          <a:solidFill>
            <a:srgbClr val="FDFBF7"/>
          </a:solidFill>
          <a:ln w="6350">
            <a:solidFill>
              <a:srgbClr val="E0D8C9"/>
            </a:solidFill>
            <a:prstDash val="solid"/>
          </a:ln>
        </p:spPr>
      </p:sp>
      <p:sp>
        <p:nvSpPr>
          <p:cNvPr id="4" name="Text 2"/>
          <p:cNvSpPr/>
          <p:nvPr/>
        </p:nvSpPr>
        <p:spPr>
          <a:xfrm>
            <a:off x="1021080" y="1696721"/>
            <a:ext cx="305915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22E"/>
                </a:solidFill>
                <a:latin typeface="IBM Plex Sans" pitchFamily="34" charset="0"/>
                <a:ea typeface="IBM Plex Sans" pitchFamily="34" charset="-122"/>
                <a:cs typeface="IBM Plex Sans" pitchFamily="34" charset="-120"/>
              </a:rPr>
              <a:t>Divergent</a:t>
            </a:r>
            <a:endParaRPr lang="en-US" sz="1600" dirty="0"/>
          </a:p>
        </p:txBody>
      </p:sp>
      <p:sp>
        <p:nvSpPr>
          <p:cNvPr id="5" name="Text 3"/>
          <p:cNvSpPr/>
          <p:nvPr/>
        </p:nvSpPr>
        <p:spPr>
          <a:xfrm>
            <a:off x="1021080" y="2030732"/>
            <a:ext cx="939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ancestor</a:t>
            </a:r>
            <a:endParaRPr lang="en-US" sz="1200" dirty="0"/>
          </a:p>
        </p:txBody>
      </p:sp>
      <p:sp>
        <p:nvSpPr>
          <p:cNvPr id="6" name="Shape 4"/>
          <p:cNvSpPr/>
          <p:nvPr/>
        </p:nvSpPr>
        <p:spPr>
          <a:xfrm>
            <a:off x="2011680" y="2029461"/>
            <a:ext cx="215900" cy="215900"/>
          </a:xfrm>
          <a:prstGeom prst="roundRect">
            <a:avLst>
              <a:gd name="adj" fmla="val 50000"/>
            </a:avLst>
          </a:prstGeom>
          <a:solidFill>
            <a:srgbClr val="B24C2E"/>
          </a:solidFill>
          <a:ln/>
        </p:spPr>
      </p:sp>
      <p:sp>
        <p:nvSpPr>
          <p:cNvPr id="7" name="Shape 5"/>
          <p:cNvSpPr/>
          <p:nvPr/>
        </p:nvSpPr>
        <p:spPr>
          <a:xfrm>
            <a:off x="2291080" y="2029461"/>
            <a:ext cx="215900" cy="215900"/>
          </a:xfrm>
          <a:prstGeom prst="roundRect">
            <a:avLst>
              <a:gd name="adj" fmla="val 50000"/>
            </a:avLst>
          </a:prstGeom>
          <a:solidFill>
            <a:srgbClr val="2E6E6B"/>
          </a:solidFill>
          <a:ln/>
        </p:spPr>
      </p:sp>
      <p:sp>
        <p:nvSpPr>
          <p:cNvPr id="8" name="Shape 6"/>
          <p:cNvSpPr/>
          <p:nvPr/>
        </p:nvSpPr>
        <p:spPr>
          <a:xfrm>
            <a:off x="2570480" y="2029461"/>
            <a:ext cx="215900" cy="215900"/>
          </a:xfrm>
          <a:prstGeom prst="roundRect">
            <a:avLst>
              <a:gd name="adj" fmla="val 50000"/>
            </a:avLst>
          </a:prstGeom>
          <a:solidFill>
            <a:srgbClr val="4A6FA5"/>
          </a:solidFill>
          <a:ln/>
        </p:spPr>
      </p:sp>
      <p:sp>
        <p:nvSpPr>
          <p:cNvPr id="9" name="Shape 7"/>
          <p:cNvSpPr/>
          <p:nvPr/>
        </p:nvSpPr>
        <p:spPr>
          <a:xfrm>
            <a:off x="2849880" y="2029461"/>
            <a:ext cx="215900" cy="215900"/>
          </a:xfrm>
          <a:prstGeom prst="roundRect">
            <a:avLst>
              <a:gd name="adj" fmla="val 50000"/>
            </a:avLst>
          </a:prstGeom>
          <a:solidFill>
            <a:srgbClr val="C9A227"/>
          </a:solidFill>
          <a:ln/>
        </p:spPr>
      </p:sp>
      <p:pic>
        <p:nvPicPr>
          <p:cNvPr id="10" name="Image 0" descr="line">    </p:cNvPr>
          <p:cNvPicPr>
            <a:picLocks noChangeAspect="1"/>
          </p:cNvPicPr>
          <p:nvPr/>
        </p:nvPicPr>
        <p:blipFill>
          <a:blip r:embed="rId1"/>
          <a:srcRect l="-12500" r="-12500" t="0" b="0"/>
          <a:stretch/>
        </p:blipFill>
        <p:spPr>
          <a:xfrm>
            <a:off x="1021080" y="2334261"/>
            <a:ext cx="2032000" cy="10160"/>
          </a:xfrm>
          <a:prstGeom prst="rect">
            <a:avLst/>
          </a:prstGeom>
        </p:spPr>
      </p:pic>
      <p:sp>
        <p:nvSpPr>
          <p:cNvPr id="11" name="Text 8"/>
          <p:cNvSpPr/>
          <p:nvPr/>
        </p:nvSpPr>
        <p:spPr>
          <a:xfrm>
            <a:off x="1021080" y="2434589"/>
            <a:ext cx="939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species 1</a:t>
            </a:r>
            <a:endParaRPr lang="en-US" sz="1200" dirty="0"/>
          </a:p>
        </p:txBody>
      </p:sp>
      <p:sp>
        <p:nvSpPr>
          <p:cNvPr id="12" name="Shape 9"/>
          <p:cNvSpPr/>
          <p:nvPr/>
        </p:nvSpPr>
        <p:spPr>
          <a:xfrm>
            <a:off x="2011680" y="2433321"/>
            <a:ext cx="215900" cy="215900"/>
          </a:xfrm>
          <a:prstGeom prst="roundRect">
            <a:avLst>
              <a:gd name="adj" fmla="val 50000"/>
            </a:avLst>
          </a:prstGeom>
          <a:solidFill>
            <a:srgbClr val="B24C2E"/>
          </a:solidFill>
          <a:ln/>
        </p:spPr>
      </p:sp>
      <p:sp>
        <p:nvSpPr>
          <p:cNvPr id="13" name="Shape 10"/>
          <p:cNvSpPr/>
          <p:nvPr/>
        </p:nvSpPr>
        <p:spPr>
          <a:xfrm>
            <a:off x="2291080" y="2433321"/>
            <a:ext cx="215900" cy="215900"/>
          </a:xfrm>
          <a:prstGeom prst="roundRect">
            <a:avLst>
              <a:gd name="adj" fmla="val 50000"/>
            </a:avLst>
          </a:prstGeom>
          <a:solidFill>
            <a:srgbClr val="2E6E6B"/>
          </a:solidFill>
          <a:ln/>
        </p:spPr>
      </p:sp>
      <p:sp>
        <p:nvSpPr>
          <p:cNvPr id="14" name="Shape 11"/>
          <p:cNvSpPr/>
          <p:nvPr/>
        </p:nvSpPr>
        <p:spPr>
          <a:xfrm>
            <a:off x="2570480" y="2433321"/>
            <a:ext cx="215900" cy="215900"/>
          </a:xfrm>
          <a:prstGeom prst="roundRect">
            <a:avLst>
              <a:gd name="adj" fmla="val 50000"/>
            </a:avLst>
          </a:prstGeom>
          <a:solidFill>
            <a:srgbClr val="4A6FA5"/>
          </a:solidFill>
          <a:ln/>
        </p:spPr>
      </p:sp>
      <p:sp>
        <p:nvSpPr>
          <p:cNvPr id="15" name="Shape 12"/>
          <p:cNvSpPr/>
          <p:nvPr/>
        </p:nvSpPr>
        <p:spPr>
          <a:xfrm>
            <a:off x="2849880" y="2433321"/>
            <a:ext cx="215900" cy="215900"/>
          </a:xfrm>
          <a:prstGeom prst="roundRect">
            <a:avLst>
              <a:gd name="adj" fmla="val 50000"/>
            </a:avLst>
          </a:prstGeom>
          <a:solidFill>
            <a:srgbClr val="C9A227"/>
          </a:solidFill>
          <a:ln/>
        </p:spPr>
      </p:sp>
      <p:sp>
        <p:nvSpPr>
          <p:cNvPr id="16" name="Text 13"/>
          <p:cNvSpPr/>
          <p:nvPr/>
        </p:nvSpPr>
        <p:spPr>
          <a:xfrm>
            <a:off x="1021080" y="2739389"/>
            <a:ext cx="939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species 2</a:t>
            </a:r>
            <a:endParaRPr lang="en-US" sz="1200" dirty="0"/>
          </a:p>
        </p:txBody>
      </p:sp>
      <p:sp>
        <p:nvSpPr>
          <p:cNvPr id="17" name="Shape 14"/>
          <p:cNvSpPr/>
          <p:nvPr/>
        </p:nvSpPr>
        <p:spPr>
          <a:xfrm>
            <a:off x="2011680" y="2738121"/>
            <a:ext cx="215900" cy="215900"/>
          </a:xfrm>
          <a:prstGeom prst="roundRect">
            <a:avLst>
              <a:gd name="adj" fmla="val 50000"/>
            </a:avLst>
          </a:prstGeom>
          <a:solidFill>
            <a:srgbClr val="B24C2E"/>
          </a:solidFill>
          <a:ln/>
        </p:spPr>
      </p:sp>
      <p:sp>
        <p:nvSpPr>
          <p:cNvPr id="18" name="Shape 15"/>
          <p:cNvSpPr/>
          <p:nvPr/>
        </p:nvSpPr>
        <p:spPr>
          <a:xfrm>
            <a:off x="2291080" y="2738121"/>
            <a:ext cx="215900" cy="215900"/>
          </a:xfrm>
          <a:prstGeom prst="roundRect">
            <a:avLst>
              <a:gd name="adj" fmla="val 50000"/>
            </a:avLst>
          </a:prstGeom>
          <a:solidFill>
            <a:srgbClr val="2E6E6B"/>
          </a:solidFill>
          <a:ln/>
        </p:spPr>
      </p:sp>
      <p:sp>
        <p:nvSpPr>
          <p:cNvPr id="19" name="Shape 16"/>
          <p:cNvSpPr/>
          <p:nvPr/>
        </p:nvSpPr>
        <p:spPr>
          <a:xfrm>
            <a:off x="2570480" y="2738121"/>
            <a:ext cx="215900" cy="215900"/>
          </a:xfrm>
          <a:prstGeom prst="roundRect">
            <a:avLst>
              <a:gd name="adj" fmla="val 50000"/>
            </a:avLst>
          </a:prstGeom>
          <a:solidFill>
            <a:srgbClr val="4A6FA5"/>
          </a:solidFill>
          <a:ln/>
        </p:spPr>
      </p:sp>
      <p:sp>
        <p:nvSpPr>
          <p:cNvPr id="20" name="Shape 17"/>
          <p:cNvSpPr/>
          <p:nvPr/>
        </p:nvSpPr>
        <p:spPr>
          <a:xfrm>
            <a:off x="2849880" y="2738121"/>
            <a:ext cx="215900" cy="215900"/>
          </a:xfrm>
          <a:prstGeom prst="roundRect">
            <a:avLst>
              <a:gd name="adj" fmla="val 50000"/>
            </a:avLst>
          </a:prstGeom>
          <a:solidFill>
            <a:srgbClr val="C9A227"/>
          </a:solidFill>
          <a:ln/>
        </p:spPr>
      </p:sp>
      <p:sp>
        <p:nvSpPr>
          <p:cNvPr id="21" name="Text 18"/>
          <p:cNvSpPr/>
          <p:nvPr/>
        </p:nvSpPr>
        <p:spPr>
          <a:xfrm>
            <a:off x="1021080" y="3042921"/>
            <a:ext cx="3059155"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7"/>
                </a:solidFill>
                <a:latin typeface="IBM Plex Sans" pitchFamily="34" charset="0"/>
                <a:ea typeface="IBM Plex Sans" pitchFamily="34" charset="-122"/>
                <a:cs typeface="IBM Plex Sans" pitchFamily="34" charset="-120"/>
              </a:rPr>
              <a:t>Each member keeps its own identity, so </a:t>
            </a:r>
            <a:r>
              <a:rPr lang="en-US" sz="1200" b="1" dirty="0">
                <a:solidFill>
                  <a:srgbClr val="3D4A57"/>
                </a:solidFill>
                <a:latin typeface="IBM Plex Sans" pitchFamily="34" charset="0"/>
                <a:ea typeface="IBM Plex Sans" pitchFamily="34" charset="-122"/>
                <a:cs typeface="IBM Plex Sans" pitchFamily="34" charset="-120"/>
              </a:rPr>
              <a:t>members pair up across species</a:t>
            </a:r>
            <a:r>
              <a:rPr lang="en-US" sz="1200" dirty="0">
                <a:solidFill>
                  <a:srgbClr val="3D4A57"/>
                </a:solidFill>
                <a:latin typeface="IBM Plex Sans" pitchFamily="34" charset="0"/>
                <a:ea typeface="IBM Plex Sans" pitchFamily="34" charset="-122"/>
                <a:cs typeface="IBM Plex Sans" pitchFamily="34" charset="-120"/>
              </a:rPr>
              <a:t> as orthologs.</a:t>
            </a:r>
            <a:endParaRPr lang="en-US" sz="1200" dirty="0"/>
          </a:p>
        </p:txBody>
      </p:sp>
      <p:pic>
        <p:nvPicPr>
          <p:cNvPr id="22" name="Image 1" descr="Two rows of three coloured dots, each dot linked by a dashed line to the matching dot in the other row">    </p:cNvPr>
          <p:cNvPicPr>
            <a:picLocks noChangeAspect="1"/>
          </p:cNvPicPr>
          <p:nvPr/>
        </p:nvPicPr>
        <p:blipFill>
          <a:blip r:embed="rId2"/>
          <a:srcRect l="0" r="0" t="0" b="0"/>
          <a:stretch/>
        </p:blipFill>
        <p:spPr>
          <a:xfrm>
            <a:off x="1021080" y="3794761"/>
            <a:ext cx="2032000" cy="457200"/>
          </a:xfrm>
          <a:prstGeom prst="rect">
            <a:avLst/>
          </a:prstGeom>
        </p:spPr>
      </p:pic>
      <p:sp>
        <p:nvSpPr>
          <p:cNvPr id="23" name="Text 19"/>
          <p:cNvSpPr/>
          <p:nvPr/>
        </p:nvSpPr>
        <p:spPr>
          <a:xfrm>
            <a:off x="1021080" y="4340861"/>
            <a:ext cx="3059155"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5616E"/>
                </a:solidFill>
                <a:latin typeface="IBM Plex Sans" pitchFamily="34" charset="0"/>
                <a:ea typeface="IBM Plex Sans" pitchFamily="34" charset="-122"/>
                <a:cs typeface="IBM Plex Sans" pitchFamily="34" charset="-120"/>
              </a:rPr>
              <a:t>For example, the globins: alpha, beta and myoglobin each keep their own job in every species.</a:t>
            </a:r>
            <a:endParaRPr lang="en-US" sz="1200" dirty="0"/>
          </a:p>
        </p:txBody>
      </p:sp>
      <p:sp>
        <p:nvSpPr>
          <p:cNvPr id="24" name="Shape 20"/>
          <p:cNvSpPr/>
          <p:nvPr/>
        </p:nvSpPr>
        <p:spPr>
          <a:xfrm>
            <a:off x="4405789" y="1491614"/>
            <a:ext cx="3380343" cy="3717290"/>
          </a:xfrm>
          <a:prstGeom prst="roundRect">
            <a:avLst>
              <a:gd name="adj" fmla="val 2912"/>
            </a:avLst>
          </a:prstGeom>
          <a:solidFill>
            <a:srgbClr val="FDFBF7"/>
          </a:solidFill>
          <a:ln w="6350">
            <a:solidFill>
              <a:srgbClr val="E0D8C9"/>
            </a:solidFill>
            <a:prstDash val="solid"/>
          </a:ln>
        </p:spPr>
      </p:sp>
      <p:sp>
        <p:nvSpPr>
          <p:cNvPr id="25" name="Text 21"/>
          <p:cNvSpPr/>
          <p:nvPr/>
        </p:nvSpPr>
        <p:spPr>
          <a:xfrm>
            <a:off x="4610894" y="1696721"/>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22E"/>
                </a:solidFill>
                <a:latin typeface="IBM Plex Sans" pitchFamily="34" charset="0"/>
                <a:ea typeface="IBM Plex Sans" pitchFamily="34" charset="-122"/>
                <a:cs typeface="IBM Plex Sans" pitchFamily="34" charset="-120"/>
              </a:rPr>
              <a:t>Concerted</a:t>
            </a:r>
            <a:endParaRPr lang="en-US" sz="1600" dirty="0"/>
          </a:p>
        </p:txBody>
      </p:sp>
      <p:sp>
        <p:nvSpPr>
          <p:cNvPr id="26" name="Text 22"/>
          <p:cNvSpPr/>
          <p:nvPr/>
        </p:nvSpPr>
        <p:spPr>
          <a:xfrm>
            <a:off x="4610894" y="2030732"/>
            <a:ext cx="939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ancestor</a:t>
            </a:r>
            <a:endParaRPr lang="en-US" sz="1200" dirty="0"/>
          </a:p>
        </p:txBody>
      </p:sp>
      <p:sp>
        <p:nvSpPr>
          <p:cNvPr id="27" name="Shape 23"/>
          <p:cNvSpPr/>
          <p:nvPr/>
        </p:nvSpPr>
        <p:spPr>
          <a:xfrm>
            <a:off x="5601494" y="2029461"/>
            <a:ext cx="215900" cy="215900"/>
          </a:xfrm>
          <a:prstGeom prst="roundRect">
            <a:avLst>
              <a:gd name="adj" fmla="val 50000"/>
            </a:avLst>
          </a:prstGeom>
          <a:solidFill>
            <a:srgbClr val="B24C2E"/>
          </a:solidFill>
          <a:ln/>
        </p:spPr>
      </p:sp>
      <p:sp>
        <p:nvSpPr>
          <p:cNvPr id="28" name="Shape 24"/>
          <p:cNvSpPr/>
          <p:nvPr/>
        </p:nvSpPr>
        <p:spPr>
          <a:xfrm>
            <a:off x="5880894" y="2029461"/>
            <a:ext cx="215900" cy="215900"/>
          </a:xfrm>
          <a:prstGeom prst="roundRect">
            <a:avLst>
              <a:gd name="adj" fmla="val 50000"/>
            </a:avLst>
          </a:prstGeom>
          <a:solidFill>
            <a:srgbClr val="2E6E6B"/>
          </a:solidFill>
          <a:ln/>
        </p:spPr>
      </p:sp>
      <p:sp>
        <p:nvSpPr>
          <p:cNvPr id="29" name="Shape 25"/>
          <p:cNvSpPr/>
          <p:nvPr/>
        </p:nvSpPr>
        <p:spPr>
          <a:xfrm>
            <a:off x="6160294" y="2029461"/>
            <a:ext cx="215900" cy="215900"/>
          </a:xfrm>
          <a:prstGeom prst="roundRect">
            <a:avLst>
              <a:gd name="adj" fmla="val 50000"/>
            </a:avLst>
          </a:prstGeom>
          <a:solidFill>
            <a:srgbClr val="4A6FA5"/>
          </a:solidFill>
          <a:ln/>
        </p:spPr>
      </p:sp>
      <p:sp>
        <p:nvSpPr>
          <p:cNvPr id="30" name="Shape 26"/>
          <p:cNvSpPr/>
          <p:nvPr/>
        </p:nvSpPr>
        <p:spPr>
          <a:xfrm>
            <a:off x="6439694" y="2029461"/>
            <a:ext cx="215900" cy="215900"/>
          </a:xfrm>
          <a:prstGeom prst="roundRect">
            <a:avLst>
              <a:gd name="adj" fmla="val 50000"/>
            </a:avLst>
          </a:prstGeom>
          <a:solidFill>
            <a:srgbClr val="C9A227"/>
          </a:solidFill>
          <a:ln/>
        </p:spPr>
      </p:sp>
      <p:pic>
        <p:nvPicPr>
          <p:cNvPr id="31" name="Image 2" descr="line">    </p:cNvPr>
          <p:cNvPicPr>
            <a:picLocks noChangeAspect="1"/>
          </p:cNvPicPr>
          <p:nvPr/>
        </p:nvPicPr>
        <p:blipFill>
          <a:blip r:embed="rId3"/>
          <a:srcRect l="-12500" r="-12500" t="0" b="0"/>
          <a:stretch/>
        </p:blipFill>
        <p:spPr>
          <a:xfrm>
            <a:off x="4610894" y="2334261"/>
            <a:ext cx="2032000" cy="10160"/>
          </a:xfrm>
          <a:prstGeom prst="rect">
            <a:avLst/>
          </a:prstGeom>
        </p:spPr>
      </p:pic>
      <p:sp>
        <p:nvSpPr>
          <p:cNvPr id="32" name="Text 27"/>
          <p:cNvSpPr/>
          <p:nvPr/>
        </p:nvSpPr>
        <p:spPr>
          <a:xfrm>
            <a:off x="4610894" y="2434589"/>
            <a:ext cx="939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species 1</a:t>
            </a:r>
            <a:endParaRPr lang="en-US" sz="1200" dirty="0"/>
          </a:p>
        </p:txBody>
      </p:sp>
      <p:sp>
        <p:nvSpPr>
          <p:cNvPr id="33" name="Shape 28"/>
          <p:cNvSpPr/>
          <p:nvPr/>
        </p:nvSpPr>
        <p:spPr>
          <a:xfrm>
            <a:off x="5601494" y="2433321"/>
            <a:ext cx="215900" cy="215900"/>
          </a:xfrm>
          <a:prstGeom prst="roundRect">
            <a:avLst>
              <a:gd name="adj" fmla="val 50000"/>
            </a:avLst>
          </a:prstGeom>
          <a:solidFill>
            <a:srgbClr val="2E6E6B"/>
          </a:solidFill>
          <a:ln/>
        </p:spPr>
      </p:sp>
      <p:sp>
        <p:nvSpPr>
          <p:cNvPr id="34" name="Shape 29"/>
          <p:cNvSpPr/>
          <p:nvPr/>
        </p:nvSpPr>
        <p:spPr>
          <a:xfrm>
            <a:off x="5880894" y="2433321"/>
            <a:ext cx="215900" cy="215900"/>
          </a:xfrm>
          <a:prstGeom prst="roundRect">
            <a:avLst>
              <a:gd name="adj" fmla="val 50000"/>
            </a:avLst>
          </a:prstGeom>
          <a:solidFill>
            <a:srgbClr val="2E6E6B"/>
          </a:solidFill>
          <a:ln/>
        </p:spPr>
      </p:sp>
      <p:sp>
        <p:nvSpPr>
          <p:cNvPr id="35" name="Shape 30"/>
          <p:cNvSpPr/>
          <p:nvPr/>
        </p:nvSpPr>
        <p:spPr>
          <a:xfrm>
            <a:off x="6160294" y="2433321"/>
            <a:ext cx="215900" cy="215900"/>
          </a:xfrm>
          <a:prstGeom prst="roundRect">
            <a:avLst>
              <a:gd name="adj" fmla="val 50000"/>
            </a:avLst>
          </a:prstGeom>
          <a:solidFill>
            <a:srgbClr val="2E6E6B"/>
          </a:solidFill>
          <a:ln/>
        </p:spPr>
      </p:sp>
      <p:sp>
        <p:nvSpPr>
          <p:cNvPr id="36" name="Shape 31"/>
          <p:cNvSpPr/>
          <p:nvPr/>
        </p:nvSpPr>
        <p:spPr>
          <a:xfrm>
            <a:off x="6439694" y="2433321"/>
            <a:ext cx="215900" cy="215900"/>
          </a:xfrm>
          <a:prstGeom prst="roundRect">
            <a:avLst>
              <a:gd name="adj" fmla="val 50000"/>
            </a:avLst>
          </a:prstGeom>
          <a:solidFill>
            <a:srgbClr val="2E6E6B"/>
          </a:solidFill>
          <a:ln/>
        </p:spPr>
      </p:sp>
      <p:sp>
        <p:nvSpPr>
          <p:cNvPr id="37" name="Text 32"/>
          <p:cNvSpPr/>
          <p:nvPr/>
        </p:nvSpPr>
        <p:spPr>
          <a:xfrm>
            <a:off x="4610894" y="2739389"/>
            <a:ext cx="939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species 2</a:t>
            </a:r>
            <a:endParaRPr lang="en-US" sz="1200" dirty="0"/>
          </a:p>
        </p:txBody>
      </p:sp>
      <p:sp>
        <p:nvSpPr>
          <p:cNvPr id="38" name="Shape 33"/>
          <p:cNvSpPr/>
          <p:nvPr/>
        </p:nvSpPr>
        <p:spPr>
          <a:xfrm>
            <a:off x="5601494" y="2738121"/>
            <a:ext cx="215900" cy="215900"/>
          </a:xfrm>
          <a:prstGeom prst="roundRect">
            <a:avLst>
              <a:gd name="adj" fmla="val 50000"/>
            </a:avLst>
          </a:prstGeom>
          <a:solidFill>
            <a:srgbClr val="B24C2E"/>
          </a:solidFill>
          <a:ln/>
        </p:spPr>
      </p:sp>
      <p:sp>
        <p:nvSpPr>
          <p:cNvPr id="39" name="Shape 34"/>
          <p:cNvSpPr/>
          <p:nvPr/>
        </p:nvSpPr>
        <p:spPr>
          <a:xfrm>
            <a:off x="5880894" y="2738121"/>
            <a:ext cx="215900" cy="215900"/>
          </a:xfrm>
          <a:prstGeom prst="roundRect">
            <a:avLst>
              <a:gd name="adj" fmla="val 50000"/>
            </a:avLst>
          </a:prstGeom>
          <a:solidFill>
            <a:srgbClr val="B24C2E"/>
          </a:solidFill>
          <a:ln/>
        </p:spPr>
      </p:sp>
      <p:sp>
        <p:nvSpPr>
          <p:cNvPr id="40" name="Shape 35"/>
          <p:cNvSpPr/>
          <p:nvPr/>
        </p:nvSpPr>
        <p:spPr>
          <a:xfrm>
            <a:off x="6160294" y="2738121"/>
            <a:ext cx="215900" cy="215900"/>
          </a:xfrm>
          <a:prstGeom prst="roundRect">
            <a:avLst>
              <a:gd name="adj" fmla="val 50000"/>
            </a:avLst>
          </a:prstGeom>
          <a:solidFill>
            <a:srgbClr val="B24C2E"/>
          </a:solidFill>
          <a:ln/>
        </p:spPr>
      </p:sp>
      <p:sp>
        <p:nvSpPr>
          <p:cNvPr id="41" name="Shape 36"/>
          <p:cNvSpPr/>
          <p:nvPr/>
        </p:nvSpPr>
        <p:spPr>
          <a:xfrm>
            <a:off x="6439694" y="2738121"/>
            <a:ext cx="215900" cy="215900"/>
          </a:xfrm>
          <a:prstGeom prst="roundRect">
            <a:avLst>
              <a:gd name="adj" fmla="val 50000"/>
            </a:avLst>
          </a:prstGeom>
          <a:solidFill>
            <a:srgbClr val="B24C2E"/>
          </a:solidFill>
          <a:ln/>
        </p:spPr>
      </p:sp>
      <p:sp>
        <p:nvSpPr>
          <p:cNvPr id="42" name="Text 37"/>
          <p:cNvSpPr/>
          <p:nvPr/>
        </p:nvSpPr>
        <p:spPr>
          <a:xfrm>
            <a:off x="4610894" y="3042921"/>
            <a:ext cx="3059237"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7"/>
                </a:solidFill>
                <a:latin typeface="IBM Plex Sans" pitchFamily="34" charset="0"/>
                <a:ea typeface="IBM Plex Sans" pitchFamily="34" charset="-122"/>
                <a:cs typeface="IBM Plex Sans" pitchFamily="34" charset="-120"/>
              </a:rPr>
              <a:t>Gene conversion keeps copies </a:t>
            </a:r>
            <a:r>
              <a:rPr lang="en-US" sz="1200" b="1" dirty="0">
                <a:solidFill>
                  <a:srgbClr val="3D4A57"/>
                </a:solidFill>
                <a:latin typeface="IBM Plex Sans" pitchFamily="34" charset="0"/>
                <a:ea typeface="IBM Plex Sans" pitchFamily="34" charset="-122"/>
                <a:cs typeface="IBM Plex Sans" pitchFamily="34" charset="-120"/>
              </a:rPr>
              <a:t>identical within a species</a:t>
            </a:r>
            <a:r>
              <a:rPr lang="en-US" sz="1200" dirty="0">
                <a:solidFill>
                  <a:srgbClr val="3D4A57"/>
                </a:solidFill>
                <a:latin typeface="IBM Plex Sans" pitchFamily="34" charset="0"/>
                <a:ea typeface="IBM Plex Sans" pitchFamily="34" charset="-122"/>
                <a:cs typeface="IBM Plex Sans" pitchFamily="34" charset="-120"/>
              </a:rPr>
              <a:t> while the species drift apart.</a:t>
            </a:r>
            <a:endParaRPr lang="en-US" sz="1200" dirty="0"/>
          </a:p>
        </p:txBody>
      </p:sp>
      <p:pic>
        <p:nvPicPr>
          <p:cNvPr id="43" name="Image 3" descr="Two neighbouring gene blocks with a double-headed arrow between them, standing for gene conversion swapping sequence back and forth">    </p:cNvPr>
          <p:cNvPicPr>
            <a:picLocks noChangeAspect="1"/>
          </p:cNvPicPr>
          <p:nvPr/>
        </p:nvPicPr>
        <p:blipFill>
          <a:blip r:embed="rId4"/>
          <a:srcRect l="0" r="0" t="0" b="0"/>
          <a:stretch/>
        </p:blipFill>
        <p:spPr>
          <a:xfrm>
            <a:off x="4610894" y="3794761"/>
            <a:ext cx="2032000" cy="457200"/>
          </a:xfrm>
          <a:prstGeom prst="rect">
            <a:avLst/>
          </a:prstGeom>
        </p:spPr>
      </p:pic>
      <p:sp>
        <p:nvSpPr>
          <p:cNvPr id="44" name="Text 38"/>
          <p:cNvSpPr/>
          <p:nvPr/>
        </p:nvSpPr>
        <p:spPr>
          <a:xfrm>
            <a:off x="4610894" y="4340861"/>
            <a:ext cx="3059237"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5616E"/>
                </a:solidFill>
                <a:latin typeface="IBM Plex Sans" pitchFamily="34" charset="0"/>
                <a:ea typeface="IBM Plex Sans" pitchFamily="34" charset="-122"/>
                <a:cs typeface="IBM Plex Sans" pitchFamily="34" charset="-120"/>
              </a:rPr>
              <a:t>For example, the rRNA arrays, where neighbours resemble each other more than their orthologs.</a:t>
            </a:r>
            <a:endParaRPr lang="en-US" sz="1200" dirty="0"/>
          </a:p>
        </p:txBody>
      </p:sp>
      <p:sp>
        <p:nvSpPr>
          <p:cNvPr id="45" name="Shape 39"/>
          <p:cNvSpPr/>
          <p:nvPr/>
        </p:nvSpPr>
        <p:spPr>
          <a:xfrm>
            <a:off x="7995682" y="1491614"/>
            <a:ext cx="3380343" cy="3717290"/>
          </a:xfrm>
          <a:prstGeom prst="roundRect">
            <a:avLst>
              <a:gd name="adj" fmla="val 2912"/>
            </a:avLst>
          </a:prstGeom>
          <a:solidFill>
            <a:srgbClr val="FDFBF7"/>
          </a:solidFill>
          <a:ln w="6350">
            <a:solidFill>
              <a:srgbClr val="E0D8C9"/>
            </a:solidFill>
            <a:prstDash val="solid"/>
          </a:ln>
        </p:spPr>
      </p:sp>
      <p:sp>
        <p:nvSpPr>
          <p:cNvPr id="46" name="Text 40"/>
          <p:cNvSpPr/>
          <p:nvPr/>
        </p:nvSpPr>
        <p:spPr>
          <a:xfrm>
            <a:off x="8200787" y="1696721"/>
            <a:ext cx="305923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22E"/>
                </a:solidFill>
                <a:latin typeface="IBM Plex Sans" pitchFamily="34" charset="0"/>
                <a:ea typeface="IBM Plex Sans" pitchFamily="34" charset="-122"/>
                <a:cs typeface="IBM Plex Sans" pitchFamily="34" charset="-120"/>
              </a:rPr>
              <a:t>Birth-and-death</a:t>
            </a:r>
            <a:endParaRPr lang="en-US" sz="1600" dirty="0"/>
          </a:p>
        </p:txBody>
      </p:sp>
      <p:sp>
        <p:nvSpPr>
          <p:cNvPr id="47" name="Text 41"/>
          <p:cNvSpPr/>
          <p:nvPr/>
        </p:nvSpPr>
        <p:spPr>
          <a:xfrm>
            <a:off x="8200787" y="2030732"/>
            <a:ext cx="939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ancestor</a:t>
            </a:r>
            <a:endParaRPr lang="en-US" sz="1200" dirty="0"/>
          </a:p>
        </p:txBody>
      </p:sp>
      <p:sp>
        <p:nvSpPr>
          <p:cNvPr id="48" name="Shape 42"/>
          <p:cNvSpPr/>
          <p:nvPr/>
        </p:nvSpPr>
        <p:spPr>
          <a:xfrm>
            <a:off x="9191387" y="2029461"/>
            <a:ext cx="215900" cy="215900"/>
          </a:xfrm>
          <a:prstGeom prst="roundRect">
            <a:avLst>
              <a:gd name="adj" fmla="val 50000"/>
            </a:avLst>
          </a:prstGeom>
          <a:solidFill>
            <a:srgbClr val="B24C2E"/>
          </a:solidFill>
          <a:ln/>
        </p:spPr>
      </p:sp>
      <p:sp>
        <p:nvSpPr>
          <p:cNvPr id="49" name="Shape 43"/>
          <p:cNvSpPr/>
          <p:nvPr/>
        </p:nvSpPr>
        <p:spPr>
          <a:xfrm>
            <a:off x="9470787" y="2029461"/>
            <a:ext cx="215900" cy="215900"/>
          </a:xfrm>
          <a:prstGeom prst="roundRect">
            <a:avLst>
              <a:gd name="adj" fmla="val 50000"/>
            </a:avLst>
          </a:prstGeom>
          <a:solidFill>
            <a:srgbClr val="2E6E6B"/>
          </a:solidFill>
          <a:ln/>
        </p:spPr>
      </p:sp>
      <p:sp>
        <p:nvSpPr>
          <p:cNvPr id="50" name="Shape 44"/>
          <p:cNvSpPr/>
          <p:nvPr/>
        </p:nvSpPr>
        <p:spPr>
          <a:xfrm>
            <a:off x="9750187" y="2029461"/>
            <a:ext cx="215900" cy="215900"/>
          </a:xfrm>
          <a:prstGeom prst="roundRect">
            <a:avLst>
              <a:gd name="adj" fmla="val 50000"/>
            </a:avLst>
          </a:prstGeom>
          <a:solidFill>
            <a:srgbClr val="4A6FA5"/>
          </a:solidFill>
          <a:ln/>
        </p:spPr>
      </p:sp>
      <p:sp>
        <p:nvSpPr>
          <p:cNvPr id="51" name="Shape 45"/>
          <p:cNvSpPr/>
          <p:nvPr/>
        </p:nvSpPr>
        <p:spPr>
          <a:xfrm>
            <a:off x="10029587" y="2029461"/>
            <a:ext cx="215900" cy="215900"/>
          </a:xfrm>
          <a:prstGeom prst="roundRect">
            <a:avLst>
              <a:gd name="adj" fmla="val 50000"/>
            </a:avLst>
          </a:prstGeom>
          <a:solidFill>
            <a:srgbClr val="C9A227"/>
          </a:solidFill>
          <a:ln/>
        </p:spPr>
      </p:sp>
      <p:pic>
        <p:nvPicPr>
          <p:cNvPr id="52" name="Image 4" descr="line">    </p:cNvPr>
          <p:cNvPicPr>
            <a:picLocks noChangeAspect="1"/>
          </p:cNvPicPr>
          <p:nvPr/>
        </p:nvPicPr>
        <p:blipFill>
          <a:blip r:embed="rId5"/>
          <a:srcRect l="-12500" r="-12500" t="0" b="0"/>
          <a:stretch/>
        </p:blipFill>
        <p:spPr>
          <a:xfrm>
            <a:off x="8200787" y="2334261"/>
            <a:ext cx="2032000" cy="10160"/>
          </a:xfrm>
          <a:prstGeom prst="rect">
            <a:avLst/>
          </a:prstGeom>
        </p:spPr>
      </p:pic>
      <p:sp>
        <p:nvSpPr>
          <p:cNvPr id="53" name="Text 46"/>
          <p:cNvSpPr/>
          <p:nvPr/>
        </p:nvSpPr>
        <p:spPr>
          <a:xfrm>
            <a:off x="8200787" y="2434589"/>
            <a:ext cx="939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species 1</a:t>
            </a:r>
            <a:endParaRPr lang="en-US" sz="1200" dirty="0"/>
          </a:p>
        </p:txBody>
      </p:sp>
      <p:sp>
        <p:nvSpPr>
          <p:cNvPr id="54" name="Shape 47"/>
          <p:cNvSpPr/>
          <p:nvPr/>
        </p:nvSpPr>
        <p:spPr>
          <a:xfrm>
            <a:off x="9191387" y="2433321"/>
            <a:ext cx="215900" cy="215900"/>
          </a:xfrm>
          <a:prstGeom prst="roundRect">
            <a:avLst>
              <a:gd name="adj" fmla="val 50000"/>
            </a:avLst>
          </a:prstGeom>
          <a:solidFill>
            <a:srgbClr val="B24C2E"/>
          </a:solidFill>
          <a:ln/>
        </p:spPr>
      </p:sp>
      <p:sp>
        <p:nvSpPr>
          <p:cNvPr id="55" name="Shape 48"/>
          <p:cNvSpPr/>
          <p:nvPr/>
        </p:nvSpPr>
        <p:spPr>
          <a:xfrm>
            <a:off x="9470787" y="2433321"/>
            <a:ext cx="215900" cy="215900"/>
          </a:xfrm>
          <a:prstGeom prst="roundRect">
            <a:avLst>
              <a:gd name="adj" fmla="val 50000"/>
            </a:avLst>
          </a:prstGeom>
          <a:solidFill>
            <a:srgbClr val="4A6FA5"/>
          </a:solidFill>
          <a:ln/>
        </p:spPr>
      </p:sp>
      <p:sp>
        <p:nvSpPr>
          <p:cNvPr id="56" name="Shape 49"/>
          <p:cNvSpPr/>
          <p:nvPr/>
        </p:nvSpPr>
        <p:spPr>
          <a:xfrm>
            <a:off x="9756537" y="2439671"/>
            <a:ext cx="203200" cy="203200"/>
          </a:xfrm>
          <a:prstGeom prst="roundRect">
            <a:avLst>
              <a:gd name="adj" fmla="val 50000"/>
            </a:avLst>
          </a:prstGeom>
          <a:solidFill>
            <a:srgbClr val="FDFBF7"/>
          </a:solidFill>
          <a:ln w="12700">
            <a:solidFill>
              <a:srgbClr val="A7ADB4"/>
            </a:solidFill>
            <a:prstDash val="dash"/>
          </a:ln>
        </p:spPr>
      </p:sp>
      <p:sp>
        <p:nvSpPr>
          <p:cNvPr id="57" name="Text 50"/>
          <p:cNvSpPr/>
          <p:nvPr/>
        </p:nvSpPr>
        <p:spPr>
          <a:xfrm>
            <a:off x="8200787" y="2739389"/>
            <a:ext cx="939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species 2</a:t>
            </a:r>
            <a:endParaRPr lang="en-US" sz="1200" dirty="0"/>
          </a:p>
        </p:txBody>
      </p:sp>
      <p:sp>
        <p:nvSpPr>
          <p:cNvPr id="58" name="Shape 51"/>
          <p:cNvSpPr/>
          <p:nvPr/>
        </p:nvSpPr>
        <p:spPr>
          <a:xfrm>
            <a:off x="9191387" y="2738121"/>
            <a:ext cx="215900" cy="215900"/>
          </a:xfrm>
          <a:prstGeom prst="roundRect">
            <a:avLst>
              <a:gd name="adj" fmla="val 50000"/>
            </a:avLst>
          </a:prstGeom>
          <a:solidFill>
            <a:srgbClr val="2E6E6B"/>
          </a:solidFill>
          <a:ln/>
        </p:spPr>
      </p:sp>
      <p:sp>
        <p:nvSpPr>
          <p:cNvPr id="59" name="Shape 52"/>
          <p:cNvSpPr/>
          <p:nvPr/>
        </p:nvSpPr>
        <p:spPr>
          <a:xfrm>
            <a:off x="9470787" y="2738121"/>
            <a:ext cx="215900" cy="215900"/>
          </a:xfrm>
          <a:prstGeom prst="roundRect">
            <a:avLst>
              <a:gd name="adj" fmla="val 50000"/>
            </a:avLst>
          </a:prstGeom>
          <a:solidFill>
            <a:srgbClr val="C9A227"/>
          </a:solidFill>
          <a:ln/>
        </p:spPr>
      </p:sp>
      <p:sp>
        <p:nvSpPr>
          <p:cNvPr id="60" name="Shape 53"/>
          <p:cNvSpPr/>
          <p:nvPr/>
        </p:nvSpPr>
        <p:spPr>
          <a:xfrm>
            <a:off x="9750187" y="2738121"/>
            <a:ext cx="215900" cy="215900"/>
          </a:xfrm>
          <a:prstGeom prst="roundRect">
            <a:avLst>
              <a:gd name="adj" fmla="val 50000"/>
            </a:avLst>
          </a:prstGeom>
          <a:solidFill>
            <a:srgbClr val="C9A227"/>
          </a:solidFill>
          <a:ln/>
        </p:spPr>
      </p:sp>
      <p:sp>
        <p:nvSpPr>
          <p:cNvPr id="61" name="Shape 54"/>
          <p:cNvSpPr/>
          <p:nvPr/>
        </p:nvSpPr>
        <p:spPr>
          <a:xfrm>
            <a:off x="10029587" y="2738121"/>
            <a:ext cx="215900" cy="215900"/>
          </a:xfrm>
          <a:prstGeom prst="roundRect">
            <a:avLst>
              <a:gd name="adj" fmla="val 50000"/>
            </a:avLst>
          </a:prstGeom>
          <a:solidFill>
            <a:srgbClr val="4A6FA5"/>
          </a:solidFill>
          <a:ln/>
        </p:spPr>
      </p:sp>
      <p:sp>
        <p:nvSpPr>
          <p:cNvPr id="62" name="Text 55"/>
          <p:cNvSpPr/>
          <p:nvPr/>
        </p:nvSpPr>
        <p:spPr>
          <a:xfrm>
            <a:off x="8200787" y="3042921"/>
            <a:ext cx="3059237"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7"/>
                </a:solidFill>
                <a:latin typeface="IBM Plex Sans" pitchFamily="34" charset="0"/>
                <a:ea typeface="IBM Plex Sans" pitchFamily="34" charset="-122"/>
                <a:cs typeface="IBM Plex Sans" pitchFamily="34" charset="-120"/>
              </a:rPr>
              <a:t>New copies are born and old ones die, so </a:t>
            </a:r>
            <a:r>
              <a:rPr lang="en-US" sz="1200" b="1" dirty="0">
                <a:solidFill>
                  <a:srgbClr val="3D4A57"/>
                </a:solidFill>
                <a:latin typeface="IBM Plex Sans" pitchFamily="34" charset="0"/>
                <a:ea typeface="IBM Plex Sans" pitchFamily="34" charset="-122"/>
                <a:cs typeface="IBM Plex Sans" pitchFamily="34" charset="-120"/>
              </a:rPr>
              <a:t>family size differs between species</a:t>
            </a:r>
            <a:r>
              <a:rPr lang="en-US" sz="1200" dirty="0">
                <a:solidFill>
                  <a:srgbClr val="3D4A57"/>
                </a:solidFill>
                <a:latin typeface="IBM Plex Sans" pitchFamily="34" charset="0"/>
                <a:ea typeface="IBM Plex Sans" pitchFamily="34" charset="-122"/>
                <a:cs typeface="IBM Plex Sans" pitchFamily="34" charset="-120"/>
              </a:rPr>
              <a:t>.</a:t>
            </a:r>
            <a:endParaRPr lang="en-US" sz="1200" dirty="0"/>
          </a:p>
        </p:txBody>
      </p:sp>
      <p:pic>
        <p:nvPicPr>
          <p:cNvPr id="63" name="Image 5" descr="A row of five gene blocks: some solid, one orange and new, two drawn dashed to show they are dead">    </p:cNvPr>
          <p:cNvPicPr>
            <a:picLocks noChangeAspect="1"/>
          </p:cNvPicPr>
          <p:nvPr/>
        </p:nvPicPr>
        <p:blipFill>
          <a:blip r:embed="rId6"/>
          <a:srcRect l="0" r="0" t="0" b="0"/>
          <a:stretch/>
        </p:blipFill>
        <p:spPr>
          <a:xfrm>
            <a:off x="8200787" y="3573782"/>
            <a:ext cx="2032000" cy="457200"/>
          </a:xfrm>
          <a:prstGeom prst="rect">
            <a:avLst/>
          </a:prstGeom>
        </p:spPr>
      </p:pic>
      <p:sp>
        <p:nvSpPr>
          <p:cNvPr id="64" name="Text 56"/>
          <p:cNvSpPr/>
          <p:nvPr/>
        </p:nvSpPr>
        <p:spPr>
          <a:xfrm>
            <a:off x="8200787" y="4119882"/>
            <a:ext cx="3059237"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5616E"/>
                </a:solidFill>
                <a:latin typeface="IBM Plex Sans" pitchFamily="34" charset="0"/>
                <a:ea typeface="IBM Plex Sans" pitchFamily="34" charset="-122"/>
                <a:cs typeface="IBM Plex Sans" pitchFamily="34" charset="-120"/>
              </a:rPr>
              <a:t>For example, olfactory receptors: the count differs by hundreds between mammals, and many are dead.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08042"/>
          </a:xfrm>
          <a:prstGeom prst="rect">
            <a:avLst/>
          </a:prstGeom>
          <a:noFill/>
          <a:ln/>
        </p:spPr>
        <p:txBody>
          <a:bodyPr wrap="square" lIns="0" tIns="0" rIns="0" bIns="0" rtlCol="0" anchor="t">
            <a:normAutofit/>
          </a:bodyPr>
          <a:lstStyle/>
          <a:p>
            <a:pPr algn="l" indent="0" marL="0">
              <a:lnSpc>
                <a:spcPts val="1470"/>
              </a:lnSpc>
              <a:buNone/>
            </a:pPr>
            <a:r>
              <a:rPr lang="en-US" sz="1050" b="1" spc="100" kern="0" dirty="0">
                <a:solidFill>
                  <a:srgbClr val="B24C2E"/>
                </a:solidFill>
                <a:latin typeface="IBM Plex Sans" pitchFamily="34" charset="0"/>
                <a:ea typeface="IBM Plex Sans" pitchFamily="34" charset="-122"/>
                <a:cs typeface="IBM Plex Sans" pitchFamily="34" charset="-120"/>
              </a:rPr>
              <a:t>THE CONNECTION TO THIS WEEK</a:t>
            </a:r>
            <a:endParaRPr lang="en-US" sz="1050" dirty="0"/>
          </a:p>
        </p:txBody>
      </p:sp>
      <p:sp>
        <p:nvSpPr>
          <p:cNvPr id="3" name="Text 1"/>
          <p:cNvSpPr/>
          <p:nvPr/>
        </p:nvSpPr>
        <p:spPr>
          <a:xfrm>
            <a:off x="812800" y="1249443"/>
            <a:ext cx="10883392" cy="408146"/>
          </a:xfrm>
          <a:prstGeom prst="rect">
            <a:avLst/>
          </a:prstGeom>
          <a:noFill/>
          <a:ln/>
        </p:spPr>
        <p:txBody>
          <a:bodyPr wrap="square" lIns="0" tIns="0" rIns="0" bIns="0" rtlCol="0" anchor="t">
            <a:normAutofit/>
          </a:bodyPr>
          <a:lstStyle/>
          <a:p>
            <a:pPr algn="l" indent="0" marL="0">
              <a:lnSpc>
                <a:spcPts val="3014"/>
              </a:lnSpc>
              <a:buNone/>
            </a:pPr>
            <a:r>
              <a:rPr lang="en-US" sz="2740" b="1" dirty="0">
                <a:solidFill>
                  <a:srgbClr val="17222E"/>
                </a:solidFill>
                <a:latin typeface="EB Garamond" pitchFamily="34" charset="0"/>
                <a:ea typeface="EB Garamond" pitchFamily="34" charset="-122"/>
                <a:cs typeface="EB Garamond" pitchFamily="34" charset="-120"/>
              </a:rPr>
              <a:t>Three ways a duplication shows up in your tree</a:t>
            </a:r>
            <a:endParaRPr lang="en-US" sz="2740" dirty="0"/>
          </a:p>
        </p:txBody>
      </p:sp>
      <p:sp>
        <p:nvSpPr>
          <p:cNvPr id="4" name="Shape 2"/>
          <p:cNvSpPr/>
          <p:nvPr/>
        </p:nvSpPr>
        <p:spPr>
          <a:xfrm>
            <a:off x="815975" y="1889364"/>
            <a:ext cx="10560050" cy="1281430"/>
          </a:xfrm>
          <a:prstGeom prst="roundRect">
            <a:avLst>
              <a:gd name="adj" fmla="val 7681"/>
            </a:avLst>
          </a:prstGeom>
          <a:solidFill>
            <a:srgbClr val="FFFDF8"/>
          </a:solidFill>
          <a:ln w="6350">
            <a:solidFill>
              <a:srgbClr val="E4DDD0"/>
            </a:solidFill>
            <a:prstDash val="solid"/>
          </a:ln>
        </p:spPr>
      </p:sp>
      <p:sp>
        <p:nvSpPr>
          <p:cNvPr id="5" name="Text 3"/>
          <p:cNvSpPr/>
          <p:nvPr/>
        </p:nvSpPr>
        <p:spPr>
          <a:xfrm>
            <a:off x="1046480" y="2094468"/>
            <a:ext cx="5080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24C2E"/>
                </a:solidFill>
                <a:latin typeface="IBM Plex Sans" pitchFamily="34" charset="0"/>
                <a:ea typeface="IBM Plex Sans" pitchFamily="34" charset="-122"/>
                <a:cs typeface="IBM Plex Sans" pitchFamily="34" charset="-120"/>
              </a:rPr>
              <a:t>1</a:t>
            </a:r>
            <a:endParaRPr lang="en-US" sz="2800" dirty="0"/>
          </a:p>
        </p:txBody>
      </p:sp>
      <p:sp>
        <p:nvSpPr>
          <p:cNvPr id="6" name="Text 4"/>
          <p:cNvSpPr/>
          <p:nvPr/>
        </p:nvSpPr>
        <p:spPr>
          <a:xfrm>
            <a:off x="1706880" y="2094468"/>
            <a:ext cx="97217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22E"/>
                </a:solidFill>
                <a:latin typeface="IBM Plex Sans" pitchFamily="34" charset="0"/>
                <a:ea typeface="IBM Plex Sans" pitchFamily="34" charset="-122"/>
                <a:cs typeface="IBM Plex Sans" pitchFamily="34" charset="-120"/>
              </a:rPr>
              <a:t>A gene tree is not a species tree</a:t>
            </a:r>
            <a:endParaRPr lang="en-US" sz="1800" dirty="0"/>
          </a:p>
        </p:txBody>
      </p:sp>
      <p:sp>
        <p:nvSpPr>
          <p:cNvPr id="7" name="Text 5"/>
          <p:cNvSpPr/>
          <p:nvPr/>
        </p:nvSpPr>
        <p:spPr>
          <a:xfrm>
            <a:off x="1706880" y="2432289"/>
            <a:ext cx="9721799"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A57"/>
                </a:solidFill>
                <a:latin typeface="IBM Plex Sans" pitchFamily="34" charset="0"/>
                <a:ea typeface="IBM Plex Sans" pitchFamily="34" charset="-122"/>
                <a:cs typeface="IBM Plex Sans" pitchFamily="34" charset="-120"/>
              </a:rPr>
              <a:t>Sample one paralog from one species and a different paralog from another and your deepest node is a duplication, not a speciation. Every downstream date is inflated. The tree itself is perfectly correct — it is the label on the node that is wrong.</a:t>
            </a:r>
            <a:endParaRPr lang="en-US" sz="1400" dirty="0"/>
          </a:p>
        </p:txBody>
      </p:sp>
      <p:sp>
        <p:nvSpPr>
          <p:cNvPr id="8" name="Shape 6"/>
          <p:cNvSpPr/>
          <p:nvPr/>
        </p:nvSpPr>
        <p:spPr>
          <a:xfrm>
            <a:off x="815975" y="3329543"/>
            <a:ext cx="10560050" cy="1281430"/>
          </a:xfrm>
          <a:prstGeom prst="roundRect">
            <a:avLst>
              <a:gd name="adj" fmla="val 7681"/>
            </a:avLst>
          </a:prstGeom>
          <a:solidFill>
            <a:srgbClr val="FFFDF8"/>
          </a:solidFill>
          <a:ln w="6350">
            <a:solidFill>
              <a:srgbClr val="E4DDD0"/>
            </a:solidFill>
            <a:prstDash val="solid"/>
          </a:ln>
        </p:spPr>
      </p:sp>
      <p:sp>
        <p:nvSpPr>
          <p:cNvPr id="9" name="Text 7"/>
          <p:cNvSpPr/>
          <p:nvPr/>
        </p:nvSpPr>
        <p:spPr>
          <a:xfrm>
            <a:off x="1046480" y="3534649"/>
            <a:ext cx="5080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24C2E"/>
                </a:solidFill>
                <a:latin typeface="IBM Plex Sans" pitchFamily="34" charset="0"/>
                <a:ea typeface="IBM Plex Sans" pitchFamily="34" charset="-122"/>
                <a:cs typeface="IBM Plex Sans" pitchFamily="34" charset="-120"/>
              </a:rPr>
              <a:t>2</a:t>
            </a:r>
            <a:endParaRPr lang="en-US" sz="2800" dirty="0"/>
          </a:p>
        </p:txBody>
      </p:sp>
      <p:sp>
        <p:nvSpPr>
          <p:cNvPr id="10" name="Text 8"/>
          <p:cNvSpPr/>
          <p:nvPr/>
        </p:nvSpPr>
        <p:spPr>
          <a:xfrm>
            <a:off x="1706880" y="3534649"/>
            <a:ext cx="972179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222E"/>
                </a:solidFill>
                <a:latin typeface="IBM Plex Sans" pitchFamily="34" charset="0"/>
                <a:ea typeface="IBM Plex Sans" pitchFamily="34" charset="-122"/>
                <a:cs typeface="IBM Plex Sans" pitchFamily="34" charset="-120"/>
              </a:rPr>
              <a:t>A dead copy breaks the clock</a:t>
            </a:r>
            <a:endParaRPr lang="en-US" sz="1800" dirty="0"/>
          </a:p>
        </p:txBody>
      </p:sp>
      <p:sp>
        <p:nvSpPr>
          <p:cNvPr id="11" name="Text 9"/>
          <p:cNvSpPr/>
          <p:nvPr/>
        </p:nvSpPr>
        <p:spPr>
          <a:xfrm>
            <a:off x="1706880" y="3872468"/>
            <a:ext cx="9721799"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A57"/>
                </a:solidFill>
                <a:latin typeface="IBM Plex Sans" pitchFamily="34" charset="0"/>
                <a:ea typeface="IBM Plex Sans" pitchFamily="34" charset="-122"/>
                <a:cs typeface="IBM Plex Sans" pitchFamily="34" charset="-120"/>
              </a:rPr>
              <a:t>Nonfunctionalisation is a rate change on one branch. That is exactly what the relative-rate and Tajima tests are built to detect, and exactly what makes a dated tree wrong if you ignore it. A long branch is also the setup for long-branch attraction.</a:t>
            </a:r>
            <a:endParaRPr lang="en-US" sz="1400" dirty="0"/>
          </a:p>
        </p:txBody>
      </p:sp>
      <p:sp>
        <p:nvSpPr>
          <p:cNvPr id="12" name="Shape 10"/>
          <p:cNvSpPr/>
          <p:nvPr/>
        </p:nvSpPr>
        <p:spPr>
          <a:xfrm>
            <a:off x="812800" y="4766549"/>
            <a:ext cx="10566400" cy="1075452"/>
          </a:xfrm>
          <a:prstGeom prst="roundRect">
            <a:avLst>
              <a:gd name="adj" fmla="val 9447"/>
            </a:avLst>
          </a:prstGeom>
          <a:solidFill>
            <a:srgbClr val="2E6E6B"/>
          </a:solidFill>
          <a:ln/>
        </p:spPr>
      </p:sp>
      <p:sp>
        <p:nvSpPr>
          <p:cNvPr id="13" name="Text 11"/>
          <p:cNvSpPr/>
          <p:nvPr/>
        </p:nvSpPr>
        <p:spPr>
          <a:xfrm>
            <a:off x="1041400" y="4969749"/>
            <a:ext cx="5080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0C9A8"/>
                </a:solidFill>
                <a:latin typeface="IBM Plex Sans" pitchFamily="34" charset="0"/>
                <a:ea typeface="IBM Plex Sans" pitchFamily="34" charset="-122"/>
                <a:cs typeface="IBM Plex Sans" pitchFamily="34" charset="-120"/>
              </a:rPr>
              <a:t>3</a:t>
            </a:r>
            <a:endParaRPr lang="en-US" sz="2800" dirty="0"/>
          </a:p>
        </p:txBody>
      </p:sp>
      <p:sp>
        <p:nvSpPr>
          <p:cNvPr id="14" name="Text 12"/>
          <p:cNvSpPr/>
          <p:nvPr/>
        </p:nvSpPr>
        <p:spPr>
          <a:xfrm>
            <a:off x="1701800" y="4969749"/>
            <a:ext cx="973226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DF8"/>
                </a:solidFill>
                <a:latin typeface="IBM Plex Sans" pitchFamily="34" charset="0"/>
                <a:ea typeface="IBM Plex Sans" pitchFamily="34" charset="-122"/>
                <a:cs typeface="IBM Plex Sans" pitchFamily="34" charset="-120"/>
              </a:rPr>
              <a:t>A duplication is an outgroup you can use</a:t>
            </a:r>
            <a:endParaRPr lang="en-US" sz="1800" dirty="0"/>
          </a:p>
        </p:txBody>
      </p:sp>
      <p:sp>
        <p:nvSpPr>
          <p:cNvPr id="15" name="Text 13"/>
          <p:cNvSpPr/>
          <p:nvPr/>
        </p:nvSpPr>
        <p:spPr>
          <a:xfrm>
            <a:off x="1701800" y="5307568"/>
            <a:ext cx="973226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6E5E3"/>
                </a:solidFill>
                <a:latin typeface="IBM Plex Sans" pitchFamily="34" charset="0"/>
                <a:ea typeface="IBM Plex Sans" pitchFamily="34" charset="-122"/>
                <a:cs typeface="IBM Plex Sans" pitchFamily="34" charset="-120"/>
              </a:rPr>
              <a:t>If the duplication is older than every speciation in your group, then each copy is an outgroup for the other — and you did not have to find an organism outside the group. Hold on to this one; it is the whole of part three.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222E"/>
        </a:solidFill>
      </p:bgPr>
    </p:bg>
    <p:spTree>
      <p:nvGrpSpPr>
        <p:cNvPr id="1" name=""/>
        <p:cNvGrpSpPr/>
        <p:nvPr/>
      </p:nvGrpSpPr>
      <p:grpSpPr>
        <a:xfrm>
          <a:off x="0" y="0"/>
          <a:ext cx="0" cy="0"/>
          <a:chOff x="0" y="0"/>
          <a:chExt cx="0" cy="0"/>
        </a:xfrm>
      </p:grpSpPr>
      <p:sp>
        <p:nvSpPr>
          <p:cNvPr id="2" name="Text 0"/>
          <p:cNvSpPr/>
          <p:nvPr/>
        </p:nvSpPr>
        <p:spPr>
          <a:xfrm>
            <a:off x="812800" y="2148839"/>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D9A388"/>
                </a:solidFill>
                <a:latin typeface="IBM Plex Sans" pitchFamily="34" charset="0"/>
                <a:ea typeface="IBM Plex Sans" pitchFamily="34" charset="-122"/>
                <a:cs typeface="IBM Plex Sans" pitchFamily="34" charset="-120"/>
              </a:rPr>
              <a:t>PART TWO</a:t>
            </a:r>
            <a:endParaRPr lang="en-US" sz="1600" dirty="0"/>
          </a:p>
        </p:txBody>
      </p:sp>
      <p:sp>
        <p:nvSpPr>
          <p:cNvPr id="3" name="Text 1"/>
          <p:cNvSpPr/>
          <p:nvPr/>
        </p:nvSpPr>
        <p:spPr>
          <a:xfrm>
            <a:off x="812800" y="2636521"/>
            <a:ext cx="9483725" cy="13055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4F1EA"/>
                </a:solidFill>
                <a:latin typeface="EB Garamond" pitchFamily="34" charset="0"/>
                <a:ea typeface="EB Garamond" pitchFamily="34" charset="-122"/>
                <a:cs typeface="EB Garamond" pitchFamily="34" charset="-120"/>
              </a:rPr>
              <a:t>Parsimony, and what changes when you start weighting the steps</a:t>
            </a:r>
            <a:endParaRPr lang="en-US" sz="4800" dirty="0"/>
          </a:p>
        </p:txBody>
      </p:sp>
      <p:sp>
        <p:nvSpPr>
          <p:cNvPr id="4" name="Text 2"/>
          <p:cNvSpPr/>
          <p:nvPr/>
        </p:nvSpPr>
        <p:spPr>
          <a:xfrm>
            <a:off x="812800" y="4119879"/>
            <a:ext cx="8829675"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CC6CF"/>
                </a:solidFill>
                <a:latin typeface="IBM Plex Sans" pitchFamily="34" charset="0"/>
                <a:ea typeface="IBM Plex Sans" pitchFamily="34" charset="-122"/>
                <a:cs typeface="IBM Plex Sans" pitchFamily="34" charset="-120"/>
              </a:rPr>
              <a:t>We will score one small alignment by hand twice — once counting every change as one step, once with a cost matrix — and then ask how that differs from using a substitution model.</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222E"/>
                </a:solidFill>
                <a:latin typeface="EB Garamond" pitchFamily="34" charset="0"/>
                <a:ea typeface="EB Garamond" pitchFamily="34" charset="-122"/>
                <a:cs typeface="EB Garamond" pitchFamily="34" charset="-120"/>
              </a:rPr>
              <a:t>Most sites in an alignment cannot help you choose a tree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437642"/>
          <a:ext cx="5588000" cy="2423160"/>
        </p:xfrm>
        <a:graphic>
          <a:graphicData uri="http://schemas.openxmlformats.org/drawingml/2006/table">
            <a:tbl>
              <a:tblPr/>
              <a:tblGrid>
                <a:gridCol w="894080"/>
                <a:gridCol w="670560"/>
                <a:gridCol w="670560"/>
                <a:gridCol w="670560"/>
                <a:gridCol w="670560"/>
                <a:gridCol w="670560"/>
                <a:gridCol w="670560"/>
                <a:gridCol w="670560"/>
              </a:tblGrid>
              <a:tr h="403860">
                <a:tc>
                  <a:txBody>
                    <a:bodyPr/>
                    <a:lstStyle/>
                    <a:p>
                      <a:pPr indent="0" marL="0">
                        <a:lnSpc>
                          <a:spcPts val="2100"/>
                        </a:lnSpc>
                        <a:buNone/>
                      </a:pPr>
                      <a:r>
                        <a:rPr lang="en-US" sz="1500" b="1" dirty="0">
                          <a:solidFill>
                            <a:srgbClr val="17222E"/>
                          </a:solidFill>
                          <a:latin typeface="IBM Plex Sans" pitchFamily="34" charset="0"/>
                          <a:ea typeface="IBM Plex Sans" pitchFamily="34" charset="-122"/>
                          <a:cs typeface="IBM Plex Sans" pitchFamily="34" charset="-120"/>
                        </a:rPr>
                        <a:t>site</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b="1" dirty="0">
                          <a:solidFill>
                            <a:srgbClr val="17222E"/>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b="1" dirty="0">
                          <a:solidFill>
                            <a:srgbClr val="17222E"/>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b="1" dirty="0">
                          <a:solidFill>
                            <a:srgbClr val="17222E"/>
                          </a:solidFill>
                          <a:latin typeface="IBM Plex Sans" pitchFamily="34" charset="0"/>
                          <a:ea typeface="IBM Plex Sans" pitchFamily="34" charset="-122"/>
                          <a:cs typeface="IBM Plex Sans" pitchFamily="34" charset="-120"/>
                        </a:rPr>
                        <a:t>3</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b="1" dirty="0">
                          <a:solidFill>
                            <a:srgbClr val="17222E"/>
                          </a:solidFill>
                          <a:latin typeface="IBM Plex Sans" pitchFamily="34" charset="0"/>
                          <a:ea typeface="IBM Plex Sans" pitchFamily="34" charset="-122"/>
                          <a:cs typeface="IBM Plex Sans" pitchFamily="34" charset="-120"/>
                        </a:rPr>
                        <a:t>4</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b="1" dirty="0">
                          <a:solidFill>
                            <a:srgbClr val="B24C2E"/>
                          </a:solidFill>
                          <a:latin typeface="IBM Plex Sans" pitchFamily="34" charset="0"/>
                          <a:ea typeface="IBM Plex Sans" pitchFamily="34" charset="-122"/>
                          <a:cs typeface="IBM Plex Sans" pitchFamily="34" charset="-120"/>
                        </a:rPr>
                        <a:t>5</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b="1" dirty="0">
                          <a:solidFill>
                            <a:srgbClr val="B24C2E"/>
                          </a:solidFill>
                          <a:latin typeface="IBM Plex Sans" pitchFamily="34" charset="0"/>
                          <a:ea typeface="IBM Plex Sans" pitchFamily="34" charset="-122"/>
                          <a:cs typeface="IBM Plex Sans" pitchFamily="34" charset="-120"/>
                        </a:rPr>
                        <a:t>6</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b="1" dirty="0">
                          <a:solidFill>
                            <a:srgbClr val="B24C2E"/>
                          </a:solidFill>
                          <a:latin typeface="IBM Plex Sans" pitchFamily="34" charset="0"/>
                          <a:ea typeface="IBM Plex Sans" pitchFamily="34" charset="-122"/>
                          <a:cs typeface="IBM Plex Sans" pitchFamily="34" charset="-120"/>
                        </a:rPr>
                        <a:t>7</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r>
              <a:tr h="403860">
                <a:tc>
                  <a:txBody>
                    <a:bodyPr/>
                    <a:lstStyle/>
                    <a:p>
                      <a:pP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I</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A</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T</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403860">
                <a:tc>
                  <a:txBody>
                    <a:bodyPr/>
                    <a:lstStyle/>
                    <a:p>
                      <a:pP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II</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A</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r>
              <a:tr h="403860">
                <a:tc>
                  <a:txBody>
                    <a:bodyPr/>
                    <a:lstStyle/>
                    <a:p>
                      <a:pP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III</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A</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A</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A</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T</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403860">
                <a:tc>
                  <a:txBody>
                    <a:bodyPr/>
                    <a:lstStyle/>
                    <a:p>
                      <a:pP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IV</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A</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1722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A</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A</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G</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r>
              <a:tr h="403860">
                <a:tc>
                  <a:txBody>
                    <a:bodyPr/>
                    <a:lstStyle/>
                    <a:p>
                      <a:pPr indent="0" marL="0">
                        <a:lnSpc>
                          <a:spcPts val="2100"/>
                        </a:lnSpc>
                        <a:buNone/>
                      </a:pPr>
                      <a:r>
                        <a:rPr lang="en-US" sz="1500" dirty="0">
                          <a:solidFill>
                            <a:srgbClr val="55616E"/>
                          </a:solidFill>
                          <a:latin typeface="IBM Plex Sans" pitchFamily="34" charset="0"/>
                          <a:ea typeface="IBM Plex Sans" pitchFamily="34" charset="-122"/>
                          <a:cs typeface="IBM Plex Sans" pitchFamily="34" charset="-120"/>
                        </a:rPr>
                        <a:t>use?</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dirty="0">
                          <a:solidFill>
                            <a:srgbClr val="55616E"/>
                          </a:solidFill>
                          <a:latin typeface="IBM Plex Sans" pitchFamily="34" charset="0"/>
                          <a:ea typeface="IBM Plex Sans" pitchFamily="34" charset="-122"/>
                          <a:cs typeface="IBM Plex Sans" pitchFamily="34" charset="-120"/>
                        </a:rPr>
                        <a:t>no</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dirty="0">
                          <a:solidFill>
                            <a:srgbClr val="55616E"/>
                          </a:solidFill>
                          <a:latin typeface="IBM Plex Sans" pitchFamily="34" charset="0"/>
                          <a:ea typeface="IBM Plex Sans" pitchFamily="34" charset="-122"/>
                          <a:cs typeface="IBM Plex Sans" pitchFamily="34" charset="-120"/>
                        </a:rPr>
                        <a:t>no</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dirty="0">
                          <a:solidFill>
                            <a:srgbClr val="55616E"/>
                          </a:solidFill>
                          <a:latin typeface="IBM Plex Sans" pitchFamily="34" charset="0"/>
                          <a:ea typeface="IBM Plex Sans" pitchFamily="34" charset="-122"/>
                          <a:cs typeface="IBM Plex Sans" pitchFamily="34" charset="-120"/>
                        </a:rPr>
                        <a:t>no</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dirty="0">
                          <a:solidFill>
                            <a:srgbClr val="55616E"/>
                          </a:solidFill>
                          <a:latin typeface="IBM Plex Sans" pitchFamily="34" charset="0"/>
                          <a:ea typeface="IBM Plex Sans" pitchFamily="34" charset="-122"/>
                          <a:cs typeface="IBM Plex Sans" pitchFamily="34" charset="-120"/>
                        </a:rPr>
                        <a:t>no</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2100"/>
                        </a:lnSpc>
                        <a:buNone/>
                      </a:pPr>
                      <a:r>
                        <a:rPr lang="en-US" sz="1500" dirty="0">
                          <a:solidFill>
                            <a:srgbClr val="B24C2E"/>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r>
            </a:tbl>
          </a:graphicData>
        </a:graphic>
      </p:graphicFrame>
      <p:sp>
        <p:nvSpPr>
          <p:cNvPr id="4" name="Shape 1"/>
          <p:cNvSpPr/>
          <p:nvPr/>
        </p:nvSpPr>
        <p:spPr>
          <a:xfrm>
            <a:off x="6654800" y="1437642"/>
            <a:ext cx="4724400" cy="845820"/>
          </a:xfrm>
          <a:prstGeom prst="roundRect">
            <a:avLst>
              <a:gd name="adj" fmla="val 9009"/>
            </a:avLst>
          </a:prstGeom>
          <a:solidFill>
            <a:srgbClr val="2E6E6B"/>
          </a:solidFill>
          <a:ln/>
        </p:spPr>
      </p:sp>
      <p:sp>
        <p:nvSpPr>
          <p:cNvPr id="5" name="Text 2"/>
          <p:cNvSpPr/>
          <p:nvPr/>
        </p:nvSpPr>
        <p:spPr>
          <a:xfrm>
            <a:off x="6845300" y="1602742"/>
            <a:ext cx="447370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FFDF8"/>
                </a:solidFill>
                <a:latin typeface="IBM Plex Sans" pitchFamily="34" charset="0"/>
                <a:ea typeface="IBM Plex Sans" pitchFamily="34" charset="-122"/>
                <a:cs typeface="IBM Plex Sans" pitchFamily="34" charset="-120"/>
              </a:rPr>
              <a:t>A site is </a:t>
            </a:r>
            <a:r>
              <a:rPr lang="en-US" sz="1400" b="1" dirty="0">
                <a:solidFill>
                  <a:srgbClr val="FFFDF8"/>
                </a:solidFill>
                <a:latin typeface="IBM Plex Sans" pitchFamily="34" charset="0"/>
                <a:ea typeface="IBM Plex Sans" pitchFamily="34" charset="-122"/>
                <a:cs typeface="IBM Plex Sans" pitchFamily="34" charset="-120"/>
              </a:rPr>
              <a:t>parsimony-informative</a:t>
            </a:r>
            <a:r>
              <a:rPr lang="en-US" sz="1400" dirty="0">
                <a:solidFill>
                  <a:srgbClr val="FFFDF8"/>
                </a:solidFill>
                <a:latin typeface="IBM Plex Sans" pitchFamily="34" charset="0"/>
                <a:ea typeface="IBM Plex Sans" pitchFamily="34" charset="-122"/>
                <a:cs typeface="IBM Plex Sans" pitchFamily="34" charset="-120"/>
              </a:rPr>
              <a:t> when at least two different bases each appear in at least two taxa.</a:t>
            </a:r>
            <a:endParaRPr lang="en-US" sz="1400" dirty="0"/>
          </a:p>
        </p:txBody>
      </p:sp>
      <p:sp>
        <p:nvSpPr>
          <p:cNvPr id="6" name="Shape 3"/>
          <p:cNvSpPr/>
          <p:nvPr/>
        </p:nvSpPr>
        <p:spPr>
          <a:xfrm>
            <a:off x="6657975" y="2413639"/>
            <a:ext cx="4718050" cy="1291590"/>
          </a:xfrm>
          <a:prstGeom prst="roundRect">
            <a:avLst>
              <a:gd name="adj" fmla="val 5654"/>
            </a:avLst>
          </a:prstGeom>
          <a:solidFill>
            <a:srgbClr val="FFFDF8"/>
          </a:solidFill>
          <a:ln w="6350">
            <a:solidFill>
              <a:srgbClr val="E4DDD0"/>
            </a:solidFill>
            <a:prstDash val="solid"/>
          </a:ln>
        </p:spPr>
      </p:sp>
      <p:sp>
        <p:nvSpPr>
          <p:cNvPr id="7" name="Text 4"/>
          <p:cNvSpPr/>
          <p:nvPr/>
        </p:nvSpPr>
        <p:spPr>
          <a:xfrm>
            <a:off x="6850380" y="2580642"/>
            <a:ext cx="4463237"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Sites 1 to 4 have </a:t>
            </a:r>
            <a:r>
              <a:rPr lang="en-US" sz="1300" b="1" dirty="0">
                <a:solidFill>
                  <a:srgbClr val="3D4A57"/>
                </a:solidFill>
                <a:latin typeface="IBM Plex Sans" pitchFamily="34" charset="0"/>
                <a:ea typeface="IBM Plex Sans" pitchFamily="34" charset="-122"/>
                <a:cs typeface="IBM Plex Sans" pitchFamily="34" charset="-120"/>
              </a:rPr>
              <a:t>one odd taxon out</a:t>
            </a:r>
            <a:r>
              <a:rPr lang="en-US" sz="1300" dirty="0">
                <a:solidFill>
                  <a:srgbClr val="3D4A57"/>
                </a:solidFill>
                <a:latin typeface="IBM Plex Sans" pitchFamily="34" charset="0"/>
                <a:ea typeface="IBM Plex Sans" pitchFamily="34" charset="-122"/>
                <a:cs typeface="IBM Plex Sans" pitchFamily="34" charset="-120"/>
              </a:rPr>
              <a:t>: one change wherever you hang it, so they cost all three trees the same and cannot vote. Sites 5 to 7 split the four taxa </a:t>
            </a:r>
            <a:r>
              <a:rPr lang="en-US" sz="1300" b="1" dirty="0">
                <a:solidFill>
                  <a:srgbClr val="3D4A57"/>
                </a:solidFill>
                <a:latin typeface="IBM Plex Sans" pitchFamily="34" charset="0"/>
                <a:ea typeface="IBM Plex Sans" pitchFamily="34" charset="-122"/>
                <a:cs typeface="IBM Plex Sans" pitchFamily="34" charset="-120"/>
              </a:rPr>
              <a:t>2 against 2</a:t>
            </a:r>
            <a:r>
              <a:rPr lang="en-US" sz="1300" dirty="0">
                <a:solidFill>
                  <a:srgbClr val="3D4A57"/>
                </a:solidFill>
                <a:latin typeface="IBM Plex Sans" pitchFamily="34" charset="0"/>
                <a:ea typeface="IBM Plex Sans" pitchFamily="34" charset="-122"/>
                <a:cs typeface="IBM Plex Sans" pitchFamily="34" charset="-120"/>
              </a:rPr>
              <a:t>, and only then does the grouping change the count.</a:t>
            </a:r>
            <a:endParaRPr lang="en-US" sz="1300" dirty="0"/>
          </a:p>
        </p:txBody>
      </p:sp>
      <p:sp>
        <p:nvSpPr>
          <p:cNvPr id="8" name="Text 5"/>
          <p:cNvSpPr/>
          <p:nvPr/>
        </p:nvSpPr>
        <p:spPr>
          <a:xfrm>
            <a:off x="812800" y="4053842"/>
            <a:ext cx="34533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22E"/>
                </a:solidFill>
                <a:latin typeface="IBM Plex Sans" pitchFamily="34" charset="0"/>
                <a:ea typeface="IBM Plex Sans" pitchFamily="34" charset="-122"/>
                <a:cs typeface="IBM Plex Sans" pitchFamily="34" charset="-120"/>
              </a:rPr>
              <a:t>Tree A — (I,II)(III,IV)</a:t>
            </a:r>
            <a:endParaRPr lang="en-US" sz="1400" dirty="0"/>
          </a:p>
        </p:txBody>
      </p:sp>
      <p:pic>
        <p:nvPicPr>
          <p:cNvPr id="9" name="Image 0" descr="Tree A joins taxon one with taxon two, and taxon three with taxon four">    </p:cNvPr>
          <p:cNvPicPr>
            <a:picLocks noChangeAspect="1"/>
          </p:cNvPicPr>
          <p:nvPr/>
        </p:nvPicPr>
        <p:blipFill>
          <a:blip r:embed="rId1"/>
          <a:srcRect l="0" r="0" t="0" b="0"/>
          <a:stretch/>
        </p:blipFill>
        <p:spPr>
          <a:xfrm>
            <a:off x="812800" y="4353564"/>
            <a:ext cx="3352800" cy="1016000"/>
          </a:xfrm>
          <a:prstGeom prst="rect">
            <a:avLst/>
          </a:prstGeom>
        </p:spPr>
      </p:pic>
      <p:sp>
        <p:nvSpPr>
          <p:cNvPr id="10" name="Text 6"/>
          <p:cNvSpPr/>
          <p:nvPr/>
        </p:nvSpPr>
        <p:spPr>
          <a:xfrm>
            <a:off x="10414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a:t>
            </a:r>
            <a:endParaRPr lang="en-US" sz="1200" dirty="0"/>
          </a:p>
        </p:txBody>
      </p:sp>
      <p:sp>
        <p:nvSpPr>
          <p:cNvPr id="11" name="Text 7"/>
          <p:cNvSpPr/>
          <p:nvPr/>
        </p:nvSpPr>
        <p:spPr>
          <a:xfrm>
            <a:off x="18034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II</a:t>
            </a:r>
            <a:endParaRPr lang="en-US" sz="1200" dirty="0"/>
          </a:p>
        </p:txBody>
      </p:sp>
      <p:sp>
        <p:nvSpPr>
          <p:cNvPr id="12" name="Text 8"/>
          <p:cNvSpPr/>
          <p:nvPr/>
        </p:nvSpPr>
        <p:spPr>
          <a:xfrm>
            <a:off x="24892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III</a:t>
            </a:r>
            <a:endParaRPr lang="en-US" sz="1200" dirty="0"/>
          </a:p>
        </p:txBody>
      </p:sp>
      <p:sp>
        <p:nvSpPr>
          <p:cNvPr id="13" name="Text 9"/>
          <p:cNvSpPr/>
          <p:nvPr/>
        </p:nvSpPr>
        <p:spPr>
          <a:xfrm>
            <a:off x="32512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IV</a:t>
            </a:r>
            <a:endParaRPr lang="en-US" sz="1200" dirty="0"/>
          </a:p>
        </p:txBody>
      </p:sp>
      <p:sp>
        <p:nvSpPr>
          <p:cNvPr id="14" name="Text 10"/>
          <p:cNvSpPr/>
          <p:nvPr/>
        </p:nvSpPr>
        <p:spPr>
          <a:xfrm>
            <a:off x="4419600" y="4053842"/>
            <a:ext cx="34533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22E"/>
                </a:solidFill>
                <a:latin typeface="IBM Plex Sans" pitchFamily="34" charset="0"/>
                <a:ea typeface="IBM Plex Sans" pitchFamily="34" charset="-122"/>
                <a:cs typeface="IBM Plex Sans" pitchFamily="34" charset="-120"/>
              </a:rPr>
              <a:t>Tree B — (I,III)(II,IV)</a:t>
            </a:r>
            <a:endParaRPr lang="en-US" sz="1400" dirty="0"/>
          </a:p>
        </p:txBody>
      </p:sp>
      <p:pic>
        <p:nvPicPr>
          <p:cNvPr id="15" name="Image 1" descr="Tree B joins taxon one with taxon three, and taxon two with taxon four">    </p:cNvPr>
          <p:cNvPicPr>
            <a:picLocks noChangeAspect="1"/>
          </p:cNvPicPr>
          <p:nvPr/>
        </p:nvPicPr>
        <p:blipFill>
          <a:blip r:embed="rId2"/>
          <a:srcRect l="0" r="0" t="0" b="0"/>
          <a:stretch/>
        </p:blipFill>
        <p:spPr>
          <a:xfrm>
            <a:off x="4419600" y="4353564"/>
            <a:ext cx="3352800" cy="1016000"/>
          </a:xfrm>
          <a:prstGeom prst="rect">
            <a:avLst/>
          </a:prstGeom>
        </p:spPr>
      </p:pic>
      <p:sp>
        <p:nvSpPr>
          <p:cNvPr id="16" name="Text 11"/>
          <p:cNvSpPr/>
          <p:nvPr/>
        </p:nvSpPr>
        <p:spPr>
          <a:xfrm>
            <a:off x="46482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a:t>
            </a:r>
            <a:endParaRPr lang="en-US" sz="1200" dirty="0"/>
          </a:p>
        </p:txBody>
      </p:sp>
      <p:sp>
        <p:nvSpPr>
          <p:cNvPr id="17" name="Text 12"/>
          <p:cNvSpPr/>
          <p:nvPr/>
        </p:nvSpPr>
        <p:spPr>
          <a:xfrm>
            <a:off x="54102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III</a:t>
            </a:r>
            <a:endParaRPr lang="en-US" sz="1200" dirty="0"/>
          </a:p>
        </p:txBody>
      </p:sp>
      <p:sp>
        <p:nvSpPr>
          <p:cNvPr id="18" name="Text 13"/>
          <p:cNvSpPr/>
          <p:nvPr/>
        </p:nvSpPr>
        <p:spPr>
          <a:xfrm>
            <a:off x="60960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II</a:t>
            </a:r>
            <a:endParaRPr lang="en-US" sz="1200" dirty="0"/>
          </a:p>
        </p:txBody>
      </p:sp>
      <p:sp>
        <p:nvSpPr>
          <p:cNvPr id="19" name="Text 14"/>
          <p:cNvSpPr/>
          <p:nvPr/>
        </p:nvSpPr>
        <p:spPr>
          <a:xfrm>
            <a:off x="68580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IV</a:t>
            </a:r>
            <a:endParaRPr lang="en-US" sz="1200" dirty="0"/>
          </a:p>
        </p:txBody>
      </p:sp>
      <p:sp>
        <p:nvSpPr>
          <p:cNvPr id="20" name="Text 15"/>
          <p:cNvSpPr/>
          <p:nvPr/>
        </p:nvSpPr>
        <p:spPr>
          <a:xfrm>
            <a:off x="8026400" y="4053842"/>
            <a:ext cx="345338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22E"/>
                </a:solidFill>
                <a:latin typeface="IBM Plex Sans" pitchFamily="34" charset="0"/>
                <a:ea typeface="IBM Plex Sans" pitchFamily="34" charset="-122"/>
                <a:cs typeface="IBM Plex Sans" pitchFamily="34" charset="-120"/>
              </a:rPr>
              <a:t>Tree C — (I,IV)(II,III)</a:t>
            </a:r>
            <a:endParaRPr lang="en-US" sz="1400" dirty="0"/>
          </a:p>
        </p:txBody>
      </p:sp>
      <p:pic>
        <p:nvPicPr>
          <p:cNvPr id="21" name="Image 2" descr="Tree C joins taxon one with taxon four, and taxon two with taxon three">    </p:cNvPr>
          <p:cNvPicPr>
            <a:picLocks noChangeAspect="1"/>
          </p:cNvPicPr>
          <p:nvPr/>
        </p:nvPicPr>
        <p:blipFill>
          <a:blip r:embed="rId3"/>
          <a:srcRect l="0" r="0" t="0" b="0"/>
          <a:stretch/>
        </p:blipFill>
        <p:spPr>
          <a:xfrm>
            <a:off x="8026400" y="4353564"/>
            <a:ext cx="3352800" cy="1016000"/>
          </a:xfrm>
          <a:prstGeom prst="rect">
            <a:avLst/>
          </a:prstGeom>
        </p:spPr>
      </p:pic>
      <p:sp>
        <p:nvSpPr>
          <p:cNvPr id="22" name="Text 16"/>
          <p:cNvSpPr/>
          <p:nvPr/>
        </p:nvSpPr>
        <p:spPr>
          <a:xfrm>
            <a:off x="82550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a:t>
            </a:r>
            <a:endParaRPr lang="en-US" sz="1200" dirty="0"/>
          </a:p>
        </p:txBody>
      </p:sp>
      <p:sp>
        <p:nvSpPr>
          <p:cNvPr id="23" name="Text 17"/>
          <p:cNvSpPr/>
          <p:nvPr/>
        </p:nvSpPr>
        <p:spPr>
          <a:xfrm>
            <a:off x="90170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IV</a:t>
            </a:r>
            <a:endParaRPr lang="en-US" sz="1200" dirty="0"/>
          </a:p>
        </p:txBody>
      </p:sp>
      <p:sp>
        <p:nvSpPr>
          <p:cNvPr id="24" name="Text 18"/>
          <p:cNvSpPr/>
          <p:nvPr/>
        </p:nvSpPr>
        <p:spPr>
          <a:xfrm>
            <a:off x="97028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II</a:t>
            </a:r>
            <a:endParaRPr lang="en-US" sz="1200" dirty="0"/>
          </a:p>
        </p:txBody>
      </p:sp>
      <p:sp>
        <p:nvSpPr>
          <p:cNvPr id="25" name="Text 19"/>
          <p:cNvSpPr/>
          <p:nvPr/>
        </p:nvSpPr>
        <p:spPr>
          <a:xfrm>
            <a:off x="10464800" y="52171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III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222E"/>
                </a:solidFill>
                <a:latin typeface="EB Garamond" pitchFamily="34" charset="0"/>
                <a:ea typeface="EB Garamond" pitchFamily="34" charset="-122"/>
                <a:cs typeface="EB Garamond" pitchFamily="34" charset="-120"/>
              </a:rPr>
              <a:t>Scoring one site: intersect, and if it is empty, pay a step</a:t>
            </a:r>
            <a:endParaRPr lang="en-US" sz="3200" dirty="0"/>
          </a:p>
        </p:txBody>
      </p:sp>
      <p:sp>
        <p:nvSpPr>
          <p:cNvPr id="3" name="Shape 1"/>
          <p:cNvSpPr/>
          <p:nvPr/>
        </p:nvSpPr>
        <p:spPr>
          <a:xfrm>
            <a:off x="812800" y="1437642"/>
            <a:ext cx="10566400" cy="769620"/>
          </a:xfrm>
          <a:prstGeom prst="roundRect">
            <a:avLst>
              <a:gd name="adj" fmla="val 6601"/>
            </a:avLst>
          </a:prstGeom>
          <a:solidFill>
            <a:srgbClr val="EFE9DE"/>
          </a:solidFill>
          <a:ln/>
        </p:spPr>
      </p:sp>
      <p:sp>
        <p:nvSpPr>
          <p:cNvPr id="4" name="Shape 2"/>
          <p:cNvSpPr/>
          <p:nvPr/>
        </p:nvSpPr>
        <p:spPr>
          <a:xfrm>
            <a:off x="838200" y="1437642"/>
            <a:ext cx="0" cy="769620"/>
          </a:xfrm>
          <a:prstGeom prst="line">
            <a:avLst/>
          </a:prstGeom>
          <a:noFill/>
          <a:ln w="50800">
            <a:solidFill>
              <a:srgbClr val="2E6E6B"/>
            </a:solidFill>
            <a:prstDash val="solid"/>
          </a:ln>
        </p:spPr>
      </p:sp>
      <p:sp>
        <p:nvSpPr>
          <p:cNvPr id="5" name="Text 3"/>
          <p:cNvSpPr/>
          <p:nvPr/>
        </p:nvSpPr>
        <p:spPr>
          <a:xfrm>
            <a:off x="1066800" y="1564642"/>
            <a:ext cx="10412476"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22E"/>
                </a:solidFill>
                <a:latin typeface="IBM Plex Sans" pitchFamily="34" charset="0"/>
                <a:ea typeface="IBM Plex Sans" pitchFamily="34" charset="-122"/>
                <a:cs typeface="IBM Plex Sans" pitchFamily="34" charset="-120"/>
              </a:rPr>
              <a:t>Site 7, pattern </a:t>
            </a:r>
            <a:r>
              <a:rPr lang="en-US" sz="1400" b="1" dirty="0">
                <a:solidFill>
                  <a:srgbClr val="17222E"/>
                </a:solidFill>
                <a:latin typeface="IBM Plex Sans" pitchFamily="34" charset="0"/>
                <a:ea typeface="IBM Plex Sans" pitchFamily="34" charset="-122"/>
                <a:cs typeface="IBM Plex Sans" pitchFamily="34" charset="-120"/>
              </a:rPr>
              <a:t>T G T G</a:t>
            </a:r>
            <a:r>
              <a:rPr lang="en-US" sz="1400" dirty="0">
                <a:solidFill>
                  <a:srgbClr val="17222E"/>
                </a:solidFill>
                <a:latin typeface="IBM Plex Sans" pitchFamily="34" charset="0"/>
                <a:ea typeface="IBM Plex Sans" pitchFamily="34" charset="-122"/>
                <a:cs typeface="IBM Plex Sans" pitchFamily="34" charset="-120"/>
              </a:rPr>
              <a:t>. At every internal node take the </a:t>
            </a:r>
            <a:r>
              <a:rPr lang="en-US" sz="1400" b="1" dirty="0">
                <a:solidFill>
                  <a:srgbClr val="17222E"/>
                </a:solidFill>
                <a:latin typeface="IBM Plex Sans" pitchFamily="34" charset="0"/>
                <a:ea typeface="IBM Plex Sans" pitchFamily="34" charset="-122"/>
                <a:cs typeface="IBM Plex Sans" pitchFamily="34" charset="-120"/>
              </a:rPr>
              <a:t>intersection</a:t>
            </a:r>
            <a:r>
              <a:rPr lang="en-US" sz="1400" dirty="0">
                <a:solidFill>
                  <a:srgbClr val="17222E"/>
                </a:solidFill>
                <a:latin typeface="IBM Plex Sans" pitchFamily="34" charset="0"/>
                <a:ea typeface="IBM Plex Sans" pitchFamily="34" charset="-122"/>
                <a:cs typeface="IBM Plex Sans" pitchFamily="34" charset="-120"/>
              </a:rPr>
              <a:t> of its two children's sets. Empty? Take the </a:t>
            </a:r>
            <a:r>
              <a:rPr lang="en-US" sz="1400" b="1" dirty="0">
                <a:solidFill>
                  <a:srgbClr val="17222E"/>
                </a:solidFill>
                <a:latin typeface="IBM Plex Sans" pitchFamily="34" charset="0"/>
                <a:ea typeface="IBM Plex Sans" pitchFamily="34" charset="-122"/>
                <a:cs typeface="IBM Plex Sans" pitchFamily="34" charset="-120"/>
              </a:rPr>
              <a:t>union</a:t>
            </a:r>
            <a:r>
              <a:rPr lang="en-US" sz="1400" dirty="0">
                <a:solidFill>
                  <a:srgbClr val="17222E"/>
                </a:solidFill>
                <a:latin typeface="IBM Plex Sans" pitchFamily="34" charset="0"/>
                <a:ea typeface="IBM Plex Sans" pitchFamily="34" charset="-122"/>
                <a:cs typeface="IBM Plex Sans" pitchFamily="34" charset="-120"/>
              </a:rPr>
              <a:t> instead and add one step. Each node below is labelled with the set it ends up carrying.</a:t>
            </a:r>
            <a:endParaRPr lang="en-US" sz="1400" dirty="0"/>
          </a:p>
        </p:txBody>
      </p:sp>
      <p:sp>
        <p:nvSpPr>
          <p:cNvPr id="6" name="Shape 4"/>
          <p:cNvSpPr/>
          <p:nvPr/>
        </p:nvSpPr>
        <p:spPr>
          <a:xfrm>
            <a:off x="815975" y="2388239"/>
            <a:ext cx="5149850" cy="2533650"/>
          </a:xfrm>
          <a:prstGeom prst="roundRect">
            <a:avLst>
              <a:gd name="adj" fmla="val 3885"/>
            </a:avLst>
          </a:prstGeom>
          <a:solidFill>
            <a:srgbClr val="FFFDF8"/>
          </a:solidFill>
          <a:ln w="6350">
            <a:solidFill>
              <a:srgbClr val="E4DDD0"/>
            </a:solidFill>
            <a:prstDash val="solid"/>
          </a:ln>
        </p:spPr>
      </p:sp>
      <p:pic>
        <p:nvPicPr>
          <p:cNvPr id="7" name="Image 0" descr="Tree A joins taxon one with taxon two and taxon three with taxon four; both cherry nodes are marked in orange as costing a step">    </p:cNvPr>
          <p:cNvPicPr>
            <a:picLocks noChangeAspect="1"/>
          </p:cNvPicPr>
          <p:nvPr/>
        </p:nvPicPr>
        <p:blipFill>
          <a:blip r:embed="rId1"/>
          <a:srcRect l="0" r="0" t="0" b="0"/>
          <a:stretch/>
        </p:blipFill>
        <p:spPr>
          <a:xfrm>
            <a:off x="812800" y="2385064"/>
            <a:ext cx="5156200" cy="2540000"/>
          </a:xfrm>
          <a:prstGeom prst="rect">
            <a:avLst/>
          </a:prstGeom>
        </p:spPr>
      </p:pic>
      <p:sp>
        <p:nvSpPr>
          <p:cNvPr id="8" name="Text 5"/>
          <p:cNvSpPr/>
          <p:nvPr/>
        </p:nvSpPr>
        <p:spPr>
          <a:xfrm>
            <a:off x="3543300" y="2486664"/>
            <a:ext cx="1130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5616E"/>
                </a:solidFill>
                <a:latin typeface="IBM Plex Sans" pitchFamily="34" charset="0"/>
                <a:ea typeface="IBM Plex Sans" pitchFamily="34" charset="-122"/>
                <a:cs typeface="IBM Plex Sans" pitchFamily="34" charset="-120"/>
              </a:rPr>
              <a:t>{T,G}</a:t>
            </a:r>
            <a:endParaRPr lang="en-US" sz="1400" dirty="0"/>
          </a:p>
        </p:txBody>
      </p:sp>
      <p:sp>
        <p:nvSpPr>
          <p:cNvPr id="9" name="Text 6"/>
          <p:cNvSpPr/>
          <p:nvPr/>
        </p:nvSpPr>
        <p:spPr>
          <a:xfrm>
            <a:off x="1143000" y="3159764"/>
            <a:ext cx="8763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B24C2E"/>
                </a:solidFill>
                <a:latin typeface="IBM Plex Sans" pitchFamily="34" charset="0"/>
                <a:ea typeface="IBM Plex Sans" pitchFamily="34" charset="-122"/>
                <a:cs typeface="IBM Plex Sans" pitchFamily="34" charset="-120"/>
              </a:rPr>
              <a:t>{T,G}</a:t>
            </a:r>
            <a:endParaRPr lang="en-US" sz="1400" dirty="0"/>
          </a:p>
        </p:txBody>
      </p:sp>
      <p:sp>
        <p:nvSpPr>
          <p:cNvPr id="10" name="Text 7"/>
          <p:cNvSpPr/>
          <p:nvPr/>
        </p:nvSpPr>
        <p:spPr>
          <a:xfrm>
            <a:off x="4762500" y="3159764"/>
            <a:ext cx="876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24C2E"/>
                </a:solidFill>
                <a:latin typeface="IBM Plex Sans" pitchFamily="34" charset="0"/>
                <a:ea typeface="IBM Plex Sans" pitchFamily="34" charset="-122"/>
                <a:cs typeface="IBM Plex Sans" pitchFamily="34" charset="-120"/>
              </a:rPr>
              <a:t>{T,G}</a:t>
            </a:r>
            <a:endParaRPr lang="en-US" sz="1400" dirty="0"/>
          </a:p>
        </p:txBody>
      </p:sp>
      <p:sp>
        <p:nvSpPr>
          <p:cNvPr id="11" name="Text 8"/>
          <p:cNvSpPr/>
          <p:nvPr/>
        </p:nvSpPr>
        <p:spPr>
          <a:xfrm>
            <a:off x="1041400" y="4290064"/>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I</a:t>
            </a:r>
            <a:endParaRPr lang="en-US" sz="1200" dirty="0"/>
          </a:p>
        </p:txBody>
      </p:sp>
      <p:sp>
        <p:nvSpPr>
          <p:cNvPr id="12" name="Text 9"/>
          <p:cNvSpPr/>
          <p:nvPr/>
        </p:nvSpPr>
        <p:spPr>
          <a:xfrm>
            <a:off x="2184400" y="4290064"/>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II</a:t>
            </a:r>
            <a:endParaRPr lang="en-US" sz="1200" dirty="0"/>
          </a:p>
        </p:txBody>
      </p:sp>
      <p:sp>
        <p:nvSpPr>
          <p:cNvPr id="13" name="Text 10"/>
          <p:cNvSpPr/>
          <p:nvPr/>
        </p:nvSpPr>
        <p:spPr>
          <a:xfrm>
            <a:off x="3454400" y="4290064"/>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III</a:t>
            </a:r>
            <a:endParaRPr lang="en-US" sz="1200" dirty="0"/>
          </a:p>
        </p:txBody>
      </p:sp>
      <p:sp>
        <p:nvSpPr>
          <p:cNvPr id="14" name="Text 11"/>
          <p:cNvSpPr/>
          <p:nvPr/>
        </p:nvSpPr>
        <p:spPr>
          <a:xfrm>
            <a:off x="4597400" y="4290064"/>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IV</a:t>
            </a:r>
            <a:endParaRPr lang="en-US" sz="1200" dirty="0"/>
          </a:p>
        </p:txBody>
      </p:sp>
      <p:sp>
        <p:nvSpPr>
          <p:cNvPr id="15" name="Text 12"/>
          <p:cNvSpPr/>
          <p:nvPr/>
        </p:nvSpPr>
        <p:spPr>
          <a:xfrm>
            <a:off x="1041400" y="4531364"/>
            <a:ext cx="10668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T</a:t>
            </a:r>
            <a:endParaRPr lang="en-US" sz="1800" dirty="0"/>
          </a:p>
        </p:txBody>
      </p:sp>
      <p:sp>
        <p:nvSpPr>
          <p:cNvPr id="16" name="Text 13"/>
          <p:cNvSpPr/>
          <p:nvPr/>
        </p:nvSpPr>
        <p:spPr>
          <a:xfrm>
            <a:off x="2184400" y="4531364"/>
            <a:ext cx="10668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G</a:t>
            </a:r>
            <a:endParaRPr lang="en-US" sz="1800" dirty="0"/>
          </a:p>
        </p:txBody>
      </p:sp>
      <p:sp>
        <p:nvSpPr>
          <p:cNvPr id="17" name="Text 14"/>
          <p:cNvSpPr/>
          <p:nvPr/>
        </p:nvSpPr>
        <p:spPr>
          <a:xfrm>
            <a:off x="3454400" y="4531364"/>
            <a:ext cx="10668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T</a:t>
            </a:r>
            <a:endParaRPr lang="en-US" sz="1800" dirty="0"/>
          </a:p>
        </p:txBody>
      </p:sp>
      <p:sp>
        <p:nvSpPr>
          <p:cNvPr id="18" name="Text 15"/>
          <p:cNvSpPr/>
          <p:nvPr/>
        </p:nvSpPr>
        <p:spPr>
          <a:xfrm>
            <a:off x="4597400" y="4531364"/>
            <a:ext cx="10668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G</a:t>
            </a:r>
            <a:endParaRPr lang="en-US" sz="1800" dirty="0"/>
          </a:p>
        </p:txBody>
      </p:sp>
      <p:sp>
        <p:nvSpPr>
          <p:cNvPr id="19" name="Text 16"/>
          <p:cNvSpPr/>
          <p:nvPr/>
        </p:nvSpPr>
        <p:spPr>
          <a:xfrm>
            <a:off x="812800" y="5001264"/>
            <a:ext cx="5310886"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7222E"/>
                </a:solidFill>
                <a:latin typeface="IBM Plex Sans" pitchFamily="34" charset="0"/>
                <a:ea typeface="IBM Plex Sans" pitchFamily="34" charset="-122"/>
                <a:cs typeface="IBM Plex Sans" pitchFamily="34" charset="-120"/>
              </a:rPr>
              <a:t>Tree A — (I,II)(III,IV).</a:t>
            </a:r>
            <a:r>
              <a:rPr lang="en-US" sz="1300" dirty="0">
                <a:solidFill>
                  <a:srgbClr val="17222E"/>
                </a:solidFill>
                <a:latin typeface="IBM Plex Sans" pitchFamily="34" charset="0"/>
                <a:ea typeface="IBM Plex Sans" pitchFamily="34" charset="-122"/>
                <a:cs typeface="IBM Plex Sans" pitchFamily="34" charset="-120"/>
              </a:rPr>
              <a:t> Neither orange node overlaps, so each has to take a union and pay a step. The root then intersects for free. </a:t>
            </a:r>
            <a:r>
              <a:rPr lang="en-US" sz="1300" b="1" dirty="0">
                <a:solidFill>
                  <a:srgbClr val="17222E"/>
                </a:solidFill>
                <a:latin typeface="IBM Plex Sans" pitchFamily="34" charset="0"/>
                <a:ea typeface="IBM Plex Sans" pitchFamily="34" charset="-122"/>
                <a:cs typeface="IBM Plex Sans" pitchFamily="34" charset="-120"/>
              </a:rPr>
              <a:t>2 steps</a:t>
            </a:r>
            <a:r>
              <a:rPr lang="en-US" sz="1300" dirty="0">
                <a:solidFill>
                  <a:srgbClr val="17222E"/>
                </a:solidFill>
                <a:latin typeface="IBM Plex Sans" pitchFamily="34" charset="0"/>
                <a:ea typeface="IBM Plex Sans" pitchFamily="34" charset="-122"/>
                <a:cs typeface="IBM Plex Sans" pitchFamily="34" charset="-120"/>
              </a:rPr>
              <a:t>.</a:t>
            </a:r>
            <a:endParaRPr lang="en-US" sz="1300" dirty="0"/>
          </a:p>
        </p:txBody>
      </p:sp>
      <p:sp>
        <p:nvSpPr>
          <p:cNvPr id="20" name="Shape 17"/>
          <p:cNvSpPr/>
          <p:nvPr/>
        </p:nvSpPr>
        <p:spPr>
          <a:xfrm>
            <a:off x="6226175" y="2388239"/>
            <a:ext cx="5149850" cy="2533650"/>
          </a:xfrm>
          <a:prstGeom prst="roundRect">
            <a:avLst>
              <a:gd name="adj" fmla="val 3885"/>
            </a:avLst>
          </a:prstGeom>
          <a:solidFill>
            <a:srgbClr val="FFFDF8"/>
          </a:solidFill>
          <a:ln w="6350">
            <a:solidFill>
              <a:srgbClr val="E4DDD0"/>
            </a:solidFill>
            <a:prstDash val="solid"/>
          </a:ln>
        </p:spPr>
      </p:sp>
      <p:pic>
        <p:nvPicPr>
          <p:cNvPr id="21" name="Image 1" descr="Tree B joins taxon one with taxon three and taxon two with taxon four; only the root node is marked in orange as costing a step">    </p:cNvPr>
          <p:cNvPicPr>
            <a:picLocks noChangeAspect="1"/>
          </p:cNvPicPr>
          <p:nvPr/>
        </p:nvPicPr>
        <p:blipFill>
          <a:blip r:embed="rId2"/>
          <a:srcRect l="0" r="0" t="0" b="0"/>
          <a:stretch/>
        </p:blipFill>
        <p:spPr>
          <a:xfrm>
            <a:off x="6223000" y="2385064"/>
            <a:ext cx="5156200" cy="2540000"/>
          </a:xfrm>
          <a:prstGeom prst="rect">
            <a:avLst/>
          </a:prstGeom>
        </p:spPr>
      </p:pic>
      <p:sp>
        <p:nvSpPr>
          <p:cNvPr id="22" name="Text 18"/>
          <p:cNvSpPr/>
          <p:nvPr/>
        </p:nvSpPr>
        <p:spPr>
          <a:xfrm>
            <a:off x="8953500" y="2486664"/>
            <a:ext cx="1130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24C2E"/>
                </a:solidFill>
                <a:latin typeface="IBM Plex Sans" pitchFamily="34" charset="0"/>
                <a:ea typeface="IBM Plex Sans" pitchFamily="34" charset="-122"/>
                <a:cs typeface="IBM Plex Sans" pitchFamily="34" charset="-120"/>
              </a:rPr>
              <a:t>{T,G}</a:t>
            </a:r>
            <a:endParaRPr lang="en-US" sz="1400" dirty="0"/>
          </a:p>
        </p:txBody>
      </p:sp>
      <p:sp>
        <p:nvSpPr>
          <p:cNvPr id="23" name="Text 19"/>
          <p:cNvSpPr/>
          <p:nvPr/>
        </p:nvSpPr>
        <p:spPr>
          <a:xfrm>
            <a:off x="6553200" y="3159764"/>
            <a:ext cx="87630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E6E6B"/>
                </a:solidFill>
                <a:latin typeface="IBM Plex Sans" pitchFamily="34" charset="0"/>
                <a:ea typeface="IBM Plex Sans" pitchFamily="34" charset="-122"/>
                <a:cs typeface="IBM Plex Sans" pitchFamily="34" charset="-120"/>
              </a:rPr>
              <a:t>{T}</a:t>
            </a:r>
            <a:endParaRPr lang="en-US" sz="1400" dirty="0"/>
          </a:p>
        </p:txBody>
      </p:sp>
      <p:sp>
        <p:nvSpPr>
          <p:cNvPr id="24" name="Text 20"/>
          <p:cNvSpPr/>
          <p:nvPr/>
        </p:nvSpPr>
        <p:spPr>
          <a:xfrm>
            <a:off x="10172700" y="3159764"/>
            <a:ext cx="876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E6E6B"/>
                </a:solidFill>
                <a:latin typeface="IBM Plex Sans" pitchFamily="34" charset="0"/>
                <a:ea typeface="IBM Plex Sans" pitchFamily="34" charset="-122"/>
                <a:cs typeface="IBM Plex Sans" pitchFamily="34" charset="-120"/>
              </a:rPr>
              <a:t>{G}</a:t>
            </a:r>
            <a:endParaRPr lang="en-US" sz="1400" dirty="0"/>
          </a:p>
        </p:txBody>
      </p:sp>
      <p:sp>
        <p:nvSpPr>
          <p:cNvPr id="25" name="Text 21"/>
          <p:cNvSpPr/>
          <p:nvPr/>
        </p:nvSpPr>
        <p:spPr>
          <a:xfrm>
            <a:off x="6451600" y="4290064"/>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I</a:t>
            </a:r>
            <a:endParaRPr lang="en-US" sz="1200" dirty="0"/>
          </a:p>
        </p:txBody>
      </p:sp>
      <p:sp>
        <p:nvSpPr>
          <p:cNvPr id="26" name="Text 22"/>
          <p:cNvSpPr/>
          <p:nvPr/>
        </p:nvSpPr>
        <p:spPr>
          <a:xfrm>
            <a:off x="7594600" y="4290064"/>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III</a:t>
            </a:r>
            <a:endParaRPr lang="en-US" sz="1200" dirty="0"/>
          </a:p>
        </p:txBody>
      </p:sp>
      <p:sp>
        <p:nvSpPr>
          <p:cNvPr id="27" name="Text 23"/>
          <p:cNvSpPr/>
          <p:nvPr/>
        </p:nvSpPr>
        <p:spPr>
          <a:xfrm>
            <a:off x="8864600" y="4290064"/>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II</a:t>
            </a:r>
            <a:endParaRPr lang="en-US" sz="1200" dirty="0"/>
          </a:p>
        </p:txBody>
      </p:sp>
      <p:sp>
        <p:nvSpPr>
          <p:cNvPr id="28" name="Text 24"/>
          <p:cNvSpPr/>
          <p:nvPr/>
        </p:nvSpPr>
        <p:spPr>
          <a:xfrm>
            <a:off x="10007600" y="4290064"/>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IV</a:t>
            </a:r>
            <a:endParaRPr lang="en-US" sz="1200" dirty="0"/>
          </a:p>
        </p:txBody>
      </p:sp>
      <p:sp>
        <p:nvSpPr>
          <p:cNvPr id="29" name="Text 25"/>
          <p:cNvSpPr/>
          <p:nvPr/>
        </p:nvSpPr>
        <p:spPr>
          <a:xfrm>
            <a:off x="6451600" y="4531364"/>
            <a:ext cx="10668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T</a:t>
            </a:r>
            <a:endParaRPr lang="en-US" sz="1800" dirty="0"/>
          </a:p>
        </p:txBody>
      </p:sp>
      <p:sp>
        <p:nvSpPr>
          <p:cNvPr id="30" name="Text 26"/>
          <p:cNvSpPr/>
          <p:nvPr/>
        </p:nvSpPr>
        <p:spPr>
          <a:xfrm>
            <a:off x="7594600" y="4531364"/>
            <a:ext cx="10668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T</a:t>
            </a:r>
            <a:endParaRPr lang="en-US" sz="1800" dirty="0"/>
          </a:p>
        </p:txBody>
      </p:sp>
      <p:sp>
        <p:nvSpPr>
          <p:cNvPr id="31" name="Text 27"/>
          <p:cNvSpPr/>
          <p:nvPr/>
        </p:nvSpPr>
        <p:spPr>
          <a:xfrm>
            <a:off x="8864600" y="4531364"/>
            <a:ext cx="10668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G</a:t>
            </a:r>
            <a:endParaRPr lang="en-US" sz="1800" dirty="0"/>
          </a:p>
        </p:txBody>
      </p:sp>
      <p:sp>
        <p:nvSpPr>
          <p:cNvPr id="32" name="Text 28"/>
          <p:cNvSpPr/>
          <p:nvPr/>
        </p:nvSpPr>
        <p:spPr>
          <a:xfrm>
            <a:off x="10007600" y="4531364"/>
            <a:ext cx="10668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G</a:t>
            </a:r>
            <a:endParaRPr lang="en-US" sz="1800" dirty="0"/>
          </a:p>
        </p:txBody>
      </p:sp>
      <p:sp>
        <p:nvSpPr>
          <p:cNvPr id="33" name="Text 29"/>
          <p:cNvSpPr/>
          <p:nvPr/>
        </p:nvSpPr>
        <p:spPr>
          <a:xfrm>
            <a:off x="6223000" y="5001264"/>
            <a:ext cx="5310886"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7222E"/>
                </a:solidFill>
                <a:latin typeface="IBM Plex Sans" pitchFamily="34" charset="0"/>
                <a:ea typeface="IBM Plex Sans" pitchFamily="34" charset="-122"/>
                <a:cs typeface="IBM Plex Sans" pitchFamily="34" charset="-120"/>
              </a:rPr>
              <a:t>Tree B — (I,III)(II,IV).</a:t>
            </a:r>
            <a:r>
              <a:rPr lang="en-US" sz="1300" dirty="0">
                <a:solidFill>
                  <a:srgbClr val="17222E"/>
                </a:solidFill>
                <a:latin typeface="IBM Plex Sans" pitchFamily="34" charset="0"/>
                <a:ea typeface="IBM Plex Sans" pitchFamily="34" charset="-122"/>
                <a:cs typeface="IBM Plex Sans" pitchFamily="34" charset="-120"/>
              </a:rPr>
              <a:t> Both teal nodes intersect cleanly, so nothing is paid until the root, where {T} and {G} miss. </a:t>
            </a:r>
            <a:r>
              <a:rPr lang="en-US" sz="1300" b="1" dirty="0">
                <a:solidFill>
                  <a:srgbClr val="17222E"/>
                </a:solidFill>
                <a:latin typeface="IBM Plex Sans" pitchFamily="34" charset="0"/>
                <a:ea typeface="IBM Plex Sans" pitchFamily="34" charset="-122"/>
                <a:cs typeface="IBM Plex Sans" pitchFamily="34" charset="-120"/>
              </a:rPr>
              <a:t>1 step</a:t>
            </a:r>
            <a:r>
              <a:rPr lang="en-US" sz="1300" dirty="0">
                <a:solidFill>
                  <a:srgbClr val="17222E"/>
                </a:solidFill>
                <a:latin typeface="IBM Plex Sans" pitchFamily="34" charset="0"/>
                <a:ea typeface="IBM Plex Sans" pitchFamily="34" charset="-122"/>
                <a:cs typeface="IBM Plex Sans" pitchFamily="34" charset="-120"/>
              </a:rPr>
              <a: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222E"/>
                </a:solidFill>
                <a:latin typeface="EB Garamond" pitchFamily="34" charset="0"/>
                <a:ea typeface="EB Garamond" pitchFamily="34" charset="-122"/>
                <a:cs typeface="EB Garamond" pitchFamily="34" charset="-120"/>
              </a:rPr>
              <a:t>Add the sites up, and the shortest tree wins</a:t>
            </a:r>
            <a:endParaRPr lang="en-US" sz="3200" dirty="0"/>
          </a:p>
        </p:txBody>
      </p:sp>
      <p:sp>
        <p:nvSpPr>
          <p:cNvPr id="3" name="Text 1"/>
          <p:cNvSpPr/>
          <p:nvPr/>
        </p:nvSpPr>
        <p:spPr>
          <a:xfrm>
            <a:off x="812800" y="1437642"/>
            <a:ext cx="405511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E6E6B"/>
                </a:solidFill>
                <a:latin typeface="IBM Plex Sans" pitchFamily="34" charset="0"/>
                <a:ea typeface="IBM Plex Sans" pitchFamily="34" charset="-122"/>
                <a:cs typeface="IBM Plex Sans" pitchFamily="34" charset="-120"/>
              </a:rPr>
              <a:t>Tree A — 8 steps, the winner</a:t>
            </a:r>
            <a:endParaRPr lang="en-US" sz="1300" dirty="0"/>
          </a:p>
        </p:txBody>
      </p:sp>
      <p:pic>
        <p:nvPicPr>
          <p:cNvPr id="4" name="Image 0" descr="Tree A joins taxon one with taxon two, and taxon three with taxon four">    </p:cNvPr>
          <p:cNvPicPr>
            <a:picLocks noChangeAspect="1"/>
          </p:cNvPicPr>
          <p:nvPr/>
        </p:nvPicPr>
        <p:blipFill>
          <a:blip r:embed="rId1"/>
          <a:srcRect l="0" r="0" t="0" b="0"/>
          <a:stretch/>
        </p:blipFill>
        <p:spPr>
          <a:xfrm>
            <a:off x="812800" y="1719579"/>
            <a:ext cx="3937000" cy="762000"/>
          </a:xfrm>
          <a:prstGeom prst="rect">
            <a:avLst/>
          </a:prstGeom>
        </p:spPr>
      </p:pic>
      <p:sp>
        <p:nvSpPr>
          <p:cNvPr id="5" name="Text 2"/>
          <p:cNvSpPr/>
          <p:nvPr/>
        </p:nvSpPr>
        <p:spPr>
          <a:xfrm>
            <a:off x="1358900" y="2418079"/>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a:t>
            </a:r>
            <a:endParaRPr lang="en-US" sz="1200" dirty="0"/>
          </a:p>
        </p:txBody>
      </p:sp>
      <p:sp>
        <p:nvSpPr>
          <p:cNvPr id="6" name="Text 3"/>
          <p:cNvSpPr/>
          <p:nvPr/>
        </p:nvSpPr>
        <p:spPr>
          <a:xfrm>
            <a:off x="2120900" y="2418079"/>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II</a:t>
            </a:r>
            <a:endParaRPr lang="en-US" sz="1200" dirty="0"/>
          </a:p>
        </p:txBody>
      </p:sp>
      <p:sp>
        <p:nvSpPr>
          <p:cNvPr id="7" name="Text 4"/>
          <p:cNvSpPr/>
          <p:nvPr/>
        </p:nvSpPr>
        <p:spPr>
          <a:xfrm>
            <a:off x="2755900" y="2418079"/>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III</a:t>
            </a:r>
            <a:endParaRPr lang="en-US" sz="1200" dirty="0"/>
          </a:p>
        </p:txBody>
      </p:sp>
      <p:sp>
        <p:nvSpPr>
          <p:cNvPr id="8" name="Text 5"/>
          <p:cNvSpPr/>
          <p:nvPr/>
        </p:nvSpPr>
        <p:spPr>
          <a:xfrm>
            <a:off x="3517900" y="2418079"/>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IV</a:t>
            </a:r>
            <a:endParaRPr lang="en-US" sz="1200" dirty="0"/>
          </a:p>
        </p:txBody>
      </p:sp>
      <p:sp>
        <p:nvSpPr>
          <p:cNvPr id="9" name="Text 6"/>
          <p:cNvSpPr/>
          <p:nvPr/>
        </p:nvSpPr>
        <p:spPr>
          <a:xfrm>
            <a:off x="812800" y="2811779"/>
            <a:ext cx="405511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5616E"/>
                </a:solidFill>
                <a:latin typeface="IBM Plex Sans" pitchFamily="34" charset="0"/>
                <a:ea typeface="IBM Plex Sans" pitchFamily="34" charset="-122"/>
                <a:cs typeface="IBM Plex Sans" pitchFamily="34" charset="-120"/>
              </a:rPr>
              <a:t>Tree B — 9 steps</a:t>
            </a:r>
            <a:endParaRPr lang="en-US" sz="1300" dirty="0"/>
          </a:p>
        </p:txBody>
      </p:sp>
      <p:pic>
        <p:nvPicPr>
          <p:cNvPr id="10" name="Image 1" descr="Tree B joins taxon one with taxon three, and taxon two with taxon four">    </p:cNvPr>
          <p:cNvPicPr>
            <a:picLocks noChangeAspect="1"/>
          </p:cNvPicPr>
          <p:nvPr/>
        </p:nvPicPr>
        <p:blipFill>
          <a:blip r:embed="rId2"/>
          <a:srcRect l="0" r="0" t="0" b="0"/>
          <a:stretch/>
        </p:blipFill>
        <p:spPr>
          <a:xfrm>
            <a:off x="812800" y="3093721"/>
            <a:ext cx="3937000" cy="762000"/>
          </a:xfrm>
          <a:prstGeom prst="rect">
            <a:avLst/>
          </a:prstGeom>
        </p:spPr>
      </p:pic>
      <p:sp>
        <p:nvSpPr>
          <p:cNvPr id="11" name="Text 7"/>
          <p:cNvSpPr/>
          <p:nvPr/>
        </p:nvSpPr>
        <p:spPr>
          <a:xfrm>
            <a:off x="1358900" y="3792221"/>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5616E"/>
                </a:solidFill>
                <a:latin typeface="IBM Plex Sans" pitchFamily="34" charset="0"/>
                <a:ea typeface="IBM Plex Sans" pitchFamily="34" charset="-122"/>
                <a:cs typeface="IBM Plex Sans" pitchFamily="34" charset="-120"/>
              </a:rPr>
              <a:t>I</a:t>
            </a:r>
            <a:endParaRPr lang="en-US" sz="1200" dirty="0"/>
          </a:p>
        </p:txBody>
      </p:sp>
      <p:sp>
        <p:nvSpPr>
          <p:cNvPr id="12" name="Text 8"/>
          <p:cNvSpPr/>
          <p:nvPr/>
        </p:nvSpPr>
        <p:spPr>
          <a:xfrm>
            <a:off x="2120900" y="3792221"/>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5616E"/>
                </a:solidFill>
                <a:latin typeface="IBM Plex Sans" pitchFamily="34" charset="0"/>
                <a:ea typeface="IBM Plex Sans" pitchFamily="34" charset="-122"/>
                <a:cs typeface="IBM Plex Sans" pitchFamily="34" charset="-120"/>
              </a:rPr>
              <a:t>III</a:t>
            </a:r>
            <a:endParaRPr lang="en-US" sz="1200" dirty="0"/>
          </a:p>
        </p:txBody>
      </p:sp>
      <p:sp>
        <p:nvSpPr>
          <p:cNvPr id="13" name="Text 9"/>
          <p:cNvSpPr/>
          <p:nvPr/>
        </p:nvSpPr>
        <p:spPr>
          <a:xfrm>
            <a:off x="2755900" y="3792221"/>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5616E"/>
                </a:solidFill>
                <a:latin typeface="IBM Plex Sans" pitchFamily="34" charset="0"/>
                <a:ea typeface="IBM Plex Sans" pitchFamily="34" charset="-122"/>
                <a:cs typeface="IBM Plex Sans" pitchFamily="34" charset="-120"/>
              </a:rPr>
              <a:t>II</a:t>
            </a:r>
            <a:endParaRPr lang="en-US" sz="1200" dirty="0"/>
          </a:p>
        </p:txBody>
      </p:sp>
      <p:sp>
        <p:nvSpPr>
          <p:cNvPr id="14" name="Text 10"/>
          <p:cNvSpPr/>
          <p:nvPr/>
        </p:nvSpPr>
        <p:spPr>
          <a:xfrm>
            <a:off x="3517900" y="3792221"/>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5616E"/>
                </a:solidFill>
                <a:latin typeface="IBM Plex Sans" pitchFamily="34" charset="0"/>
                <a:ea typeface="IBM Plex Sans" pitchFamily="34" charset="-122"/>
                <a:cs typeface="IBM Plex Sans" pitchFamily="34" charset="-120"/>
              </a:rPr>
              <a:t>IV</a:t>
            </a:r>
            <a:endParaRPr lang="en-US" sz="1200" dirty="0"/>
          </a:p>
        </p:txBody>
      </p:sp>
      <p:sp>
        <p:nvSpPr>
          <p:cNvPr id="15" name="Text 11"/>
          <p:cNvSpPr/>
          <p:nvPr/>
        </p:nvSpPr>
        <p:spPr>
          <a:xfrm>
            <a:off x="812800" y="4185921"/>
            <a:ext cx="405511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5616E"/>
                </a:solidFill>
                <a:latin typeface="IBM Plex Sans" pitchFamily="34" charset="0"/>
                <a:ea typeface="IBM Plex Sans" pitchFamily="34" charset="-122"/>
                <a:cs typeface="IBM Plex Sans" pitchFamily="34" charset="-120"/>
              </a:rPr>
              <a:t>Tree C — 10 steps</a:t>
            </a:r>
            <a:endParaRPr lang="en-US" sz="1300" dirty="0"/>
          </a:p>
        </p:txBody>
      </p:sp>
      <p:pic>
        <p:nvPicPr>
          <p:cNvPr id="16" name="Image 2" descr="Tree C joins taxon one with taxon four, and taxon two with taxon three">    </p:cNvPr>
          <p:cNvPicPr>
            <a:picLocks noChangeAspect="1"/>
          </p:cNvPicPr>
          <p:nvPr/>
        </p:nvPicPr>
        <p:blipFill>
          <a:blip r:embed="rId3"/>
          <a:srcRect l="0" r="0" t="0" b="0"/>
          <a:stretch/>
        </p:blipFill>
        <p:spPr>
          <a:xfrm>
            <a:off x="812800" y="4467864"/>
            <a:ext cx="3937000" cy="762000"/>
          </a:xfrm>
          <a:prstGeom prst="rect">
            <a:avLst/>
          </a:prstGeom>
        </p:spPr>
      </p:pic>
      <p:sp>
        <p:nvSpPr>
          <p:cNvPr id="17" name="Text 12"/>
          <p:cNvSpPr/>
          <p:nvPr/>
        </p:nvSpPr>
        <p:spPr>
          <a:xfrm>
            <a:off x="1358900" y="51663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5616E"/>
                </a:solidFill>
                <a:latin typeface="IBM Plex Sans" pitchFamily="34" charset="0"/>
                <a:ea typeface="IBM Plex Sans" pitchFamily="34" charset="-122"/>
                <a:cs typeface="IBM Plex Sans" pitchFamily="34" charset="-120"/>
              </a:rPr>
              <a:t>I</a:t>
            </a:r>
            <a:endParaRPr lang="en-US" sz="1200" dirty="0"/>
          </a:p>
        </p:txBody>
      </p:sp>
      <p:sp>
        <p:nvSpPr>
          <p:cNvPr id="18" name="Text 13"/>
          <p:cNvSpPr/>
          <p:nvPr/>
        </p:nvSpPr>
        <p:spPr>
          <a:xfrm>
            <a:off x="2120900" y="51663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5616E"/>
                </a:solidFill>
                <a:latin typeface="IBM Plex Sans" pitchFamily="34" charset="0"/>
                <a:ea typeface="IBM Plex Sans" pitchFamily="34" charset="-122"/>
                <a:cs typeface="IBM Plex Sans" pitchFamily="34" charset="-120"/>
              </a:rPr>
              <a:t>IV</a:t>
            </a:r>
            <a:endParaRPr lang="en-US" sz="1200" dirty="0"/>
          </a:p>
        </p:txBody>
      </p:sp>
      <p:sp>
        <p:nvSpPr>
          <p:cNvPr id="19" name="Text 14"/>
          <p:cNvSpPr/>
          <p:nvPr/>
        </p:nvSpPr>
        <p:spPr>
          <a:xfrm>
            <a:off x="2755900" y="51663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5616E"/>
                </a:solidFill>
                <a:latin typeface="IBM Plex Sans" pitchFamily="34" charset="0"/>
                <a:ea typeface="IBM Plex Sans" pitchFamily="34" charset="-122"/>
                <a:cs typeface="IBM Plex Sans" pitchFamily="34" charset="-120"/>
              </a:rPr>
              <a:t>II</a:t>
            </a:r>
            <a:endParaRPr lang="en-US" sz="1200" dirty="0"/>
          </a:p>
        </p:txBody>
      </p:sp>
      <p:sp>
        <p:nvSpPr>
          <p:cNvPr id="20" name="Text 15"/>
          <p:cNvSpPr/>
          <p:nvPr/>
        </p:nvSpPr>
        <p:spPr>
          <a:xfrm>
            <a:off x="3517900" y="5166364"/>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5616E"/>
                </a:solidFill>
                <a:latin typeface="IBM Plex Sans" pitchFamily="34" charset="0"/>
                <a:ea typeface="IBM Plex Sans" pitchFamily="34" charset="-122"/>
                <a:cs typeface="IBM Plex Sans" pitchFamily="34" charset="-120"/>
              </a:rPr>
              <a:t>III</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953000" y="1437642"/>
          <a:ext cx="6426200" cy="3314700"/>
        </p:xfrm>
        <a:graphic>
          <a:graphicData uri="http://schemas.openxmlformats.org/drawingml/2006/table">
            <a:tbl>
              <a:tblPr/>
              <a:tblGrid>
                <a:gridCol w="771144"/>
                <a:gridCol w="1799336"/>
                <a:gridCol w="1285240"/>
                <a:gridCol w="835406"/>
                <a:gridCol w="835406"/>
                <a:gridCol w="899668"/>
              </a:tblGrid>
              <a:tr h="368300">
                <a:tc>
                  <a:txBody>
                    <a:bodyPr/>
                    <a:lstStyle/>
                    <a:p>
                      <a:pP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site</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pattern I II III IV</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informative</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2E6E6B"/>
                          </a:solidFill>
                          <a:latin typeface="IBM Plex Sans" pitchFamily="34" charset="0"/>
                          <a:ea typeface="IBM Plex Sans" pitchFamily="34" charset="-122"/>
                          <a:cs typeface="IBM Plex Sans" pitchFamily="34" charset="-120"/>
                        </a:rPr>
                        <a:t>Tree 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Tree B</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Tree C</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A G G 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55616E"/>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G G A 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55616E"/>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G G G 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55616E"/>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G A G 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55616E"/>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G G A 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G G A 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T G T 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total</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indent="0" marL="0">
                        <a:lnSpc>
                          <a:spcPts val="1820"/>
                        </a:lnSpc>
                        <a:buNone/>
                      </a:pPr>
                      <a:r>
                        <a:rPr lang="en-US" sz="1300" dirty="0">
                          <a:solidFill>
                            <a:srgbClr val="55616E"/>
                          </a:solidFill>
                          <a:latin typeface="IBM Plex Sans" pitchFamily="34" charset="0"/>
                          <a:ea typeface="IBM Plex Sans" pitchFamily="34" charset="-122"/>
                          <a:cs typeface="IBM Plex Sans" pitchFamily="34" charset="-120"/>
                        </a:rPr>
                        <a:t>tree length</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8</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9</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10</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r>
            </a:tbl>
          </a:graphicData>
        </a:graphic>
      </p:graphicFrame>
      <p:sp>
        <p:nvSpPr>
          <p:cNvPr id="22" name="Text 16"/>
          <p:cNvSpPr/>
          <p:nvPr/>
        </p:nvSpPr>
        <p:spPr>
          <a:xfrm>
            <a:off x="812800" y="6238242"/>
            <a:ext cx="91661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Four of Tree A's eight steps come from the uninformative sites and are paid by all three trees — the real margin is 4 against 5 and 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222E"/>
                </a:solidFill>
                <a:latin typeface="EB Garamond" pitchFamily="34" charset="0"/>
                <a:ea typeface="EB Garamond" pitchFamily="34" charset="-122"/>
                <a:cs typeface="EB Garamond" pitchFamily="34" charset="-120"/>
              </a:rPr>
              <a:t>Price each change, then try every assignment</a:t>
            </a:r>
            <a:endParaRPr lang="en-US" sz="3200" dirty="0"/>
          </a:p>
        </p:txBody>
      </p:sp>
      <p:sp>
        <p:nvSpPr>
          <p:cNvPr id="3" name="Shape 1"/>
          <p:cNvSpPr/>
          <p:nvPr/>
        </p:nvSpPr>
        <p:spPr>
          <a:xfrm>
            <a:off x="815975" y="1466217"/>
            <a:ext cx="4057650" cy="1263650"/>
          </a:xfrm>
          <a:prstGeom prst="roundRect">
            <a:avLst>
              <a:gd name="adj" fmla="val 7789"/>
            </a:avLst>
          </a:prstGeom>
          <a:solidFill>
            <a:srgbClr val="FFFDF8"/>
          </a:solidFill>
          <a:ln w="6350">
            <a:solidFill>
              <a:srgbClr val="E4DDD0"/>
            </a:solidFill>
            <a:prstDash val="solid"/>
          </a:ln>
        </p:spPr>
      </p:sp>
      <p:pic>
        <p:nvPicPr>
          <p:cNvPr id="4" name="Image 0" descr="An unrooted four taxon tree with bases A and A on the left pair and C and T on the right pair, and two internal nodes marked teal and orange">    </p:cNvPr>
          <p:cNvPicPr>
            <a:picLocks noChangeAspect="1"/>
          </p:cNvPicPr>
          <p:nvPr/>
        </p:nvPicPr>
        <p:blipFill>
          <a:blip r:embed="rId1"/>
          <a:srcRect l="0" r="0" t="0" b="0"/>
          <a:stretch/>
        </p:blipFill>
        <p:spPr>
          <a:xfrm>
            <a:off x="812800" y="1463042"/>
            <a:ext cx="4064000" cy="1270000"/>
          </a:xfrm>
          <a:prstGeom prst="rect">
            <a:avLst/>
          </a:prstGeom>
        </p:spPr>
      </p:pic>
      <p:sp>
        <p:nvSpPr>
          <p:cNvPr id="5" name="Text 2"/>
          <p:cNvSpPr/>
          <p:nvPr/>
        </p:nvSpPr>
        <p:spPr>
          <a:xfrm>
            <a:off x="1041400" y="1577342"/>
            <a:ext cx="4953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A</a:t>
            </a:r>
            <a:endParaRPr lang="en-US" sz="1800" dirty="0"/>
          </a:p>
        </p:txBody>
      </p:sp>
      <p:sp>
        <p:nvSpPr>
          <p:cNvPr id="6" name="Text 3"/>
          <p:cNvSpPr/>
          <p:nvPr/>
        </p:nvSpPr>
        <p:spPr>
          <a:xfrm>
            <a:off x="1041400" y="2288542"/>
            <a:ext cx="4953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A</a:t>
            </a:r>
            <a:endParaRPr lang="en-US" sz="1800" dirty="0"/>
          </a:p>
        </p:txBody>
      </p:sp>
      <p:sp>
        <p:nvSpPr>
          <p:cNvPr id="7" name="Text 4"/>
          <p:cNvSpPr/>
          <p:nvPr/>
        </p:nvSpPr>
        <p:spPr>
          <a:xfrm>
            <a:off x="4152900" y="1577342"/>
            <a:ext cx="4953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C</a:t>
            </a:r>
            <a:endParaRPr lang="en-US" sz="1800" dirty="0"/>
          </a:p>
        </p:txBody>
      </p:sp>
      <p:sp>
        <p:nvSpPr>
          <p:cNvPr id="8" name="Text 5"/>
          <p:cNvSpPr/>
          <p:nvPr/>
        </p:nvSpPr>
        <p:spPr>
          <a:xfrm>
            <a:off x="4152900" y="2288542"/>
            <a:ext cx="4953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22E"/>
                </a:solidFill>
                <a:latin typeface="IBM Plex Sans" pitchFamily="34" charset="0"/>
                <a:ea typeface="IBM Plex Sans" pitchFamily="34" charset="-122"/>
                <a:cs typeface="IBM Plex Sans" pitchFamily="34" charset="-120"/>
              </a:rPr>
              <a:t>T</a:t>
            </a:r>
            <a:endParaRPr lang="en-US" sz="1800" dirty="0"/>
          </a:p>
        </p:txBody>
      </p:sp>
      <p:sp>
        <p:nvSpPr>
          <p:cNvPr id="9" name="Text 6"/>
          <p:cNvSpPr/>
          <p:nvPr/>
        </p:nvSpPr>
        <p:spPr>
          <a:xfrm>
            <a:off x="1930400" y="2301242"/>
            <a:ext cx="9398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2E6E6B"/>
                </a:solidFill>
                <a:latin typeface="IBM Plex Sans" pitchFamily="34" charset="0"/>
                <a:ea typeface="IBM Plex Sans" pitchFamily="34" charset="-122"/>
                <a:cs typeface="IBM Plex Sans" pitchFamily="34" charset="-120"/>
              </a:rPr>
              <a:t>node u</a:t>
            </a:r>
            <a:endParaRPr lang="en-US" sz="1300" dirty="0"/>
          </a:p>
        </p:txBody>
      </p:sp>
      <p:sp>
        <p:nvSpPr>
          <p:cNvPr id="10" name="Text 7"/>
          <p:cNvSpPr/>
          <p:nvPr/>
        </p:nvSpPr>
        <p:spPr>
          <a:xfrm>
            <a:off x="2819400" y="2301242"/>
            <a:ext cx="9398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B24C2E"/>
                </a:solidFill>
                <a:latin typeface="IBM Plex Sans" pitchFamily="34" charset="0"/>
                <a:ea typeface="IBM Plex Sans" pitchFamily="34" charset="-122"/>
                <a:cs typeface="IBM Plex Sans" pitchFamily="34" charset="-120"/>
              </a:rPr>
              <a:t>node v</a:t>
            </a:r>
            <a:endParaRPr lang="en-US" sz="1300" dirty="0"/>
          </a:p>
        </p:txBody>
      </p:sp>
      <p:sp>
        <p:nvSpPr>
          <p:cNvPr id="11" name="Text 8"/>
          <p:cNvSpPr/>
          <p:nvPr/>
        </p:nvSpPr>
        <p:spPr>
          <a:xfrm>
            <a:off x="812800" y="2834642"/>
            <a:ext cx="418592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22E"/>
                </a:solidFill>
                <a:latin typeface="IBM Plex Sans" pitchFamily="34" charset="0"/>
                <a:ea typeface="IBM Plex Sans" pitchFamily="34" charset="-122"/>
                <a:cs typeface="IBM Plex Sans" pitchFamily="34" charset="-120"/>
              </a:rPr>
              <a:t>Cost of one change</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800" y="3149600"/>
          <a:ext cx="4064000" cy="2072640"/>
        </p:xfrm>
        <a:graphic>
          <a:graphicData uri="http://schemas.openxmlformats.org/drawingml/2006/table">
            <a:tbl>
              <a:tblPr/>
              <a:tblGrid>
                <a:gridCol w="812800"/>
                <a:gridCol w="812800"/>
                <a:gridCol w="812800"/>
                <a:gridCol w="812800"/>
                <a:gridCol w="812800"/>
              </a:tblGrid>
              <a:tr h="599440">
                <a:tc>
                  <a:txBody>
                    <a:bodyPr/>
                    <a:lstStyle/>
                    <a:p>
                      <a:pP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from / to</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C</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T</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9AA3AB"/>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C</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9AA3AB"/>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9AA3AB"/>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T</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9AA3AB"/>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r>
            </a:tbl>
          </a:graphicData>
        </a:graphic>
      </p:graphicFrame>
      <p:sp>
        <p:nvSpPr>
          <p:cNvPr id="13" name="Text 9"/>
          <p:cNvSpPr/>
          <p:nvPr/>
        </p:nvSpPr>
        <p:spPr>
          <a:xfrm>
            <a:off x="812800" y="5339079"/>
            <a:ext cx="418592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Teal 1 = transition, orange 5 = transversion, as in the lecture.</a:t>
            </a:r>
            <a:endParaRPr lang="en-US" sz="1200" dirty="0"/>
          </a:p>
        </p:txBody>
      </p:sp>
      <p:sp>
        <p:nvSpPr>
          <p:cNvPr id="14" name="Text 10"/>
          <p:cNvSpPr/>
          <p:nvPr/>
        </p:nvSpPr>
        <p:spPr>
          <a:xfrm>
            <a:off x="5130800" y="1463042"/>
            <a:ext cx="643585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22E"/>
                </a:solidFill>
                <a:latin typeface="IBM Plex Sans" pitchFamily="34" charset="0"/>
                <a:ea typeface="IBM Plex Sans" pitchFamily="34" charset="-122"/>
                <a:cs typeface="IBM Plex Sans" pitchFamily="34" charset="-120"/>
              </a:rPr>
              <a:t>Total cost of the whole tree, for every pair of bases you could put at u and v</a:t>
            </a:r>
            <a:endParaRPr lang="en-US" sz="14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130800" y="1778000"/>
          <a:ext cx="6248400" cy="1841500"/>
        </p:xfrm>
        <a:graphic>
          <a:graphicData uri="http://schemas.openxmlformats.org/drawingml/2006/table">
            <a:tbl>
              <a:tblPr/>
              <a:tblGrid>
                <a:gridCol w="1249680"/>
                <a:gridCol w="1249680"/>
                <a:gridCol w="1249680"/>
                <a:gridCol w="1249680"/>
                <a:gridCol w="1249680"/>
              </a:tblGrid>
              <a:tr h="368300">
                <a:tc>
                  <a:txBody>
                    <a:bodyPr/>
                    <a:lstStyle/>
                    <a:p>
                      <a:pP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total</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B24C2E"/>
                          </a:solidFill>
                          <a:latin typeface="IBM Plex Sans" pitchFamily="34" charset="0"/>
                          <a:ea typeface="IBM Plex Sans" pitchFamily="34" charset="-122"/>
                          <a:cs typeface="IBM Plex Sans" pitchFamily="34" charset="-120"/>
                        </a:rPr>
                        <a:t>v = 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B24C2E"/>
                          </a:solidFill>
                          <a:latin typeface="IBM Plex Sans" pitchFamily="34" charset="0"/>
                          <a:ea typeface="IBM Plex Sans" pitchFamily="34" charset="-122"/>
                          <a:cs typeface="IBM Plex Sans" pitchFamily="34" charset="-120"/>
                        </a:rPr>
                        <a:t>v = C</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B24C2E"/>
                          </a:solidFill>
                          <a:latin typeface="IBM Plex Sans" pitchFamily="34" charset="0"/>
                          <a:ea typeface="IBM Plex Sans" pitchFamily="34" charset="-122"/>
                          <a:cs typeface="IBM Plex Sans" pitchFamily="34" charset="-120"/>
                        </a:rPr>
                        <a:t>v = 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B24C2E"/>
                          </a:solidFill>
                          <a:latin typeface="IBM Plex Sans" pitchFamily="34" charset="0"/>
                          <a:ea typeface="IBM Plex Sans" pitchFamily="34" charset="-122"/>
                          <a:cs typeface="IBM Plex Sans" pitchFamily="34" charset="-120"/>
                        </a:rPr>
                        <a:t>v = T</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EFE9DE"/>
                    </a:solidFill>
                  </a:tcPr>
                </a:tc>
              </a:tr>
              <a:tr h="368300">
                <a:tc>
                  <a:txBody>
                    <a:bodyPr/>
                    <a:lstStyle/>
                    <a:p>
                      <a:pP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u = 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10</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8300">
                <a:tc>
                  <a:txBody>
                    <a:bodyPr/>
                    <a:lstStyle/>
                    <a:p>
                      <a:pP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u = C</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25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25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r>
              <a:tr h="368300">
                <a:tc>
                  <a:txBody>
                    <a:bodyPr/>
                    <a:lstStyle/>
                    <a:p>
                      <a:pP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u = 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13</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8</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8</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368300">
                <a:tc>
                  <a:txBody>
                    <a:bodyPr/>
                    <a:lstStyle/>
                    <a:p>
                      <a:pPr indent="0" marL="0">
                        <a:lnSpc>
                          <a:spcPts val="1820"/>
                        </a:lnSpc>
                        <a:buNone/>
                      </a:pPr>
                      <a:r>
                        <a:rPr lang="en-US" sz="1300" dirty="0">
                          <a:solidFill>
                            <a:srgbClr val="2E6E6B"/>
                          </a:solidFill>
                          <a:latin typeface="IBM Plex Sans" pitchFamily="34" charset="0"/>
                          <a:ea typeface="IBM Plex Sans" pitchFamily="34" charset="-122"/>
                          <a:cs typeface="IBM Plex Sans" pitchFamily="34" charset="-120"/>
                        </a:rPr>
                        <a:t>u = T</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25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25</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11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C8C9C8"/>
                      </a:solidFill>
                      <a:prstDash val="solid"/>
                      <a:round/>
                      <a:headEnd type="none" w="med" len="med"/>
                      <a:tailEnd type="none" w="med" len="med"/>
                    </a:lnB>
                    <a:solidFill>
                      <a:srgbClr val="F6F2EA"/>
                    </a:solidFill>
                  </a:tcPr>
                </a:tc>
              </a:tr>
            </a:tbl>
          </a:graphicData>
        </a:graphic>
      </p:graphicFrame>
      <p:sp>
        <p:nvSpPr>
          <p:cNvPr id="16" name="Shape 11"/>
          <p:cNvSpPr/>
          <p:nvPr/>
        </p:nvSpPr>
        <p:spPr>
          <a:xfrm>
            <a:off x="5130800" y="3736342"/>
            <a:ext cx="6248400" cy="695960"/>
          </a:xfrm>
          <a:prstGeom prst="roundRect">
            <a:avLst>
              <a:gd name="adj" fmla="val 7299"/>
            </a:avLst>
          </a:prstGeom>
          <a:solidFill>
            <a:srgbClr val="EFE9DE"/>
          </a:solidFill>
          <a:ln/>
        </p:spPr>
      </p:sp>
      <p:sp>
        <p:nvSpPr>
          <p:cNvPr id="17" name="Shape 12"/>
          <p:cNvSpPr/>
          <p:nvPr/>
        </p:nvSpPr>
        <p:spPr>
          <a:xfrm>
            <a:off x="5156200" y="3736342"/>
            <a:ext cx="0" cy="695960"/>
          </a:xfrm>
          <a:prstGeom prst="line">
            <a:avLst/>
          </a:prstGeom>
          <a:noFill/>
          <a:ln w="50800">
            <a:solidFill>
              <a:srgbClr val="2E6E6B"/>
            </a:solidFill>
            <a:prstDash val="solid"/>
          </a:ln>
        </p:spPr>
      </p:sp>
      <p:sp>
        <p:nvSpPr>
          <p:cNvPr id="18" name="Text 13"/>
          <p:cNvSpPr/>
          <p:nvPr/>
        </p:nvSpPr>
        <p:spPr>
          <a:xfrm>
            <a:off x="5359400" y="3863342"/>
            <a:ext cx="6017260"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7222E"/>
                </a:solidFill>
                <a:latin typeface="IBM Plex Sans" pitchFamily="34" charset="0"/>
                <a:ea typeface="IBM Plex Sans" pitchFamily="34" charset="-122"/>
                <a:cs typeface="IBM Plex Sans" pitchFamily="34" charset="-120"/>
              </a:rPr>
              <a:t>One cell, read out: </a:t>
            </a:r>
            <a:r>
              <a:rPr lang="en-US" sz="1200" b="1" dirty="0">
                <a:solidFill>
                  <a:srgbClr val="17222E"/>
                </a:solidFill>
                <a:latin typeface="IBM Plex Sans" pitchFamily="34" charset="0"/>
                <a:ea typeface="IBM Plex Sans" pitchFamily="34" charset="-122"/>
                <a:cs typeface="IBM Plex Sans" pitchFamily="34" charset="-120"/>
              </a:rPr>
              <a:t>u = G, v = C</a:t>
            </a:r>
            <a:r>
              <a:rPr lang="en-US" sz="1200" dirty="0">
                <a:solidFill>
                  <a:srgbClr val="17222E"/>
                </a:solidFill>
                <a:latin typeface="IBM Plex Sans" pitchFamily="34" charset="0"/>
                <a:ea typeface="IBM Plex Sans" pitchFamily="34" charset="-122"/>
                <a:cs typeface="IBM Plex Sans" pitchFamily="34" charset="-120"/>
              </a:rPr>
              <a:t> costs 1 + 1 for the two A→G transitions, 5 for G→C across the middle, 0 for C→C and 1 for C→T. Total </a:t>
            </a:r>
            <a:r>
              <a:rPr lang="en-US" sz="1200" b="1" dirty="0">
                <a:solidFill>
                  <a:srgbClr val="17222E"/>
                </a:solidFill>
                <a:latin typeface="IBM Plex Sans" pitchFamily="34" charset="0"/>
                <a:ea typeface="IBM Plex Sans" pitchFamily="34" charset="-122"/>
                <a:cs typeface="IBM Plex Sans" pitchFamily="34" charset="-120"/>
              </a:rPr>
              <a:t>8</a:t>
            </a:r>
            <a:r>
              <a:rPr lang="en-US" sz="1200" dirty="0">
                <a:solidFill>
                  <a:srgbClr val="17222E"/>
                </a:solidFill>
                <a:latin typeface="IBM Plex Sans" pitchFamily="34" charset="0"/>
                <a:ea typeface="IBM Plex Sans" pitchFamily="34" charset="-122"/>
                <a:cs typeface="IBM Plex Sans" pitchFamily="34" charset="-120"/>
              </a:rPr>
              <a:t>.</a:t>
            </a:r>
            <a:endParaRPr lang="en-US" sz="1200" dirty="0"/>
          </a:p>
        </p:txBody>
      </p:sp>
      <p:sp>
        <p:nvSpPr>
          <p:cNvPr id="19" name="Text 14"/>
          <p:cNvSpPr/>
          <p:nvPr/>
        </p:nvSpPr>
        <p:spPr>
          <a:xfrm>
            <a:off x="5130800" y="4533900"/>
            <a:ext cx="6435852" cy="74358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7222E"/>
                </a:solidFill>
                <a:latin typeface="IBM Plex Sans" pitchFamily="34" charset="0"/>
                <a:ea typeface="IBM Plex Sans" pitchFamily="34" charset="-122"/>
                <a:cs typeface="IBM Plex Sans" pitchFamily="34" charset="-120"/>
              </a:rPr>
              <a:t>The smallest total is 6</a:t>
            </a:r>
            <a:r>
              <a:rPr lang="en-US" sz="1300" dirty="0">
                <a:solidFill>
                  <a:srgbClr val="17222E"/>
                </a:solidFill>
                <a:latin typeface="IBM Plex Sans" pitchFamily="34" charset="0"/>
                <a:ea typeface="IBM Plex Sans" pitchFamily="34" charset="-122"/>
                <a:cs typeface="IBM Plex Sans" pitchFamily="34" charset="-120"/>
              </a:rPr>
              <a:t>, at u = A with v = C or v = T. Score the same site with every change costing one and you get </a:t>
            </a:r>
            <a:r>
              <a:rPr lang="en-US" sz="1300" b="1" dirty="0">
                <a:solidFill>
                  <a:srgbClr val="17222E"/>
                </a:solidFill>
                <a:latin typeface="IBM Plex Sans" pitchFamily="34" charset="0"/>
                <a:ea typeface="IBM Plex Sans" pitchFamily="34" charset="-122"/>
                <a:cs typeface="IBM Plex Sans" pitchFamily="34" charset="-120"/>
              </a:rPr>
              <a:t>2</a:t>
            </a:r>
            <a:r>
              <a:rPr lang="en-US" sz="1300" dirty="0">
                <a:solidFill>
                  <a:srgbClr val="17222E"/>
                </a:solidFill>
                <a:latin typeface="IBM Plex Sans" pitchFamily="34" charset="0"/>
                <a:ea typeface="IBM Plex Sans" pitchFamily="34" charset="-122"/>
                <a:cs typeface="IBM Plex Sans" pitchFamily="34" charset="-120"/>
              </a:rPr>
              <a:t> — and the ranking of the three topologies can come out differently.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EC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3362"/>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B24C2E"/>
                </a:solidFill>
                <a:latin typeface="IBM Plex Sans" pitchFamily="34" charset="0"/>
                <a:ea typeface="IBM Plex Sans" pitchFamily="34" charset="-122"/>
                <a:cs typeface="IBM Plex Sans" pitchFamily="34" charset="-120"/>
              </a:rPr>
              <a:t>THE PROBLEM WITH COUNTING STEPS</a:t>
            </a:r>
            <a:endParaRPr lang="en-US" sz="1196" dirty="0"/>
          </a:p>
        </p:txBody>
      </p:sp>
      <p:sp>
        <p:nvSpPr>
          <p:cNvPr id="3" name="Text 1"/>
          <p:cNvSpPr/>
          <p:nvPr/>
        </p:nvSpPr>
        <p:spPr>
          <a:xfrm>
            <a:off x="812800" y="1249363"/>
            <a:ext cx="10883392" cy="461169"/>
          </a:xfrm>
          <a:prstGeom prst="rect">
            <a:avLst/>
          </a:prstGeom>
          <a:noFill/>
          <a:ln/>
        </p:spPr>
        <p:txBody>
          <a:bodyPr wrap="square" lIns="0" tIns="0" rIns="0" bIns="0" rtlCol="0" anchor="t">
            <a:normAutofit/>
          </a:bodyPr>
          <a:lstStyle/>
          <a:p>
            <a:pPr algn="l" indent="0" marL="0">
              <a:lnSpc>
                <a:spcPts val="3465"/>
              </a:lnSpc>
              <a:buNone/>
            </a:pPr>
            <a:r>
              <a:rPr lang="en-US" sz="3150" b="1" dirty="0">
                <a:solidFill>
                  <a:srgbClr val="17222E"/>
                </a:solidFill>
                <a:latin typeface="EB Garamond" pitchFamily="34" charset="0"/>
                <a:ea typeface="EB Garamond" pitchFamily="34" charset="-122"/>
                <a:cs typeface="EB Garamond" pitchFamily="34" charset="-120"/>
              </a:rPr>
              <a:t>Not every change is equally surprising</a:t>
            </a:r>
            <a:endParaRPr lang="en-US" sz="3150" dirty="0"/>
          </a:p>
        </p:txBody>
      </p:sp>
      <p:sp>
        <p:nvSpPr>
          <p:cNvPr id="4" name="Shape 2"/>
          <p:cNvSpPr/>
          <p:nvPr/>
        </p:nvSpPr>
        <p:spPr>
          <a:xfrm>
            <a:off x="815975" y="1916906"/>
            <a:ext cx="5708650" cy="2660650"/>
          </a:xfrm>
          <a:prstGeom prst="roundRect">
            <a:avLst>
              <a:gd name="adj" fmla="val 3699"/>
            </a:avLst>
          </a:prstGeom>
          <a:solidFill>
            <a:srgbClr val="FDFBF7"/>
          </a:solidFill>
          <a:ln w="6350">
            <a:solidFill>
              <a:srgbClr val="E0D8C9"/>
            </a:solidFill>
            <a:prstDash val="solid"/>
          </a:ln>
        </p:spPr>
      </p:sp>
      <p:pic>
        <p:nvPicPr>
          <p:cNvPr id="5" name="Image 0" descr="A and G sit on the top row joined by a thick transition line, C and T on the bottom row joined by another; four thin transversion lines run vertically and diagonally between the rows">    </p:cNvPr>
          <p:cNvPicPr>
            <a:picLocks noChangeAspect="1"/>
          </p:cNvPicPr>
          <p:nvPr/>
        </p:nvPicPr>
        <p:blipFill>
          <a:blip r:embed="rId1"/>
          <a:srcRect l="0" r="0" t="0" b="0"/>
          <a:stretch/>
        </p:blipFill>
        <p:spPr>
          <a:xfrm>
            <a:off x="812800" y="1913731"/>
            <a:ext cx="5715000" cy="2667000"/>
          </a:xfrm>
          <a:prstGeom prst="rect">
            <a:avLst/>
          </a:prstGeom>
        </p:spPr>
      </p:pic>
      <p:sp>
        <p:nvSpPr>
          <p:cNvPr id="6" name="Text 3"/>
          <p:cNvSpPr/>
          <p:nvPr/>
        </p:nvSpPr>
        <p:spPr>
          <a:xfrm>
            <a:off x="1549400" y="2396331"/>
            <a:ext cx="812800" cy="52324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17222E"/>
                </a:solidFill>
                <a:latin typeface="IBM Plex Sans" pitchFamily="34" charset="0"/>
                <a:ea typeface="IBM Plex Sans" pitchFamily="34" charset="-122"/>
                <a:cs typeface="IBM Plex Sans" pitchFamily="34" charset="-120"/>
              </a:rPr>
              <a:t>A</a:t>
            </a:r>
            <a:endParaRPr lang="en-US" sz="2800" dirty="0"/>
          </a:p>
        </p:txBody>
      </p:sp>
      <p:sp>
        <p:nvSpPr>
          <p:cNvPr id="7" name="Text 4"/>
          <p:cNvSpPr/>
          <p:nvPr/>
        </p:nvSpPr>
        <p:spPr>
          <a:xfrm>
            <a:off x="4343400" y="2396331"/>
            <a:ext cx="812800" cy="52324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17222E"/>
                </a:solidFill>
                <a:latin typeface="IBM Plex Sans" pitchFamily="34" charset="0"/>
                <a:ea typeface="IBM Plex Sans" pitchFamily="34" charset="-122"/>
                <a:cs typeface="IBM Plex Sans" pitchFamily="34" charset="-120"/>
              </a:rPr>
              <a:t>G</a:t>
            </a:r>
            <a:endParaRPr lang="en-US" sz="2800" dirty="0"/>
          </a:p>
        </p:txBody>
      </p:sp>
      <p:sp>
        <p:nvSpPr>
          <p:cNvPr id="8" name="Text 5"/>
          <p:cNvSpPr/>
          <p:nvPr/>
        </p:nvSpPr>
        <p:spPr>
          <a:xfrm>
            <a:off x="1549400" y="3793331"/>
            <a:ext cx="812800" cy="52324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17222E"/>
                </a:solidFill>
                <a:latin typeface="IBM Plex Sans" pitchFamily="34" charset="0"/>
                <a:ea typeface="IBM Plex Sans" pitchFamily="34" charset="-122"/>
                <a:cs typeface="IBM Plex Sans" pitchFamily="34" charset="-120"/>
              </a:rPr>
              <a:t>C</a:t>
            </a:r>
            <a:endParaRPr lang="en-US" sz="2800" dirty="0"/>
          </a:p>
        </p:txBody>
      </p:sp>
      <p:sp>
        <p:nvSpPr>
          <p:cNvPr id="9" name="Text 6"/>
          <p:cNvSpPr/>
          <p:nvPr/>
        </p:nvSpPr>
        <p:spPr>
          <a:xfrm>
            <a:off x="4343400" y="3793331"/>
            <a:ext cx="812800" cy="52324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17222E"/>
                </a:solidFill>
                <a:latin typeface="IBM Plex Sans" pitchFamily="34" charset="0"/>
                <a:ea typeface="IBM Plex Sans" pitchFamily="34" charset="-122"/>
                <a:cs typeface="IBM Plex Sans" pitchFamily="34" charset="-120"/>
              </a:rPr>
              <a:t>T</a:t>
            </a:r>
            <a:endParaRPr lang="en-US" sz="2800" dirty="0"/>
          </a:p>
        </p:txBody>
      </p:sp>
      <p:sp>
        <p:nvSpPr>
          <p:cNvPr id="10" name="Text 7"/>
          <p:cNvSpPr/>
          <p:nvPr/>
        </p:nvSpPr>
        <p:spPr>
          <a:xfrm>
            <a:off x="2628900" y="2243931"/>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transition</a:t>
            </a:r>
            <a:endParaRPr lang="en-US" sz="1200" dirty="0"/>
          </a:p>
        </p:txBody>
      </p:sp>
      <p:sp>
        <p:nvSpPr>
          <p:cNvPr id="11" name="Text 8"/>
          <p:cNvSpPr/>
          <p:nvPr/>
        </p:nvSpPr>
        <p:spPr>
          <a:xfrm>
            <a:off x="2628900" y="4148931"/>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transition</a:t>
            </a:r>
            <a:endParaRPr lang="en-US" sz="1200" dirty="0"/>
          </a:p>
        </p:txBody>
      </p:sp>
      <p:sp>
        <p:nvSpPr>
          <p:cNvPr id="12" name="Text 9"/>
          <p:cNvSpPr/>
          <p:nvPr/>
        </p:nvSpPr>
        <p:spPr>
          <a:xfrm>
            <a:off x="825500" y="3158331"/>
            <a:ext cx="1003300" cy="4521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transversions</a:t>
            </a:r>
            <a:endParaRPr lang="en-US" sz="1200" dirty="0"/>
          </a:p>
        </p:txBody>
      </p:sp>
      <p:sp>
        <p:nvSpPr>
          <p:cNvPr id="13" name="Text 10"/>
          <p:cNvSpPr/>
          <p:nvPr/>
        </p:nvSpPr>
        <p:spPr>
          <a:xfrm>
            <a:off x="5384800" y="2472531"/>
            <a:ext cx="1130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purines</a:t>
            </a:r>
            <a:endParaRPr lang="en-US" sz="1200" dirty="0"/>
          </a:p>
        </p:txBody>
      </p:sp>
      <p:sp>
        <p:nvSpPr>
          <p:cNvPr id="14" name="Text 11"/>
          <p:cNvSpPr/>
          <p:nvPr/>
        </p:nvSpPr>
        <p:spPr>
          <a:xfrm>
            <a:off x="5384800" y="3869531"/>
            <a:ext cx="1130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pyrimidines</a:t>
            </a:r>
            <a:endParaRPr lang="en-US" sz="1200" dirty="0"/>
          </a:p>
        </p:txBody>
      </p:sp>
      <p:sp>
        <p:nvSpPr>
          <p:cNvPr id="15" name="Shape 12"/>
          <p:cNvSpPr/>
          <p:nvPr/>
        </p:nvSpPr>
        <p:spPr>
          <a:xfrm>
            <a:off x="6781800" y="1863012"/>
            <a:ext cx="4597400" cy="1336040"/>
          </a:xfrm>
          <a:prstGeom prst="roundRect">
            <a:avLst>
              <a:gd name="adj" fmla="val 3802"/>
            </a:avLst>
          </a:prstGeom>
          <a:solidFill>
            <a:srgbClr val="FDFBF7"/>
          </a:solidFill>
          <a:ln/>
        </p:spPr>
      </p:sp>
      <p:sp>
        <p:nvSpPr>
          <p:cNvPr id="16" name="Shape 13"/>
          <p:cNvSpPr/>
          <p:nvPr/>
        </p:nvSpPr>
        <p:spPr>
          <a:xfrm>
            <a:off x="6807200" y="1863012"/>
            <a:ext cx="0" cy="1336040"/>
          </a:xfrm>
          <a:prstGeom prst="line">
            <a:avLst/>
          </a:prstGeom>
          <a:noFill/>
          <a:ln w="50800">
            <a:solidFill>
              <a:srgbClr val="2E6E6B"/>
            </a:solidFill>
            <a:prstDash val="solid"/>
          </a:ln>
        </p:spPr>
      </p:sp>
      <p:sp>
        <p:nvSpPr>
          <p:cNvPr id="17" name="Text 14"/>
          <p:cNvSpPr/>
          <p:nvPr/>
        </p:nvSpPr>
        <p:spPr>
          <a:xfrm>
            <a:off x="7010400" y="2015412"/>
            <a:ext cx="4316730" cy="105664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7222E"/>
                </a:solidFill>
                <a:latin typeface="IBM Plex Sans" pitchFamily="34" charset="0"/>
                <a:ea typeface="IBM Plex Sans" pitchFamily="34" charset="-122"/>
                <a:cs typeface="IBM Plex Sans" pitchFamily="34" charset="-120"/>
              </a:rPr>
              <a:t>Transitions</a:t>
            </a:r>
            <a:r>
              <a:rPr lang="en-US" sz="1400" dirty="0">
                <a:solidFill>
                  <a:srgbClr val="17222E"/>
                </a:solidFill>
                <a:latin typeface="IBM Plex Sans" pitchFamily="34" charset="0"/>
                <a:ea typeface="IBM Plex Sans" pitchFamily="34" charset="-122"/>
                <a:cs typeface="IBM Plex Sans" pitchFamily="34" charset="-120"/>
              </a:rPr>
              <a:t> swap a purine for a purine, or a pyrimidine for a pyrimidine. Chemically similar, and in a coding sequence far more likely to be synonymous.</a:t>
            </a:r>
            <a:endParaRPr lang="en-US" sz="1400" dirty="0"/>
          </a:p>
        </p:txBody>
      </p:sp>
      <p:sp>
        <p:nvSpPr>
          <p:cNvPr id="18" name="Shape 15"/>
          <p:cNvSpPr/>
          <p:nvPr/>
        </p:nvSpPr>
        <p:spPr>
          <a:xfrm>
            <a:off x="6781800" y="3338754"/>
            <a:ext cx="4597400" cy="1078230"/>
          </a:xfrm>
          <a:prstGeom prst="roundRect">
            <a:avLst>
              <a:gd name="adj" fmla="val 4711"/>
            </a:avLst>
          </a:prstGeom>
          <a:solidFill>
            <a:srgbClr val="FDFBF7"/>
          </a:solidFill>
          <a:ln/>
        </p:spPr>
      </p:sp>
      <p:sp>
        <p:nvSpPr>
          <p:cNvPr id="19" name="Shape 16"/>
          <p:cNvSpPr/>
          <p:nvPr/>
        </p:nvSpPr>
        <p:spPr>
          <a:xfrm>
            <a:off x="6807200" y="3338754"/>
            <a:ext cx="0" cy="1078230"/>
          </a:xfrm>
          <a:prstGeom prst="line">
            <a:avLst/>
          </a:prstGeom>
          <a:noFill/>
          <a:ln w="50800">
            <a:solidFill>
              <a:srgbClr val="B24C2E"/>
            </a:solidFill>
            <a:prstDash val="solid"/>
          </a:ln>
        </p:spPr>
      </p:sp>
      <p:sp>
        <p:nvSpPr>
          <p:cNvPr id="20" name="Text 17"/>
          <p:cNvSpPr/>
          <p:nvPr/>
        </p:nvSpPr>
        <p:spPr>
          <a:xfrm>
            <a:off x="7010400" y="3491154"/>
            <a:ext cx="4316730" cy="79883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7222E"/>
                </a:solidFill>
                <a:latin typeface="IBM Plex Sans" pitchFamily="34" charset="0"/>
                <a:ea typeface="IBM Plex Sans" pitchFamily="34" charset="-122"/>
                <a:cs typeface="IBM Plex Sans" pitchFamily="34" charset="-120"/>
              </a:rPr>
              <a:t>Transversions</a:t>
            </a:r>
            <a:r>
              <a:rPr lang="en-US" sz="1400" dirty="0">
                <a:solidFill>
                  <a:srgbClr val="17222E"/>
                </a:solidFill>
                <a:latin typeface="IBM Plex Sans" pitchFamily="34" charset="0"/>
                <a:ea typeface="IBM Plex Sans" pitchFamily="34" charset="-122"/>
                <a:cs typeface="IBM Plex Sans" pitchFamily="34" charset="-120"/>
              </a:rPr>
              <a:t> cross the two classes. There are twice as many ways to make one — and yet in most real alignments they are observed </a:t>
            </a:r>
            <a:r>
              <a:rPr lang="en-US" sz="1400" i="1" dirty="0">
                <a:solidFill>
                  <a:srgbClr val="17222E"/>
                </a:solidFill>
                <a:latin typeface="IBM Plex Sans" pitchFamily="34" charset="0"/>
                <a:ea typeface="IBM Plex Sans" pitchFamily="34" charset="-122"/>
                <a:cs typeface="IBM Plex Sans" pitchFamily="34" charset="-120"/>
              </a:rPr>
              <a:t>less</a:t>
            </a:r>
            <a:r>
              <a:rPr lang="en-US" sz="1400" dirty="0">
                <a:solidFill>
                  <a:srgbClr val="17222E"/>
                </a:solidFill>
                <a:latin typeface="IBM Plex Sans" pitchFamily="34" charset="0"/>
                <a:ea typeface="IBM Plex Sans" pitchFamily="34" charset="-122"/>
                <a:cs typeface="IBM Plex Sans" pitchFamily="34" charset="-120"/>
              </a:rPr>
              <a:t> often.</a:t>
            </a:r>
            <a:endParaRPr lang="en-US" sz="1400" dirty="0"/>
          </a:p>
        </p:txBody>
      </p:sp>
      <p:sp>
        <p:nvSpPr>
          <p:cNvPr id="21" name="Shape 18"/>
          <p:cNvSpPr/>
          <p:nvPr/>
        </p:nvSpPr>
        <p:spPr>
          <a:xfrm>
            <a:off x="6781800" y="4556683"/>
            <a:ext cx="4597400" cy="1336040"/>
          </a:xfrm>
          <a:prstGeom prst="roundRect">
            <a:avLst>
              <a:gd name="adj" fmla="val 3802"/>
            </a:avLst>
          </a:prstGeom>
          <a:solidFill>
            <a:srgbClr val="17222E"/>
          </a:solidFill>
          <a:ln/>
        </p:spPr>
      </p:sp>
      <p:sp>
        <p:nvSpPr>
          <p:cNvPr id="22" name="Text 19"/>
          <p:cNvSpPr/>
          <p:nvPr/>
        </p:nvSpPr>
        <p:spPr>
          <a:xfrm>
            <a:off x="6959600" y="4709083"/>
            <a:ext cx="4369054"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4F1EA"/>
                </a:solidFill>
                <a:latin typeface="IBM Plex Sans" pitchFamily="34" charset="0"/>
                <a:ea typeface="IBM Plex Sans" pitchFamily="34" charset="-122"/>
                <a:cs typeface="IBM Plex Sans" pitchFamily="34" charset="-120"/>
              </a:rPr>
              <a:t>So two sequences sharing a transversion is </a:t>
            </a:r>
            <a:r>
              <a:rPr lang="en-US" sz="1400" b="1" dirty="0">
                <a:solidFill>
                  <a:srgbClr val="F4F1EA"/>
                </a:solidFill>
                <a:latin typeface="IBM Plex Sans" pitchFamily="34" charset="0"/>
                <a:ea typeface="IBM Plex Sans" pitchFamily="34" charset="-122"/>
                <a:cs typeface="IBM Plex Sans" pitchFamily="34" charset="-120"/>
              </a:rPr>
              <a:t>stronger evidence</a:t>
            </a:r>
            <a:r>
              <a:rPr lang="en-US" sz="1400" dirty="0">
                <a:solidFill>
                  <a:srgbClr val="F4F1EA"/>
                </a:solidFill>
                <a:latin typeface="IBM Plex Sans" pitchFamily="34" charset="0"/>
                <a:ea typeface="IBM Plex Sans" pitchFamily="34" charset="-122"/>
                <a:cs typeface="IBM Plex Sans" pitchFamily="34" charset="-120"/>
              </a:rPr>
              <a:t> of common ancestry than two sharing a transition. Unweighted parsimony ignores this entirely: both are one step.</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ECE4"/>
        </a:solidFill>
      </p:bgPr>
    </p:bg>
    <p:spTree>
      <p:nvGrpSpPr>
        <p:cNvPr id="1" name=""/>
        <p:cNvGrpSpPr/>
        <p:nvPr/>
      </p:nvGrpSpPr>
      <p:grpSpPr>
        <a:xfrm>
          <a:off x="0" y="0"/>
          <a:ext cx="0" cy="0"/>
          <a:chOff x="0" y="0"/>
          <a:chExt cx="0" cy="0"/>
        </a:xfrm>
      </p:grpSpPr>
      <p:sp>
        <p:nvSpPr>
          <p:cNvPr id="2" name="Text 0"/>
          <p:cNvSpPr/>
          <p:nvPr/>
        </p:nvSpPr>
        <p:spPr>
          <a:xfrm>
            <a:off x="812800" y="812800"/>
            <a:ext cx="10883392" cy="430768"/>
          </a:xfrm>
          <a:prstGeom prst="rect">
            <a:avLst/>
          </a:prstGeom>
          <a:noFill/>
          <a:ln/>
        </p:spPr>
        <p:txBody>
          <a:bodyPr wrap="square" lIns="0" tIns="0" rIns="0" bIns="0" rtlCol="0" anchor="t">
            <a:normAutofit/>
          </a:bodyPr>
          <a:lstStyle/>
          <a:p>
            <a:pPr algn="l" indent="0" marL="0">
              <a:lnSpc>
                <a:spcPts val="3223"/>
              </a:lnSpc>
              <a:buNone/>
            </a:pPr>
            <a:r>
              <a:rPr lang="en-US" sz="2930" b="1" dirty="0">
                <a:solidFill>
                  <a:srgbClr val="17222E"/>
                </a:solidFill>
                <a:latin typeface="EB Garamond" pitchFamily="34" charset="0"/>
                <a:ea typeface="EB Garamond" pitchFamily="34" charset="-122"/>
                <a:cs typeface="EB Garamond" pitchFamily="34" charset="-120"/>
              </a:rPr>
              <a:t>Same alignment, two scores, different tree</a:t>
            </a:r>
            <a:endParaRPr lang="en-US" sz="293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370571"/>
          <a:ext cx="4445000" cy="1841500"/>
        </p:xfrm>
        <a:graphic>
          <a:graphicData uri="http://schemas.openxmlformats.org/drawingml/2006/table">
            <a:tbl>
              <a:tblPr/>
              <a:tblGrid>
                <a:gridCol w="1244600"/>
                <a:gridCol w="1066800"/>
                <a:gridCol w="1066800"/>
                <a:gridCol w="1066800"/>
              </a:tblGrid>
              <a:tr h="368300">
                <a:tc>
                  <a:txBody>
                    <a:bodyPr/>
                    <a:lstStyle/>
                    <a:p>
                      <a:pP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site</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I</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C</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II</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III</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C</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r>
              <a:tr h="368300">
                <a:tc>
                  <a:txBody>
                    <a:bodyPr/>
                    <a:lstStyle/>
                    <a:p>
                      <a:pP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IV</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17222E"/>
                          </a:solidFill>
                          <a:latin typeface="IBM Plex Sans" pitchFamily="34" charset="0"/>
                          <a:ea typeface="IBM Plex Sans" pitchFamily="34" charset="-122"/>
                          <a:cs typeface="IBM Plex Sans" pitchFamily="34" charset="-120"/>
                        </a:rPr>
                        <a:t>G</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820"/>
                        </a:lnSpc>
                        <a:buNone/>
                      </a:pPr>
                      <a:r>
                        <a:rPr lang="en-US" sz="1300" dirty="0">
                          <a:solidFill>
                            <a:srgbClr val="B24C2E"/>
                          </a:solidFill>
                          <a:latin typeface="IBM Plex Sans" pitchFamily="34" charset="0"/>
                          <a:ea typeface="IBM Plex Sans" pitchFamily="34" charset="-122"/>
                          <a:cs typeface="IBM Plex Sans" pitchFamily="34" charset="-120"/>
                        </a:rPr>
                        <a:t>A</a:t>
                      </a:r>
                      <a:endParaRPr lang="en-US" sz="1300" dirty="0">
                        <a:latin typeface="IBM Plex Sans" charset="0"/>
                        <a:ea typeface="IBM Plex Sans" charset="0"/>
                        <a:cs typeface="IBM Plex Sans" charset="0"/>
                      </a:endParaRPr>
                    </a:p>
                  </a:txBody>
                  <a:tcPr marL="88900" marR="88900" marT="63500" marB="635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r>
            </a:tbl>
          </a:graphicData>
        </a:graphic>
      </p:graphicFrame>
      <p:sp>
        <p:nvSpPr>
          <p:cNvPr id="4" name="Text 1"/>
          <p:cNvSpPr/>
          <p:nvPr/>
        </p:nvSpPr>
        <p:spPr>
          <a:xfrm>
            <a:off x="5461000" y="1370571"/>
            <a:ext cx="609574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A57"/>
                </a:solidFill>
                <a:latin typeface="IBM Plex Sans" pitchFamily="34" charset="0"/>
                <a:ea typeface="IBM Plex Sans" pitchFamily="34" charset="-122"/>
                <a:cs typeface="IBM Plex Sans" pitchFamily="34" charset="-120"/>
              </a:rPr>
              <a:t>Sites 1 and 2</a:t>
            </a:r>
            <a:r>
              <a:rPr lang="en-US" sz="1300" dirty="0">
                <a:solidFill>
                  <a:srgbClr val="3D4A57"/>
                </a:solidFill>
                <a:latin typeface="IBM Plex Sans" pitchFamily="34" charset="0"/>
                <a:ea typeface="IBM Plex Sans" pitchFamily="34" charset="-122"/>
                <a:cs typeface="IBM Plex Sans" pitchFamily="34" charset="-120"/>
              </a:rPr>
              <a:t> split the taxa A A | G G, which favours Tree A. A to G is a </a:t>
            </a:r>
            <a:r>
              <a:rPr lang="en-US" sz="1300" b="1" dirty="0">
                <a:solidFill>
                  <a:srgbClr val="3D4A57"/>
                </a:solidFill>
                <a:latin typeface="IBM Plex Sans" pitchFamily="34" charset="0"/>
                <a:ea typeface="IBM Plex Sans" pitchFamily="34" charset="-122"/>
                <a:cs typeface="IBM Plex Sans" pitchFamily="34" charset="-120"/>
              </a:rPr>
              <a:t>transition</a:t>
            </a:r>
            <a:r>
              <a:rPr lang="en-US" sz="1300" dirty="0">
                <a:solidFill>
                  <a:srgbClr val="3D4A57"/>
                </a:solidFill>
                <a:latin typeface="IBM Plex Sans" pitchFamily="34" charset="0"/>
                <a:ea typeface="IBM Plex Sans" pitchFamily="34" charset="-122"/>
                <a:cs typeface="IBM Plex Sans" pitchFamily="34" charset="-120"/>
              </a:rPr>
              <a:t> — cheap and common, so weak evidence.</a:t>
            </a:r>
            <a:endParaRPr lang="en-US" sz="1300" dirty="0"/>
          </a:p>
        </p:txBody>
      </p:sp>
      <p:sp>
        <p:nvSpPr>
          <p:cNvPr id="5" name="Text 2"/>
          <p:cNvSpPr/>
          <p:nvPr/>
        </p:nvSpPr>
        <p:spPr>
          <a:xfrm>
            <a:off x="5461000" y="1921749"/>
            <a:ext cx="609574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A57"/>
                </a:solidFill>
                <a:latin typeface="IBM Plex Sans" pitchFamily="34" charset="0"/>
                <a:ea typeface="IBM Plex Sans" pitchFamily="34" charset="-122"/>
                <a:cs typeface="IBM Plex Sans" pitchFamily="34" charset="-120"/>
              </a:rPr>
              <a:t>Site 3</a:t>
            </a:r>
            <a:r>
              <a:rPr lang="en-US" sz="1300" dirty="0">
                <a:solidFill>
                  <a:srgbClr val="3D4A57"/>
                </a:solidFill>
                <a:latin typeface="IBM Plex Sans" pitchFamily="34" charset="0"/>
                <a:ea typeface="IBM Plex Sans" pitchFamily="34" charset="-122"/>
                <a:cs typeface="IBM Plex Sans" pitchFamily="34" charset="-120"/>
              </a:rPr>
              <a:t> splits them C A | C A, which favours Tree B. C to A is a </a:t>
            </a:r>
            <a:r>
              <a:rPr lang="en-US" sz="1300" b="1" dirty="0">
                <a:solidFill>
                  <a:srgbClr val="3D4A57"/>
                </a:solidFill>
                <a:latin typeface="IBM Plex Sans" pitchFamily="34" charset="0"/>
                <a:ea typeface="IBM Plex Sans" pitchFamily="34" charset="-122"/>
                <a:cs typeface="IBM Plex Sans" pitchFamily="34" charset="-120"/>
              </a:rPr>
              <a:t>transversion</a:t>
            </a:r>
            <a:r>
              <a:rPr lang="en-US" sz="1300" dirty="0">
                <a:solidFill>
                  <a:srgbClr val="3D4A57"/>
                </a:solidFill>
                <a:latin typeface="IBM Plex Sans" pitchFamily="34" charset="0"/>
                <a:ea typeface="IBM Plex Sans" pitchFamily="34" charset="-122"/>
                <a:cs typeface="IBM Plex Sans" pitchFamily="34" charset="-120"/>
              </a:rPr>
              <a:t> — expensive and rare, so strong evidence.</a:t>
            </a:r>
            <a:endParaRPr lang="en-US" sz="1300" dirty="0"/>
          </a:p>
        </p:txBody>
      </p:sp>
      <p:sp>
        <p:nvSpPr>
          <p:cNvPr id="6" name="Text 3"/>
          <p:cNvSpPr/>
          <p:nvPr/>
        </p:nvSpPr>
        <p:spPr>
          <a:xfrm>
            <a:off x="5461000" y="2472928"/>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Trees as before: A = (I,II)(III,IV)  ·  B = (I,III)(II,IV)  ·  C = (I,IV)(II,III)</a:t>
            </a:r>
            <a:endParaRPr lang="en-US" sz="1200" dirty="0"/>
          </a:p>
        </p:txBody>
      </p:sp>
      <p:sp>
        <p:nvSpPr>
          <p:cNvPr id="7" name="Shape 4"/>
          <p:cNvSpPr/>
          <p:nvPr/>
        </p:nvSpPr>
        <p:spPr>
          <a:xfrm>
            <a:off x="812800" y="3206831"/>
            <a:ext cx="5181600" cy="2635171"/>
          </a:xfrm>
          <a:prstGeom prst="roundRect">
            <a:avLst>
              <a:gd name="adj" fmla="val 1928"/>
            </a:avLst>
          </a:prstGeom>
          <a:solidFill>
            <a:srgbClr val="FDFBF7"/>
          </a:solidFill>
          <a:ln/>
        </p:spPr>
      </p:sp>
      <p:sp>
        <p:nvSpPr>
          <p:cNvPr id="8" name="Shape 5"/>
          <p:cNvSpPr/>
          <p:nvPr/>
        </p:nvSpPr>
        <p:spPr>
          <a:xfrm>
            <a:off x="812800" y="3232231"/>
            <a:ext cx="5181600" cy="0"/>
          </a:xfrm>
          <a:prstGeom prst="line">
            <a:avLst/>
          </a:prstGeom>
          <a:noFill/>
          <a:ln w="50800">
            <a:solidFill>
              <a:srgbClr val="55616E"/>
            </a:solidFill>
            <a:prstDash val="solid"/>
          </a:ln>
        </p:spPr>
      </p:sp>
      <p:sp>
        <p:nvSpPr>
          <p:cNvPr id="9" name="Text 6"/>
          <p:cNvSpPr/>
          <p:nvPr/>
        </p:nvSpPr>
        <p:spPr>
          <a:xfrm>
            <a:off x="990600" y="3410031"/>
            <a:ext cx="4970780" cy="240983"/>
          </a:xfrm>
          <a:prstGeom prst="rect">
            <a:avLst/>
          </a:prstGeom>
          <a:noFill/>
          <a:ln/>
        </p:spPr>
        <p:txBody>
          <a:bodyPr wrap="square" lIns="0" tIns="0" rIns="0" bIns="0" rtlCol="0" anchor="t">
            <a:normAutofit/>
          </a:bodyPr>
          <a:lstStyle/>
          <a:p>
            <a:pPr algn="l" indent="0" marL="0">
              <a:lnSpc>
                <a:spcPts val="1722"/>
              </a:lnSpc>
              <a:buNone/>
            </a:pPr>
            <a:r>
              <a:rPr lang="en-US" sz="1435" b="1" dirty="0">
                <a:solidFill>
                  <a:srgbClr val="17222E"/>
                </a:solidFill>
                <a:latin typeface="IBM Plex Sans" pitchFamily="34" charset="0"/>
                <a:ea typeface="IBM Plex Sans" pitchFamily="34" charset="-122"/>
                <a:cs typeface="IBM Plex Sans" pitchFamily="34" charset="-120"/>
              </a:rPr>
              <a:t>Basic parsimony — every change costs 1</a:t>
            </a:r>
            <a:endParaRPr lang="en-US" sz="1435" dirty="0"/>
          </a:p>
        </p:txBody>
      </p:sp>
      <p:graphicFrame>
        <p:nvGraphicFramePr>
          <p:cNvPr id="10" name="Table 1"/>
          <p:cNvGraphicFramePr>
            <a:graphicFrameLocks noGrp="1"/>
          </p:cNvGraphicFramePr>
          <p:nvPr>
            <p:extLst>
              <p:ext uri="{D42A27DB-BD31-4B8C-83A1-F6EECF244321}">
                <p14:modId xmlns:p14="http://schemas.microsoft.com/office/powerpoint/2010/main" val="1579011935"/>
              </p:ext>
            </p:extLst>
          </p:nvPr>
        </p:nvGraphicFramePr>
        <p:xfrm>
          <a:off x="990600" y="3727214"/>
          <a:ext cx="4826000" cy="1438672"/>
        </p:xfrm>
        <a:graphic>
          <a:graphicData uri="http://schemas.openxmlformats.org/drawingml/2006/table">
            <a:tbl>
              <a:tblPr/>
              <a:tblGrid>
                <a:gridCol w="1061720"/>
                <a:gridCol w="1254760"/>
                <a:gridCol w="1254760"/>
                <a:gridCol w="1254760"/>
              </a:tblGrid>
              <a:tr h="287734">
                <a:tc>
                  <a:txBody>
                    <a:bodyPr/>
                    <a:lstStyle/>
                    <a:p>
                      <a:pPr indent="0" marL="0">
                        <a:lnSpc>
                          <a:spcPts val="1386"/>
                        </a:lnSpc>
                        <a:buNone/>
                      </a:pPr>
                      <a:r>
                        <a:rPr lang="en-US" sz="990" b="1" dirty="0">
                          <a:solidFill>
                            <a:srgbClr val="17222E"/>
                          </a:solidFill>
                          <a:latin typeface="IBM Plex Sans" pitchFamily="34" charset="0"/>
                          <a:ea typeface="IBM Plex Sans" pitchFamily="34" charset="-122"/>
                          <a:cs typeface="IBM Plex Sans" pitchFamily="34" charset="-120"/>
                        </a:rPr>
                        <a:t>site</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b="1" dirty="0">
                          <a:solidFill>
                            <a:srgbClr val="17222E"/>
                          </a:solidFill>
                          <a:latin typeface="IBM Plex Sans" pitchFamily="34" charset="0"/>
                          <a:ea typeface="IBM Plex Sans" pitchFamily="34" charset="-122"/>
                          <a:cs typeface="IBM Plex Sans" pitchFamily="34" charset="-120"/>
                        </a:rPr>
                        <a:t>Tree A</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b="1" dirty="0">
                          <a:solidFill>
                            <a:srgbClr val="17222E"/>
                          </a:solidFill>
                          <a:latin typeface="IBM Plex Sans" pitchFamily="34" charset="0"/>
                          <a:ea typeface="IBM Plex Sans" pitchFamily="34" charset="-122"/>
                          <a:cs typeface="IBM Plex Sans" pitchFamily="34" charset="-120"/>
                        </a:rPr>
                        <a:t>Tree B</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b="1" dirty="0">
                          <a:solidFill>
                            <a:srgbClr val="17222E"/>
                          </a:solidFill>
                          <a:latin typeface="IBM Plex Sans" pitchFamily="34" charset="0"/>
                          <a:ea typeface="IBM Plex Sans" pitchFamily="34" charset="-122"/>
                          <a:cs typeface="IBM Plex Sans" pitchFamily="34" charset="-120"/>
                        </a:rPr>
                        <a:t>Tree C</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r>
              <a:tr h="287734">
                <a:tc>
                  <a:txBody>
                    <a:bodyPr/>
                    <a:lstStyle/>
                    <a:p>
                      <a:pP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1</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1</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r>
              <a:tr h="287734">
                <a:tc>
                  <a:txBody>
                    <a:bodyPr/>
                    <a:lstStyle/>
                    <a:p>
                      <a:pP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1</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r>
              <a:tr h="287734">
                <a:tc>
                  <a:txBody>
                    <a:bodyPr/>
                    <a:lstStyle/>
                    <a:p>
                      <a:pP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3</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1</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r>
              <a:tr h="287734">
                <a:tc>
                  <a:txBody>
                    <a:bodyPr/>
                    <a:lstStyle/>
                    <a:p>
                      <a:pP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total</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dirty="0">
                          <a:solidFill>
                            <a:srgbClr val="2E6E6B"/>
                          </a:solidFill>
                          <a:latin typeface="IBM Plex Sans" pitchFamily="34" charset="0"/>
                          <a:ea typeface="IBM Plex Sans" pitchFamily="34" charset="-122"/>
                          <a:cs typeface="IBM Plex Sans" pitchFamily="34" charset="-120"/>
                        </a:rPr>
                        <a:t>4</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5</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6</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r>
            </a:tbl>
          </a:graphicData>
        </a:graphic>
      </p:graphicFrame>
      <p:sp>
        <p:nvSpPr>
          <p:cNvPr id="11" name="Text 7"/>
          <p:cNvSpPr/>
          <p:nvPr/>
        </p:nvSpPr>
        <p:spPr>
          <a:xfrm>
            <a:off x="990600" y="5280980"/>
            <a:ext cx="4970780" cy="434022"/>
          </a:xfrm>
          <a:prstGeom prst="rect">
            <a:avLst/>
          </a:prstGeom>
          <a:noFill/>
          <a:ln/>
        </p:spPr>
        <p:txBody>
          <a:bodyPr wrap="square" lIns="0" tIns="0" rIns="0" bIns="0" rtlCol="0" anchor="t">
            <a:normAutofit/>
          </a:bodyPr>
          <a:lstStyle/>
          <a:p>
            <a:pPr algn="l" indent="0" marL="0">
              <a:lnSpc>
                <a:spcPts val="1621"/>
              </a:lnSpc>
              <a:buNone/>
            </a:pPr>
            <a:r>
              <a:rPr lang="en-US" sz="1158" b="1" dirty="0">
                <a:solidFill>
                  <a:srgbClr val="17222E"/>
                </a:solidFill>
                <a:latin typeface="IBM Plex Sans" pitchFamily="34" charset="0"/>
                <a:ea typeface="IBM Plex Sans" pitchFamily="34" charset="-122"/>
                <a:cs typeface="IBM Plex Sans" pitchFamily="34" charset="-120"/>
              </a:rPr>
              <a:t>Tree A wins, 4 steps.</a:t>
            </a:r>
            <a:r>
              <a:rPr lang="en-US" sz="1158" dirty="0">
                <a:solidFill>
                  <a:srgbClr val="17222E"/>
                </a:solidFill>
                <a:latin typeface="IBM Plex Sans" pitchFamily="34" charset="0"/>
                <a:ea typeface="IBM Plex Sans" pitchFamily="34" charset="-122"/>
                <a:cs typeface="IBM Plex Sans" pitchFamily="34" charset="-120"/>
              </a:rPr>
              <a:t> Two sites beat one, and that is the whole argument.</a:t>
            </a:r>
            <a:endParaRPr lang="en-US" sz="1158" dirty="0"/>
          </a:p>
        </p:txBody>
      </p:sp>
      <p:sp>
        <p:nvSpPr>
          <p:cNvPr id="12" name="Shape 8"/>
          <p:cNvSpPr/>
          <p:nvPr/>
        </p:nvSpPr>
        <p:spPr>
          <a:xfrm>
            <a:off x="6197600" y="3206831"/>
            <a:ext cx="5181600" cy="2635171"/>
          </a:xfrm>
          <a:prstGeom prst="roundRect">
            <a:avLst>
              <a:gd name="adj" fmla="val 1928"/>
            </a:avLst>
          </a:prstGeom>
          <a:solidFill>
            <a:srgbClr val="FDFBF7"/>
          </a:solidFill>
          <a:ln/>
        </p:spPr>
      </p:sp>
      <p:sp>
        <p:nvSpPr>
          <p:cNvPr id="13" name="Shape 9"/>
          <p:cNvSpPr/>
          <p:nvPr/>
        </p:nvSpPr>
        <p:spPr>
          <a:xfrm>
            <a:off x="6197600" y="3232231"/>
            <a:ext cx="5181600" cy="0"/>
          </a:xfrm>
          <a:prstGeom prst="line">
            <a:avLst/>
          </a:prstGeom>
          <a:noFill/>
          <a:ln w="50800">
            <a:solidFill>
              <a:srgbClr val="B24C2E"/>
            </a:solidFill>
            <a:prstDash val="solid"/>
          </a:ln>
        </p:spPr>
      </p:sp>
      <p:sp>
        <p:nvSpPr>
          <p:cNvPr id="14" name="Text 10"/>
          <p:cNvSpPr/>
          <p:nvPr/>
        </p:nvSpPr>
        <p:spPr>
          <a:xfrm>
            <a:off x="6375400" y="3410031"/>
            <a:ext cx="4970780" cy="240983"/>
          </a:xfrm>
          <a:prstGeom prst="rect">
            <a:avLst/>
          </a:prstGeom>
          <a:noFill/>
          <a:ln/>
        </p:spPr>
        <p:txBody>
          <a:bodyPr wrap="square" lIns="0" tIns="0" rIns="0" bIns="0" rtlCol="0" anchor="t">
            <a:normAutofit/>
          </a:bodyPr>
          <a:lstStyle/>
          <a:p>
            <a:pPr algn="l" indent="0" marL="0">
              <a:lnSpc>
                <a:spcPts val="1722"/>
              </a:lnSpc>
              <a:buNone/>
            </a:pPr>
            <a:r>
              <a:rPr lang="en-US" sz="1435" b="1" dirty="0">
                <a:solidFill>
                  <a:srgbClr val="17222E"/>
                </a:solidFill>
                <a:latin typeface="IBM Plex Sans" pitchFamily="34" charset="0"/>
                <a:ea typeface="IBM Plex Sans" pitchFamily="34" charset="-122"/>
                <a:cs typeface="IBM Plex Sans" pitchFamily="34" charset="-120"/>
              </a:rPr>
              <a:t>Weighted — transition 1, transversion 5</a:t>
            </a:r>
            <a:endParaRPr lang="en-US" sz="1435" dirty="0"/>
          </a:p>
        </p:txBody>
      </p:sp>
      <p:graphicFrame>
        <p:nvGraphicFramePr>
          <p:cNvPr id="15" name="Table 2"/>
          <p:cNvGraphicFramePr>
            <a:graphicFrameLocks noGrp="1"/>
          </p:cNvGraphicFramePr>
          <p:nvPr>
            <p:extLst>
              <p:ext uri="{D42A27DB-BD31-4B8C-83A1-F6EECF244321}">
                <p14:modId xmlns:p14="http://schemas.microsoft.com/office/powerpoint/2010/main" val="1579011935"/>
              </p:ext>
            </p:extLst>
          </p:nvPr>
        </p:nvGraphicFramePr>
        <p:xfrm>
          <a:off x="6375400" y="3727214"/>
          <a:ext cx="4826000" cy="1438672"/>
        </p:xfrm>
        <a:graphic>
          <a:graphicData uri="http://schemas.openxmlformats.org/drawingml/2006/table">
            <a:tbl>
              <a:tblPr/>
              <a:tblGrid>
                <a:gridCol w="1061720"/>
                <a:gridCol w="1254760"/>
                <a:gridCol w="1254760"/>
                <a:gridCol w="1254760"/>
              </a:tblGrid>
              <a:tr h="287734">
                <a:tc>
                  <a:txBody>
                    <a:bodyPr/>
                    <a:lstStyle/>
                    <a:p>
                      <a:pPr indent="0" marL="0">
                        <a:lnSpc>
                          <a:spcPts val="1386"/>
                        </a:lnSpc>
                        <a:buNone/>
                      </a:pPr>
                      <a:r>
                        <a:rPr lang="en-US" sz="990" b="1" dirty="0">
                          <a:solidFill>
                            <a:srgbClr val="17222E"/>
                          </a:solidFill>
                          <a:latin typeface="IBM Plex Sans" pitchFamily="34" charset="0"/>
                          <a:ea typeface="IBM Plex Sans" pitchFamily="34" charset="-122"/>
                          <a:cs typeface="IBM Plex Sans" pitchFamily="34" charset="-120"/>
                        </a:rPr>
                        <a:t>site</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b="1" dirty="0">
                          <a:solidFill>
                            <a:srgbClr val="17222E"/>
                          </a:solidFill>
                          <a:latin typeface="IBM Plex Sans" pitchFamily="34" charset="0"/>
                          <a:ea typeface="IBM Plex Sans" pitchFamily="34" charset="-122"/>
                          <a:cs typeface="IBM Plex Sans" pitchFamily="34" charset="-120"/>
                        </a:rPr>
                        <a:t>Tree A</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b="1" dirty="0">
                          <a:solidFill>
                            <a:srgbClr val="17222E"/>
                          </a:solidFill>
                          <a:latin typeface="IBM Plex Sans" pitchFamily="34" charset="0"/>
                          <a:ea typeface="IBM Plex Sans" pitchFamily="34" charset="-122"/>
                          <a:cs typeface="IBM Plex Sans" pitchFamily="34" charset="-120"/>
                        </a:rPr>
                        <a:t>Tree B</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b="1" dirty="0">
                          <a:solidFill>
                            <a:srgbClr val="17222E"/>
                          </a:solidFill>
                          <a:latin typeface="IBM Plex Sans" pitchFamily="34" charset="0"/>
                          <a:ea typeface="IBM Plex Sans" pitchFamily="34" charset="-122"/>
                          <a:cs typeface="IBM Plex Sans" pitchFamily="34" charset="-120"/>
                        </a:rPr>
                        <a:t>Tree C</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r>
              <a:tr h="287734">
                <a:tc>
                  <a:txBody>
                    <a:bodyPr/>
                    <a:lstStyle/>
                    <a:p>
                      <a:pP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1</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1</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r>
              <a:tr h="287734">
                <a:tc>
                  <a:txBody>
                    <a:bodyPr/>
                    <a:lstStyle/>
                    <a:p>
                      <a:pP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1</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F6F2EA"/>
                    </a:solidFill>
                  </a:tcPr>
                </a:tc>
              </a:tr>
              <a:tr h="287734">
                <a:tc>
                  <a:txBody>
                    <a:bodyPr/>
                    <a:lstStyle/>
                    <a:p>
                      <a:pP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3</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B24C2E"/>
                          </a:solidFill>
                          <a:latin typeface="IBM Plex Sans" pitchFamily="34" charset="0"/>
                          <a:ea typeface="IBM Plex Sans" pitchFamily="34" charset="-122"/>
                          <a:cs typeface="IBM Plex Sans" pitchFamily="34" charset="-120"/>
                        </a:rPr>
                        <a:t>10</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B24C2E"/>
                          </a:solidFill>
                          <a:latin typeface="IBM Plex Sans" pitchFamily="34" charset="0"/>
                          <a:ea typeface="IBM Plex Sans" pitchFamily="34" charset="-122"/>
                          <a:cs typeface="IBM Plex Sans" pitchFamily="34" charset="-120"/>
                        </a:rPr>
                        <a:t>5</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c>
                  <a:txBody>
                    <a:bodyPr/>
                    <a:lstStyle/>
                    <a:p>
                      <a:pPr algn="ctr" indent="0" marL="0">
                        <a:lnSpc>
                          <a:spcPts val="1386"/>
                        </a:lnSpc>
                        <a:buNone/>
                      </a:pPr>
                      <a:r>
                        <a:rPr lang="en-US" sz="990" dirty="0">
                          <a:solidFill>
                            <a:srgbClr val="B24C2E"/>
                          </a:solidFill>
                          <a:latin typeface="IBM Plex Sans" pitchFamily="34" charset="0"/>
                          <a:ea typeface="IBM Plex Sans" pitchFamily="34" charset="-122"/>
                          <a:cs typeface="IBM Plex Sans" pitchFamily="34" charset="-120"/>
                        </a:rPr>
                        <a:t>10</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tcPr>
                </a:tc>
              </a:tr>
              <a:tr h="287734">
                <a:tc>
                  <a:txBody>
                    <a:bodyPr/>
                    <a:lstStyle/>
                    <a:p>
                      <a:pP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total</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12</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dirty="0">
                          <a:solidFill>
                            <a:srgbClr val="2E6E6B"/>
                          </a:solidFill>
                          <a:latin typeface="IBM Plex Sans" pitchFamily="34" charset="0"/>
                          <a:ea typeface="IBM Plex Sans" pitchFamily="34" charset="-122"/>
                          <a:cs typeface="IBM Plex Sans" pitchFamily="34" charset="-120"/>
                        </a:rPr>
                        <a:t>9</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c>
                  <a:txBody>
                    <a:bodyPr/>
                    <a:lstStyle/>
                    <a:p>
                      <a:pPr algn="ctr" indent="0" marL="0">
                        <a:lnSpc>
                          <a:spcPts val="1386"/>
                        </a:lnSpc>
                        <a:buNone/>
                      </a:pPr>
                      <a:r>
                        <a:rPr lang="en-US" sz="990" dirty="0">
                          <a:solidFill>
                            <a:srgbClr val="17222E"/>
                          </a:solidFill>
                          <a:latin typeface="IBM Plex Sans" pitchFamily="34" charset="0"/>
                          <a:ea typeface="IBM Plex Sans" pitchFamily="34" charset="-122"/>
                          <a:cs typeface="IBM Plex Sans" pitchFamily="34" charset="-120"/>
                        </a:rPr>
                        <a:t>14</a:t>
                      </a:r>
                      <a:endParaRPr lang="en-US" sz="990" dirty="0">
                        <a:latin typeface="IBM Plex Sans" charset="0"/>
                        <a:ea typeface="IBM Plex Sans" charset="0"/>
                        <a:cs typeface="IBM Plex Sans" charset="0"/>
                      </a:endParaRPr>
                    </a:p>
                  </a:txBody>
                  <a:tcPr marL="76200" marR="76200" marT="50800" marB="50800" anchor="t">
                    <a:lnL w="12700" cap="flat" cmpd="sng" algn="ctr">
                      <a:solidFill>
                        <a:srgbClr val="C0C0BC"/>
                      </a:solidFill>
                      <a:prstDash val="solid"/>
                      <a:round/>
                      <a:headEnd type="none" w="med" len="med"/>
                      <a:tailEnd type="none" w="med" len="med"/>
                    </a:lnL>
                    <a:lnR w="12700" cap="flat" cmpd="sng" algn="ctr">
                      <a:solidFill>
                        <a:srgbClr val="C0C0BC"/>
                      </a:solidFill>
                      <a:prstDash val="solid"/>
                      <a:round/>
                      <a:headEnd type="none" w="med" len="med"/>
                      <a:tailEnd type="none" w="med" len="med"/>
                    </a:lnR>
                    <a:lnT w="12700" cap="flat" cmpd="sng" algn="ctr">
                      <a:solidFill>
                        <a:srgbClr val="C0C0BC"/>
                      </a:solidFill>
                      <a:prstDash val="solid"/>
                      <a:round/>
                      <a:headEnd type="none" w="med" len="med"/>
                      <a:tailEnd type="none" w="med" len="med"/>
                    </a:lnT>
                    <a:lnB w="12700" cap="flat" cmpd="sng" algn="ctr">
                      <a:solidFill>
                        <a:srgbClr val="C0C0BC"/>
                      </a:solidFill>
                      <a:prstDash val="solid"/>
                      <a:round/>
                      <a:headEnd type="none" w="med" len="med"/>
                      <a:tailEnd type="none" w="med" len="med"/>
                    </a:lnB>
                    <a:solidFill>
                      <a:srgbClr val="EFE9DE"/>
                    </a:solidFill>
                  </a:tcPr>
                </a:tc>
              </a:tr>
            </a:tbl>
          </a:graphicData>
        </a:graphic>
      </p:graphicFrame>
      <p:sp>
        <p:nvSpPr>
          <p:cNvPr id="16" name="Text 11"/>
          <p:cNvSpPr/>
          <p:nvPr/>
        </p:nvSpPr>
        <p:spPr>
          <a:xfrm>
            <a:off x="6375400" y="5280980"/>
            <a:ext cx="4970780" cy="434022"/>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7222E"/>
                </a:solidFill>
                <a:latin typeface="IBM Plex Sans" pitchFamily="34" charset="0"/>
                <a:ea typeface="IBM Plex Sans" pitchFamily="34" charset="-122"/>
                <a:cs typeface="IBM Plex Sans" pitchFamily="34" charset="-120"/>
              </a:rPr>
              <a:t>Tree B wins, cost 9.</a:t>
            </a:r>
            <a:r>
              <a:rPr lang="en-US" sz="1150" dirty="0">
                <a:solidFill>
                  <a:srgbClr val="17222E"/>
                </a:solidFill>
                <a:latin typeface="IBM Plex Sans" pitchFamily="34" charset="0"/>
                <a:ea typeface="IBM Plex Sans" pitchFamily="34" charset="-122"/>
                <a:cs typeface="IBM Plex Sans" pitchFamily="34" charset="-120"/>
              </a:rPr>
              <a:t> One transversion is worth more than both transitions together.</a:t>
            </a:r>
            <a:endParaRPr lang="en-US" sz="1150" dirty="0"/>
          </a:p>
        </p:txBody>
      </p:sp>
      <p:sp>
        <p:nvSpPr>
          <p:cNvPr id="17" name="Text 12"/>
          <p:cNvSpPr/>
          <p:nvPr/>
        </p:nvSpPr>
        <p:spPr>
          <a:xfrm>
            <a:off x="812800" y="6238242"/>
            <a:ext cx="84839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Same four taxa, same three sites, same three trees. The only thing that changed is the price list — and with it, the answer.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222E"/>
        </a:solidFill>
      </p:bgPr>
    </p:bg>
    <p:spTree>
      <p:nvGrpSpPr>
        <p:cNvPr id="1" name=""/>
        <p:cNvGrpSpPr/>
        <p:nvPr/>
      </p:nvGrpSpPr>
      <p:grpSpPr>
        <a:xfrm>
          <a:off x="0" y="0"/>
          <a:ext cx="0" cy="0"/>
          <a:chOff x="0" y="0"/>
          <a:chExt cx="0" cy="0"/>
        </a:xfrm>
      </p:grpSpPr>
      <p:sp>
        <p:nvSpPr>
          <p:cNvPr id="2" name="Text 0"/>
          <p:cNvSpPr/>
          <p:nvPr/>
        </p:nvSpPr>
        <p:spPr>
          <a:xfrm>
            <a:off x="812800" y="214884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D9A388"/>
                </a:solidFill>
                <a:latin typeface="IBM Plex Sans" pitchFamily="34" charset="0"/>
                <a:ea typeface="IBM Plex Sans" pitchFamily="34" charset="-122"/>
                <a:cs typeface="IBM Plex Sans" pitchFamily="34" charset="-120"/>
              </a:rPr>
              <a:t>PART THREE</a:t>
            </a:r>
            <a:endParaRPr lang="en-US" sz="1600" dirty="0"/>
          </a:p>
        </p:txBody>
      </p:sp>
      <p:sp>
        <p:nvSpPr>
          <p:cNvPr id="3" name="Text 1"/>
          <p:cNvSpPr/>
          <p:nvPr/>
        </p:nvSpPr>
        <p:spPr>
          <a:xfrm>
            <a:off x="812800" y="2636521"/>
            <a:ext cx="9483725" cy="13055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4F1EA"/>
                </a:solidFill>
                <a:latin typeface="EB Garamond" pitchFamily="34" charset="0"/>
                <a:ea typeface="EB Garamond" pitchFamily="34" charset="-122"/>
                <a:cs typeface="EB Garamond" pitchFamily="34" charset="-120"/>
              </a:rPr>
              <a:t>Rooting the tree of life, with nothing outside it to hold on to</a:t>
            </a:r>
            <a:endParaRPr lang="en-US" sz="4800" dirty="0"/>
          </a:p>
        </p:txBody>
      </p:sp>
      <p:sp>
        <p:nvSpPr>
          <p:cNvPr id="4" name="Text 2"/>
          <p:cNvSpPr/>
          <p:nvPr/>
        </p:nvSpPr>
        <p:spPr>
          <a:xfrm>
            <a:off x="812800" y="4119879"/>
            <a:ext cx="8829675"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CC6CF"/>
                </a:solidFill>
                <a:latin typeface="IBM Plex Sans" pitchFamily="34" charset="0"/>
                <a:ea typeface="IBM Plex Sans" pitchFamily="34" charset="-122"/>
                <a:cs typeface="IBM Plex Sans" pitchFamily="34" charset="-120"/>
              </a:rPr>
              <a:t>Every tree you have rooted this term used an outgroup. Here there is none — so the outgroup has to come from inside, and part one already told you where to find it.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C2E"/>
                </a:solidFill>
                <a:latin typeface="IBM Plex Sans" pitchFamily="34" charset="0"/>
                <a:ea typeface="IBM Plex Sans" pitchFamily="34" charset="-122"/>
                <a:cs typeface="IBM Plex Sans" pitchFamily="34" charset="-120"/>
              </a:rPr>
              <a:t>WHAT RIBOSOMAL RNA ACTUALLY GIVES YOU</a:t>
            </a:r>
            <a:endParaRPr lang="en-US" sz="1200" dirty="0"/>
          </a:p>
        </p:txBody>
      </p:sp>
      <p:sp>
        <p:nvSpPr>
          <p:cNvPr id="3" name="Text 1"/>
          <p:cNvSpPr/>
          <p:nvPr/>
        </p:nvSpPr>
        <p:spPr>
          <a:xfrm>
            <a:off x="812800" y="1254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222E"/>
                </a:solidFill>
                <a:latin typeface="EB Garamond" pitchFamily="34" charset="0"/>
                <a:ea typeface="EB Garamond" pitchFamily="34" charset="-122"/>
                <a:cs typeface="EB Garamond" pitchFamily="34" charset="-120"/>
              </a:rPr>
              <a:t>Three domains, one connecting branch, and no direction</a:t>
            </a:r>
            <a:endParaRPr lang="en-US" sz="3200" dirty="0"/>
          </a:p>
        </p:txBody>
      </p:sp>
      <p:sp>
        <p:nvSpPr>
          <p:cNvPr id="4" name="Shape 2"/>
          <p:cNvSpPr/>
          <p:nvPr/>
        </p:nvSpPr>
        <p:spPr>
          <a:xfrm>
            <a:off x="815975" y="1933575"/>
            <a:ext cx="6343650" cy="3422650"/>
          </a:xfrm>
          <a:prstGeom prst="roundRect">
            <a:avLst>
              <a:gd name="adj" fmla="val 2876"/>
            </a:avLst>
          </a:prstGeom>
          <a:solidFill>
            <a:srgbClr val="FFFDF8"/>
          </a:solidFill>
          <a:ln w="6350">
            <a:solidFill>
              <a:srgbClr val="E4DDD0"/>
            </a:solidFill>
            <a:prstDash val="solid"/>
          </a:ln>
        </p:spPr>
      </p:sp>
      <p:pic>
        <p:nvPicPr>
          <p:cNvPr id="5" name="Image 0" descr="An unrooted tree with three long branches radiating from one central point, each ending in a fan of lineages labelled Eucarya, Bacteria and Archaea">    </p:cNvPr>
          <p:cNvPicPr>
            <a:picLocks noChangeAspect="1"/>
          </p:cNvPicPr>
          <p:nvPr/>
        </p:nvPicPr>
        <p:blipFill>
          <a:blip r:embed="rId1"/>
          <a:srcRect l="0" r="0" t="0" b="0"/>
          <a:stretch/>
        </p:blipFill>
        <p:spPr>
          <a:xfrm>
            <a:off x="812800" y="1930400"/>
            <a:ext cx="6350000" cy="3429000"/>
          </a:xfrm>
          <a:prstGeom prst="rect">
            <a:avLst/>
          </a:prstGeom>
        </p:spPr>
      </p:pic>
      <p:sp>
        <p:nvSpPr>
          <p:cNvPr id="6" name="Text 3"/>
          <p:cNvSpPr/>
          <p:nvPr/>
        </p:nvSpPr>
        <p:spPr>
          <a:xfrm>
            <a:off x="939800" y="3276600"/>
            <a:ext cx="183134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E6E6B"/>
                </a:solidFill>
                <a:latin typeface="IBM Plex Sans" pitchFamily="34" charset="0"/>
                <a:ea typeface="IBM Plex Sans" pitchFamily="34" charset="-122"/>
                <a:cs typeface="IBM Plex Sans" pitchFamily="34" charset="-120"/>
              </a:rPr>
              <a:t>Eucarya</a:t>
            </a:r>
            <a:endParaRPr lang="en-US" sz="1800" dirty="0"/>
          </a:p>
        </p:txBody>
      </p:sp>
      <p:sp>
        <p:nvSpPr>
          <p:cNvPr id="7" name="Text 4"/>
          <p:cNvSpPr/>
          <p:nvPr/>
        </p:nvSpPr>
        <p:spPr>
          <a:xfrm>
            <a:off x="939800" y="3556000"/>
            <a:ext cx="18313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animals, plants, fungi</a:t>
            </a:r>
            <a:endParaRPr lang="en-US" sz="1200" dirty="0"/>
          </a:p>
        </p:txBody>
      </p:sp>
      <p:sp>
        <p:nvSpPr>
          <p:cNvPr id="8" name="Text 5"/>
          <p:cNvSpPr/>
          <p:nvPr/>
        </p:nvSpPr>
        <p:spPr>
          <a:xfrm>
            <a:off x="5204460" y="3390900"/>
            <a:ext cx="1831340" cy="345440"/>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B24C2E"/>
                </a:solidFill>
                <a:latin typeface="IBM Plex Sans" pitchFamily="34" charset="0"/>
                <a:ea typeface="IBM Plex Sans" pitchFamily="34" charset="-122"/>
                <a:cs typeface="IBM Plex Sans" pitchFamily="34" charset="-120"/>
              </a:rPr>
              <a:t>Bacteria</a:t>
            </a:r>
            <a:endParaRPr lang="en-US" sz="1800" dirty="0"/>
          </a:p>
        </p:txBody>
      </p:sp>
      <p:sp>
        <p:nvSpPr>
          <p:cNvPr id="9" name="Text 6"/>
          <p:cNvSpPr/>
          <p:nvPr/>
        </p:nvSpPr>
        <p:spPr>
          <a:xfrm>
            <a:off x="5204460" y="3670300"/>
            <a:ext cx="1831340" cy="4521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cyanobacteria, proteobacteria</a:t>
            </a:r>
            <a:endParaRPr lang="en-US" sz="1200" dirty="0"/>
          </a:p>
        </p:txBody>
      </p:sp>
      <p:sp>
        <p:nvSpPr>
          <p:cNvPr id="10" name="Text 7"/>
          <p:cNvSpPr/>
          <p:nvPr/>
        </p:nvSpPr>
        <p:spPr>
          <a:xfrm>
            <a:off x="4876800" y="4737100"/>
            <a:ext cx="222377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A6FA5"/>
                </a:solidFill>
                <a:latin typeface="IBM Plex Sans" pitchFamily="34" charset="0"/>
                <a:ea typeface="IBM Plex Sans" pitchFamily="34" charset="-122"/>
                <a:cs typeface="IBM Plex Sans" pitchFamily="34" charset="-120"/>
              </a:rPr>
              <a:t>Archaea</a:t>
            </a:r>
            <a:endParaRPr lang="en-US" sz="1800" dirty="0"/>
          </a:p>
        </p:txBody>
      </p:sp>
      <p:sp>
        <p:nvSpPr>
          <p:cNvPr id="11" name="Text 8"/>
          <p:cNvSpPr/>
          <p:nvPr/>
        </p:nvSpPr>
        <p:spPr>
          <a:xfrm>
            <a:off x="4876800" y="5016500"/>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euryarchaeota, crenarchaeota</a:t>
            </a:r>
            <a:endParaRPr lang="en-US" sz="1200" dirty="0"/>
          </a:p>
        </p:txBody>
      </p:sp>
      <p:sp>
        <p:nvSpPr>
          <p:cNvPr id="12" name="Text 9"/>
          <p:cNvSpPr/>
          <p:nvPr/>
        </p:nvSpPr>
        <p:spPr>
          <a:xfrm>
            <a:off x="7416800" y="1930400"/>
            <a:ext cx="408127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7222E"/>
                </a:solidFill>
                <a:latin typeface="IBM Plex Sans" pitchFamily="34" charset="0"/>
                <a:ea typeface="IBM Plex Sans" pitchFamily="34" charset="-122"/>
                <a:cs typeface="IBM Plex Sans" pitchFamily="34" charset="-120"/>
              </a:rPr>
              <a:t>A universal alignment — ribosomal RNA, because every organism has it — recovers three deep groups joined at a single point.</a:t>
            </a:r>
            <a:endParaRPr lang="en-US" sz="1500" dirty="0"/>
          </a:p>
        </p:txBody>
      </p:sp>
      <p:sp>
        <p:nvSpPr>
          <p:cNvPr id="13" name="Shape 10"/>
          <p:cNvSpPr/>
          <p:nvPr/>
        </p:nvSpPr>
        <p:spPr>
          <a:xfrm>
            <a:off x="7416800" y="2898775"/>
            <a:ext cx="3962400" cy="1619250"/>
          </a:xfrm>
          <a:prstGeom prst="roundRect">
            <a:avLst>
              <a:gd name="adj" fmla="val 3137"/>
            </a:avLst>
          </a:prstGeom>
          <a:solidFill>
            <a:srgbClr val="EFE9DE"/>
          </a:solidFill>
          <a:ln/>
        </p:spPr>
      </p:sp>
      <p:sp>
        <p:nvSpPr>
          <p:cNvPr id="14" name="Shape 11"/>
          <p:cNvSpPr/>
          <p:nvPr/>
        </p:nvSpPr>
        <p:spPr>
          <a:xfrm>
            <a:off x="7442200" y="2898775"/>
            <a:ext cx="0" cy="1619250"/>
          </a:xfrm>
          <a:prstGeom prst="line">
            <a:avLst/>
          </a:prstGeom>
          <a:noFill/>
          <a:ln w="50800">
            <a:solidFill>
              <a:srgbClr val="B24C2E"/>
            </a:solidFill>
            <a:prstDash val="solid"/>
          </a:ln>
        </p:spPr>
      </p:sp>
      <p:sp>
        <p:nvSpPr>
          <p:cNvPr id="15" name="Text 12"/>
          <p:cNvSpPr/>
          <p:nvPr/>
        </p:nvSpPr>
        <p:spPr>
          <a:xfrm>
            <a:off x="7658100" y="3063875"/>
            <a:ext cx="3636518" cy="131445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22E"/>
                </a:solidFill>
                <a:latin typeface="IBM Plex Sans" pitchFamily="34" charset="0"/>
                <a:ea typeface="IBM Plex Sans" pitchFamily="34" charset="-122"/>
                <a:cs typeface="IBM Plex Sans" pitchFamily="34" charset="-120"/>
              </a:rPr>
              <a:t>The tree is </a:t>
            </a:r>
            <a:r>
              <a:rPr lang="en-US" sz="1400" b="1" dirty="0">
                <a:solidFill>
                  <a:srgbClr val="17222E"/>
                </a:solidFill>
                <a:latin typeface="IBM Plex Sans" pitchFamily="34" charset="0"/>
                <a:ea typeface="IBM Plex Sans" pitchFamily="34" charset="-122"/>
                <a:cs typeface="IBM Plex Sans" pitchFamily="34" charset="-120"/>
              </a:rPr>
              <a:t>unrooted</a:t>
            </a:r>
            <a:r>
              <a:rPr lang="en-US" sz="1400" dirty="0">
                <a:solidFill>
                  <a:srgbClr val="17222E"/>
                </a:solidFill>
                <a:latin typeface="IBM Plex Sans" pitchFamily="34" charset="0"/>
                <a:ea typeface="IBM Plex Sans" pitchFamily="34" charset="-122"/>
                <a:cs typeface="IBM Plex Sans" pitchFamily="34" charset="-120"/>
              </a:rPr>
              <a:t>. It tells you that the three domains are each other's relatives. It does not tell you which of them split off first, because it contains no statement about direction at all.</a:t>
            </a:r>
            <a:endParaRPr lang="en-US" sz="1400" dirty="0"/>
          </a:p>
        </p:txBody>
      </p:sp>
      <p:sp>
        <p:nvSpPr>
          <p:cNvPr id="16" name="Text 13"/>
          <p:cNvSpPr/>
          <p:nvPr/>
        </p:nvSpPr>
        <p:spPr>
          <a:xfrm>
            <a:off x="7416800" y="4657725"/>
            <a:ext cx="4081272"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7222E"/>
                </a:solidFill>
                <a:latin typeface="IBM Plex Sans" pitchFamily="34" charset="0"/>
                <a:ea typeface="IBM Plex Sans" pitchFamily="34" charset="-122"/>
                <a:cs typeface="IBM Plex Sans" pitchFamily="34" charset="-120"/>
              </a:rPr>
              <a:t>Everything people want from this tree — what the last common ancestor looked like, whether eukaryotes came from within the archaea — needs the root.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EC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C2E"/>
                </a:solidFill>
                <a:latin typeface="IBM Plex Sans" pitchFamily="34" charset="0"/>
                <a:ea typeface="IBM Plex Sans" pitchFamily="34" charset="-122"/>
                <a:cs typeface="IBM Plex Sans" pitchFamily="34" charset="-120"/>
              </a:rPr>
              <a:t>WHY YOU CANNOT JUST PICK ONE</a:t>
            </a:r>
            <a:endParaRPr lang="en-US" sz="1200" dirty="0"/>
          </a:p>
        </p:txBody>
      </p:sp>
      <p:sp>
        <p:nvSpPr>
          <p:cNvPr id="3" name="Text 1"/>
          <p:cNvSpPr/>
          <p:nvPr/>
        </p:nvSpPr>
        <p:spPr>
          <a:xfrm>
            <a:off x="812800" y="1229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222E"/>
                </a:solidFill>
                <a:latin typeface="EB Garamond" pitchFamily="34" charset="0"/>
                <a:ea typeface="EB Garamond" pitchFamily="34" charset="-122"/>
                <a:cs typeface="EB Garamond" pitchFamily="34" charset="-120"/>
              </a:rPr>
              <a:t>Same unrooted tree, three different stories</a:t>
            </a:r>
            <a:endParaRPr lang="en-US" sz="3200" dirty="0"/>
          </a:p>
        </p:txBody>
      </p:sp>
      <p:sp>
        <p:nvSpPr>
          <p:cNvPr id="4" name="Shape 2"/>
          <p:cNvSpPr/>
          <p:nvPr/>
        </p:nvSpPr>
        <p:spPr>
          <a:xfrm>
            <a:off x="815975" y="1882775"/>
            <a:ext cx="3380264" cy="2652395"/>
          </a:xfrm>
          <a:prstGeom prst="roundRect">
            <a:avLst>
              <a:gd name="adj" fmla="val 3711"/>
            </a:avLst>
          </a:prstGeom>
          <a:solidFill>
            <a:srgbClr val="FDFBF7"/>
          </a:solidFill>
          <a:ln w="6350">
            <a:solidFill>
              <a:srgbClr val="E0D8C9"/>
            </a:solidFill>
            <a:prstDash val="solid"/>
          </a:ln>
        </p:spPr>
      </p:sp>
      <p:pic>
        <p:nvPicPr>
          <p:cNvPr id="5" name="Image 0" descr="A rooted tree in which Bacteria branches first and Archaea and Eucarya are sisters">    </p:cNvPr>
          <p:cNvPicPr>
            <a:picLocks noChangeAspect="1"/>
          </p:cNvPicPr>
          <p:nvPr/>
        </p:nvPicPr>
        <p:blipFill>
          <a:blip r:embed="rId1"/>
          <a:srcRect l="0" r="0" t="0" b="0"/>
          <a:stretch/>
        </p:blipFill>
        <p:spPr>
          <a:xfrm>
            <a:off x="1021080" y="2087885"/>
            <a:ext cx="2921000" cy="1397000"/>
          </a:xfrm>
          <a:prstGeom prst="rect">
            <a:avLst/>
          </a:prstGeom>
        </p:spPr>
      </p:pic>
      <p:sp>
        <p:nvSpPr>
          <p:cNvPr id="6" name="Text 3"/>
          <p:cNvSpPr/>
          <p:nvPr/>
        </p:nvSpPr>
        <p:spPr>
          <a:xfrm>
            <a:off x="995680" y="3218185"/>
            <a:ext cx="939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Bacteria</a:t>
            </a:r>
            <a:endParaRPr lang="en-US" sz="1200" dirty="0"/>
          </a:p>
        </p:txBody>
      </p:sp>
      <p:sp>
        <p:nvSpPr>
          <p:cNvPr id="7" name="Text 4"/>
          <p:cNvSpPr/>
          <p:nvPr/>
        </p:nvSpPr>
        <p:spPr>
          <a:xfrm>
            <a:off x="2011680" y="3218185"/>
            <a:ext cx="939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6FA5"/>
                </a:solidFill>
                <a:latin typeface="IBM Plex Sans" pitchFamily="34" charset="0"/>
                <a:ea typeface="IBM Plex Sans" pitchFamily="34" charset="-122"/>
                <a:cs typeface="IBM Plex Sans" pitchFamily="34" charset="-120"/>
              </a:rPr>
              <a:t>Archaea</a:t>
            </a:r>
            <a:endParaRPr lang="en-US" sz="1200" dirty="0"/>
          </a:p>
        </p:txBody>
      </p:sp>
      <p:sp>
        <p:nvSpPr>
          <p:cNvPr id="8" name="Text 5"/>
          <p:cNvSpPr/>
          <p:nvPr/>
        </p:nvSpPr>
        <p:spPr>
          <a:xfrm>
            <a:off x="3027680" y="3218185"/>
            <a:ext cx="939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Eucarya</a:t>
            </a:r>
            <a:endParaRPr lang="en-US" sz="1200" dirty="0"/>
          </a:p>
        </p:txBody>
      </p:sp>
      <p:sp>
        <p:nvSpPr>
          <p:cNvPr id="9" name="Text 6"/>
          <p:cNvSpPr/>
          <p:nvPr/>
        </p:nvSpPr>
        <p:spPr>
          <a:xfrm>
            <a:off x="1021080" y="3611885"/>
            <a:ext cx="3059155"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Root on the bacterial branch. </a:t>
            </a:r>
            <a:r>
              <a:rPr lang="en-US" sz="1300" b="1" dirty="0">
                <a:solidFill>
                  <a:srgbClr val="3D4A57"/>
                </a:solidFill>
                <a:latin typeface="IBM Plex Sans" pitchFamily="34" charset="0"/>
                <a:ea typeface="IBM Plex Sans" pitchFamily="34" charset="-122"/>
                <a:cs typeface="IBM Plex Sans" pitchFamily="34" charset="-120"/>
              </a:rPr>
              <a:t>Bacteria split off first</a:t>
            </a:r>
            <a:r>
              <a:rPr lang="en-US" sz="1300" dirty="0">
                <a:solidFill>
                  <a:srgbClr val="3D4A57"/>
                </a:solidFill>
                <a:latin typeface="IBM Plex Sans" pitchFamily="34" charset="0"/>
                <a:ea typeface="IBM Plex Sans" pitchFamily="34" charset="-122"/>
                <a:cs typeface="IBM Plex Sans" pitchFamily="34" charset="-120"/>
              </a:rPr>
              <a:t>, and Archaea and Eucarya are each other's closest relatives.</a:t>
            </a:r>
            <a:endParaRPr lang="en-US" sz="1300" dirty="0"/>
          </a:p>
        </p:txBody>
      </p:sp>
      <p:sp>
        <p:nvSpPr>
          <p:cNvPr id="10" name="Shape 7"/>
          <p:cNvSpPr/>
          <p:nvPr/>
        </p:nvSpPr>
        <p:spPr>
          <a:xfrm>
            <a:off x="4405789" y="1882775"/>
            <a:ext cx="3380343" cy="2652395"/>
          </a:xfrm>
          <a:prstGeom prst="roundRect">
            <a:avLst>
              <a:gd name="adj" fmla="val 3711"/>
            </a:avLst>
          </a:prstGeom>
          <a:solidFill>
            <a:srgbClr val="FDFBF7"/>
          </a:solidFill>
          <a:ln w="6350">
            <a:solidFill>
              <a:srgbClr val="E0D8C9"/>
            </a:solidFill>
            <a:prstDash val="solid"/>
          </a:ln>
        </p:spPr>
      </p:sp>
      <p:pic>
        <p:nvPicPr>
          <p:cNvPr id="11" name="Image 1" descr="A rooted tree in which Archaea branches first and Bacteria and Eucarya are sisters">    </p:cNvPr>
          <p:cNvPicPr>
            <a:picLocks noChangeAspect="1"/>
          </p:cNvPicPr>
          <p:nvPr/>
        </p:nvPicPr>
        <p:blipFill>
          <a:blip r:embed="rId2"/>
          <a:srcRect l="0" r="0" t="0" b="0"/>
          <a:stretch/>
        </p:blipFill>
        <p:spPr>
          <a:xfrm>
            <a:off x="4610894" y="2087885"/>
            <a:ext cx="2921000" cy="1397000"/>
          </a:xfrm>
          <a:prstGeom prst="rect">
            <a:avLst/>
          </a:prstGeom>
        </p:spPr>
      </p:pic>
      <p:sp>
        <p:nvSpPr>
          <p:cNvPr id="12" name="Text 8"/>
          <p:cNvSpPr/>
          <p:nvPr/>
        </p:nvSpPr>
        <p:spPr>
          <a:xfrm>
            <a:off x="4585494" y="3218185"/>
            <a:ext cx="939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6FA5"/>
                </a:solidFill>
                <a:latin typeface="IBM Plex Sans" pitchFamily="34" charset="0"/>
                <a:ea typeface="IBM Plex Sans" pitchFamily="34" charset="-122"/>
                <a:cs typeface="IBM Plex Sans" pitchFamily="34" charset="-120"/>
              </a:rPr>
              <a:t>Archaea</a:t>
            </a:r>
            <a:endParaRPr lang="en-US" sz="1200" dirty="0"/>
          </a:p>
        </p:txBody>
      </p:sp>
      <p:sp>
        <p:nvSpPr>
          <p:cNvPr id="13" name="Text 9"/>
          <p:cNvSpPr/>
          <p:nvPr/>
        </p:nvSpPr>
        <p:spPr>
          <a:xfrm>
            <a:off x="5601494" y="3218185"/>
            <a:ext cx="939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Bacteria</a:t>
            </a:r>
            <a:endParaRPr lang="en-US" sz="1200" dirty="0"/>
          </a:p>
        </p:txBody>
      </p:sp>
      <p:sp>
        <p:nvSpPr>
          <p:cNvPr id="14" name="Text 10"/>
          <p:cNvSpPr/>
          <p:nvPr/>
        </p:nvSpPr>
        <p:spPr>
          <a:xfrm>
            <a:off x="6617494" y="3218185"/>
            <a:ext cx="939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Eucarya</a:t>
            </a:r>
            <a:endParaRPr lang="en-US" sz="1200" dirty="0"/>
          </a:p>
        </p:txBody>
      </p:sp>
      <p:sp>
        <p:nvSpPr>
          <p:cNvPr id="15" name="Text 11"/>
          <p:cNvSpPr/>
          <p:nvPr/>
        </p:nvSpPr>
        <p:spPr>
          <a:xfrm>
            <a:off x="4610894" y="3611885"/>
            <a:ext cx="305923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Root on the archaeal branch. Now </a:t>
            </a:r>
            <a:r>
              <a:rPr lang="en-US" sz="1300" b="1" dirty="0">
                <a:solidFill>
                  <a:srgbClr val="3D4A57"/>
                </a:solidFill>
                <a:latin typeface="IBM Plex Sans" pitchFamily="34" charset="0"/>
                <a:ea typeface="IBM Plex Sans" pitchFamily="34" charset="-122"/>
                <a:cs typeface="IBM Plex Sans" pitchFamily="34" charset="-120"/>
              </a:rPr>
              <a:t>Archaea split off first</a:t>
            </a:r>
            <a:r>
              <a:rPr lang="en-US" sz="1300" dirty="0">
                <a:solidFill>
                  <a:srgbClr val="3D4A57"/>
                </a:solidFill>
                <a:latin typeface="IBM Plex Sans" pitchFamily="34" charset="0"/>
                <a:ea typeface="IBM Plex Sans" pitchFamily="34" charset="-122"/>
                <a:cs typeface="IBM Plex Sans" pitchFamily="34" charset="-120"/>
              </a:rPr>
              <a:t>, and bacteria and ourselves are the close pair.</a:t>
            </a:r>
            <a:endParaRPr lang="en-US" sz="1300" dirty="0"/>
          </a:p>
        </p:txBody>
      </p:sp>
      <p:sp>
        <p:nvSpPr>
          <p:cNvPr id="16" name="Shape 12"/>
          <p:cNvSpPr/>
          <p:nvPr/>
        </p:nvSpPr>
        <p:spPr>
          <a:xfrm>
            <a:off x="7995682" y="1882775"/>
            <a:ext cx="3380343" cy="2652395"/>
          </a:xfrm>
          <a:prstGeom prst="roundRect">
            <a:avLst>
              <a:gd name="adj" fmla="val 3711"/>
            </a:avLst>
          </a:prstGeom>
          <a:solidFill>
            <a:srgbClr val="FDFBF7"/>
          </a:solidFill>
          <a:ln w="6350">
            <a:solidFill>
              <a:srgbClr val="E0D8C9"/>
            </a:solidFill>
            <a:prstDash val="solid"/>
          </a:ln>
        </p:spPr>
      </p:sp>
      <p:pic>
        <p:nvPicPr>
          <p:cNvPr id="17" name="Image 2" descr="A rooted tree in which Eucarya branches first and Bacteria and Archaea are sisters">    </p:cNvPr>
          <p:cNvPicPr>
            <a:picLocks noChangeAspect="1"/>
          </p:cNvPicPr>
          <p:nvPr/>
        </p:nvPicPr>
        <p:blipFill>
          <a:blip r:embed="rId3"/>
          <a:srcRect l="0" r="0" t="0" b="0"/>
          <a:stretch/>
        </p:blipFill>
        <p:spPr>
          <a:xfrm>
            <a:off x="8200787" y="2087885"/>
            <a:ext cx="2921000" cy="1397000"/>
          </a:xfrm>
          <a:prstGeom prst="rect">
            <a:avLst/>
          </a:prstGeom>
        </p:spPr>
      </p:pic>
      <p:sp>
        <p:nvSpPr>
          <p:cNvPr id="18" name="Text 13"/>
          <p:cNvSpPr/>
          <p:nvPr/>
        </p:nvSpPr>
        <p:spPr>
          <a:xfrm>
            <a:off x="8175387" y="3218185"/>
            <a:ext cx="939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Eucarya</a:t>
            </a:r>
            <a:endParaRPr lang="en-US" sz="1200" dirty="0"/>
          </a:p>
        </p:txBody>
      </p:sp>
      <p:sp>
        <p:nvSpPr>
          <p:cNvPr id="19" name="Text 14"/>
          <p:cNvSpPr/>
          <p:nvPr/>
        </p:nvSpPr>
        <p:spPr>
          <a:xfrm>
            <a:off x="9191387" y="3218185"/>
            <a:ext cx="939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Bacteria</a:t>
            </a:r>
            <a:endParaRPr lang="en-US" sz="1200" dirty="0"/>
          </a:p>
        </p:txBody>
      </p:sp>
      <p:sp>
        <p:nvSpPr>
          <p:cNvPr id="20" name="Text 15"/>
          <p:cNvSpPr/>
          <p:nvPr/>
        </p:nvSpPr>
        <p:spPr>
          <a:xfrm>
            <a:off x="10207387" y="3218185"/>
            <a:ext cx="939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6FA5"/>
                </a:solidFill>
                <a:latin typeface="IBM Plex Sans" pitchFamily="34" charset="0"/>
                <a:ea typeface="IBM Plex Sans" pitchFamily="34" charset="-122"/>
                <a:cs typeface="IBM Plex Sans" pitchFamily="34" charset="-120"/>
              </a:rPr>
              <a:t>Archaea</a:t>
            </a:r>
            <a:endParaRPr lang="en-US" sz="1200" dirty="0"/>
          </a:p>
        </p:txBody>
      </p:sp>
      <p:sp>
        <p:nvSpPr>
          <p:cNvPr id="21" name="Text 16"/>
          <p:cNvSpPr/>
          <p:nvPr/>
        </p:nvSpPr>
        <p:spPr>
          <a:xfrm>
            <a:off x="8200787" y="3611885"/>
            <a:ext cx="305923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Root on the eukaryotic branch. </a:t>
            </a:r>
            <a:r>
              <a:rPr lang="en-US" sz="1300" b="1" dirty="0">
                <a:solidFill>
                  <a:srgbClr val="3D4A57"/>
                </a:solidFill>
                <a:latin typeface="IBM Plex Sans" pitchFamily="34" charset="0"/>
                <a:ea typeface="IBM Plex Sans" pitchFamily="34" charset="-122"/>
                <a:cs typeface="IBM Plex Sans" pitchFamily="34" charset="-120"/>
              </a:rPr>
              <a:t>Eucarya split off first</a:t>
            </a:r>
            <a:r>
              <a:rPr lang="en-US" sz="1300" dirty="0">
                <a:solidFill>
                  <a:srgbClr val="3D4A57"/>
                </a:solidFill>
                <a:latin typeface="IBM Plex Sans" pitchFamily="34" charset="0"/>
                <a:ea typeface="IBM Plex Sans" pitchFamily="34" charset="-122"/>
                <a:cs typeface="IBM Plex Sans" pitchFamily="34" charset="-120"/>
              </a:rPr>
              <a:t> — the story that flattered us for most of a century.</a:t>
            </a:r>
            <a:endParaRPr lang="en-US" sz="1300" dirty="0"/>
          </a:p>
        </p:txBody>
      </p:sp>
      <p:sp>
        <p:nvSpPr>
          <p:cNvPr id="22" name="Shape 17"/>
          <p:cNvSpPr/>
          <p:nvPr/>
        </p:nvSpPr>
        <p:spPr>
          <a:xfrm>
            <a:off x="812800" y="4741552"/>
            <a:ext cx="10566400" cy="845820"/>
          </a:xfrm>
          <a:prstGeom prst="roundRect">
            <a:avLst>
              <a:gd name="adj" fmla="val 9009"/>
            </a:avLst>
          </a:prstGeom>
          <a:solidFill>
            <a:srgbClr val="17222E"/>
          </a:solidFill>
          <a:ln/>
        </p:spPr>
      </p:sp>
      <p:sp>
        <p:nvSpPr>
          <p:cNvPr id="23" name="Text 18"/>
          <p:cNvSpPr/>
          <p:nvPr/>
        </p:nvSpPr>
        <p:spPr>
          <a:xfrm>
            <a:off x="1041400" y="4906652"/>
            <a:ext cx="10412476"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4F1EA"/>
                </a:solidFill>
                <a:latin typeface="IBM Plex Sans" pitchFamily="34" charset="0"/>
                <a:ea typeface="IBM Plex Sans" pitchFamily="34" charset="-122"/>
                <a:cs typeface="IBM Plex Sans" pitchFamily="34" charset="-120"/>
              </a:rPr>
              <a:t>All three are the </a:t>
            </a:r>
            <a:r>
              <a:rPr lang="en-US" sz="1400" b="1" dirty="0">
                <a:solidFill>
                  <a:srgbClr val="F4F1EA"/>
                </a:solidFill>
                <a:latin typeface="IBM Plex Sans" pitchFamily="34" charset="0"/>
                <a:ea typeface="IBM Plex Sans" pitchFamily="34" charset="-122"/>
                <a:cs typeface="IBM Plex Sans" pitchFamily="34" charset="-120"/>
              </a:rPr>
              <a:t>same unrooted tree</a:t>
            </a:r>
            <a:r>
              <a:rPr lang="en-US" sz="1400" dirty="0">
                <a:solidFill>
                  <a:srgbClr val="F4F1EA"/>
                </a:solidFill>
                <a:latin typeface="IBM Plex Sans" pitchFamily="34" charset="0"/>
                <a:ea typeface="IBM Plex Sans" pitchFamily="34" charset="-122"/>
                <a:cs typeface="IBM Plex Sans" pitchFamily="34" charset="-120"/>
              </a:rPr>
              <a:t>. The alignment cannot choose between them, and the usual fix — add an outgroup — is not available: there is nothing alive outside life.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C2E"/>
                </a:solidFill>
                <a:latin typeface="IBM Plex Sans" pitchFamily="34" charset="0"/>
                <a:ea typeface="IBM Plex Sans" pitchFamily="34" charset="-122"/>
                <a:cs typeface="IBM Plex Sans" pitchFamily="34" charset="-120"/>
              </a:rPr>
              <a:t>THE WAY OUT</a:t>
            </a:r>
            <a:endParaRPr lang="en-US" sz="1200" dirty="0"/>
          </a:p>
        </p:txBody>
      </p:sp>
      <p:sp>
        <p:nvSpPr>
          <p:cNvPr id="3" name="Text 1"/>
          <p:cNvSpPr/>
          <p:nvPr/>
        </p:nvSpPr>
        <p:spPr>
          <a:xfrm>
            <a:off x="812800" y="1229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222E"/>
                </a:solidFill>
                <a:latin typeface="EB Garamond" pitchFamily="34" charset="0"/>
                <a:ea typeface="EB Garamond" pitchFamily="34" charset="-122"/>
                <a:cs typeface="EB Garamond" pitchFamily="34" charset="-120"/>
              </a:rPr>
              <a:t>Find a gene that duplicated </a:t>
            </a:r>
            <a:r>
              <a:rPr lang="en-US" sz="3200" b="1" i="1" dirty="0">
                <a:solidFill>
                  <a:srgbClr val="17222E"/>
                </a:solidFill>
                <a:latin typeface="EB Garamond" pitchFamily="34" charset="0"/>
                <a:ea typeface="EB Garamond" pitchFamily="34" charset="-122"/>
                <a:cs typeface="EB Garamond" pitchFamily="34" charset="-120"/>
              </a:rPr>
              <a:t>before</a:t>
            </a:r>
            <a:r>
              <a:rPr lang="en-US" sz="3200" b="1" dirty="0">
                <a:solidFill>
                  <a:srgbClr val="17222E"/>
                </a:solidFill>
                <a:latin typeface="EB Garamond" pitchFamily="34" charset="0"/>
                <a:ea typeface="EB Garamond" pitchFamily="34" charset="-122"/>
                <a:cs typeface="EB Garamond" pitchFamily="34" charset="-120"/>
              </a:rPr>
              <a:t> the last common ancestor</a:t>
            </a:r>
            <a:endParaRPr lang="en-US" sz="3200" dirty="0"/>
          </a:p>
        </p:txBody>
      </p:sp>
      <p:sp>
        <p:nvSpPr>
          <p:cNvPr id="4" name="Shape 2"/>
          <p:cNvSpPr/>
          <p:nvPr/>
        </p:nvSpPr>
        <p:spPr>
          <a:xfrm>
            <a:off x="815975" y="1882775"/>
            <a:ext cx="4946650" cy="3295650"/>
          </a:xfrm>
          <a:prstGeom prst="roundRect">
            <a:avLst>
              <a:gd name="adj" fmla="val 2987"/>
            </a:avLst>
          </a:prstGeom>
          <a:solidFill>
            <a:srgbClr val="FFFDF8"/>
          </a:solidFill>
          <a:ln w="6350">
            <a:solidFill>
              <a:srgbClr val="E4DDD0"/>
            </a:solidFill>
            <a:prstDash val="solid"/>
          </a:ln>
        </p:spPr>
      </p:sp>
      <p:pic>
        <p:nvPicPr>
          <p:cNvPr id="5" name="Image 0" descr="A single ancestral gene duplicates into two copies before LUCA; below LUCA each copy is inherited by all three domains, drawn as two triangles">    </p:cNvPr>
          <p:cNvPicPr>
            <a:picLocks noChangeAspect="1"/>
          </p:cNvPicPr>
          <p:nvPr/>
        </p:nvPicPr>
        <p:blipFill>
          <a:blip r:embed="rId1"/>
          <a:srcRect l="0" r="0" t="0" b="0"/>
          <a:stretch/>
        </p:blipFill>
        <p:spPr>
          <a:xfrm>
            <a:off x="812800" y="1879600"/>
            <a:ext cx="4953000" cy="3302000"/>
          </a:xfrm>
          <a:prstGeom prst="rect">
            <a:avLst/>
          </a:prstGeom>
        </p:spPr>
      </p:pic>
      <p:sp>
        <p:nvSpPr>
          <p:cNvPr id="6" name="Text 3"/>
          <p:cNvSpPr/>
          <p:nvPr/>
        </p:nvSpPr>
        <p:spPr>
          <a:xfrm>
            <a:off x="3441700" y="2159000"/>
            <a:ext cx="222377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222E"/>
                </a:solidFill>
                <a:latin typeface="IBM Plex Sans" pitchFamily="34" charset="0"/>
                <a:ea typeface="IBM Plex Sans" pitchFamily="34" charset="-122"/>
                <a:cs typeface="IBM Plex Sans" pitchFamily="34" charset="-120"/>
              </a:rPr>
              <a:t>one ancient duplication</a:t>
            </a:r>
            <a:endParaRPr lang="en-US" sz="1300" dirty="0"/>
          </a:p>
        </p:txBody>
      </p:sp>
      <p:sp>
        <p:nvSpPr>
          <p:cNvPr id="7" name="Text 4"/>
          <p:cNvSpPr/>
          <p:nvPr/>
        </p:nvSpPr>
        <p:spPr>
          <a:xfrm>
            <a:off x="4318000" y="3543300"/>
            <a:ext cx="1193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LUCA</a:t>
            </a:r>
            <a:endParaRPr lang="en-US" sz="1200" dirty="0"/>
          </a:p>
        </p:txBody>
      </p:sp>
      <p:sp>
        <p:nvSpPr>
          <p:cNvPr id="8" name="Text 5"/>
          <p:cNvSpPr/>
          <p:nvPr/>
        </p:nvSpPr>
        <p:spPr>
          <a:xfrm>
            <a:off x="1422400" y="4749800"/>
            <a:ext cx="13208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E6E6B"/>
                </a:solidFill>
                <a:latin typeface="IBM Plex Sans" pitchFamily="34" charset="0"/>
                <a:ea typeface="IBM Plex Sans" pitchFamily="34" charset="-122"/>
                <a:cs typeface="IBM Plex Sans" pitchFamily="34" charset="-120"/>
              </a:rPr>
              <a:t>EF-Tu</a:t>
            </a:r>
            <a:endParaRPr lang="en-US" sz="1500" dirty="0"/>
          </a:p>
        </p:txBody>
      </p:sp>
      <p:sp>
        <p:nvSpPr>
          <p:cNvPr id="9" name="Text 6"/>
          <p:cNvSpPr/>
          <p:nvPr/>
        </p:nvSpPr>
        <p:spPr>
          <a:xfrm>
            <a:off x="3835400" y="4749800"/>
            <a:ext cx="13208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24C2E"/>
                </a:solidFill>
                <a:latin typeface="IBM Plex Sans" pitchFamily="34" charset="0"/>
                <a:ea typeface="IBM Plex Sans" pitchFamily="34" charset="-122"/>
                <a:cs typeface="IBM Plex Sans" pitchFamily="34" charset="-120"/>
              </a:rPr>
              <a:t>EF-G</a:t>
            </a:r>
            <a:endParaRPr lang="en-US" sz="1500" dirty="0"/>
          </a:p>
        </p:txBody>
      </p:sp>
      <p:sp>
        <p:nvSpPr>
          <p:cNvPr id="10" name="Text 7"/>
          <p:cNvSpPr/>
          <p:nvPr/>
        </p:nvSpPr>
        <p:spPr>
          <a:xfrm>
            <a:off x="1000125" y="5003800"/>
            <a:ext cx="457835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each triangle contains Bacteria, Archaea and Eucarya</a:t>
            </a:r>
            <a:endParaRPr lang="en-US" sz="1200" dirty="0"/>
          </a:p>
        </p:txBody>
      </p:sp>
      <p:sp>
        <p:nvSpPr>
          <p:cNvPr id="11" name="Shape 8"/>
          <p:cNvSpPr/>
          <p:nvPr/>
        </p:nvSpPr>
        <p:spPr>
          <a:xfrm>
            <a:off x="6019800" y="1879600"/>
            <a:ext cx="5359400" cy="1302385"/>
          </a:xfrm>
          <a:prstGeom prst="roundRect">
            <a:avLst>
              <a:gd name="adj" fmla="val 3901"/>
            </a:avLst>
          </a:prstGeom>
          <a:solidFill>
            <a:srgbClr val="FFFDF8"/>
          </a:solidFill>
          <a:ln/>
        </p:spPr>
      </p:sp>
      <p:sp>
        <p:nvSpPr>
          <p:cNvPr id="12" name="Shape 9"/>
          <p:cNvSpPr/>
          <p:nvPr/>
        </p:nvSpPr>
        <p:spPr>
          <a:xfrm>
            <a:off x="6045200" y="1879600"/>
            <a:ext cx="0" cy="1302385"/>
          </a:xfrm>
          <a:prstGeom prst="line">
            <a:avLst/>
          </a:prstGeom>
          <a:noFill/>
          <a:ln w="50800">
            <a:solidFill>
              <a:srgbClr val="2E6E6B"/>
            </a:solidFill>
            <a:prstDash val="solid"/>
          </a:ln>
        </p:spPr>
      </p:sp>
      <p:sp>
        <p:nvSpPr>
          <p:cNvPr id="13" name="Text 10"/>
          <p:cNvSpPr/>
          <p:nvPr/>
        </p:nvSpPr>
        <p:spPr>
          <a:xfrm>
            <a:off x="6248400" y="2032000"/>
            <a:ext cx="51015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22E"/>
                </a:solidFill>
                <a:latin typeface="IBM Plex Sans" pitchFamily="34" charset="0"/>
                <a:ea typeface="IBM Plex Sans" pitchFamily="34" charset="-122"/>
                <a:cs typeface="IBM Plex Sans" pitchFamily="34" charset="-120"/>
              </a:rPr>
              <a:t>The duplication came first</a:t>
            </a:r>
            <a:endParaRPr lang="en-US" sz="1500" dirty="0"/>
          </a:p>
        </p:txBody>
      </p:sp>
      <p:sp>
        <p:nvSpPr>
          <p:cNvPr id="14" name="Text 11"/>
          <p:cNvSpPr/>
          <p:nvPr/>
        </p:nvSpPr>
        <p:spPr>
          <a:xfrm>
            <a:off x="6248400" y="2311400"/>
            <a:ext cx="5101590"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Elongation factors EF-Tu and EF-G are both needed for translation, and </a:t>
            </a:r>
            <a:r>
              <a:rPr lang="en-US" sz="1300" b="1" dirty="0">
                <a:solidFill>
                  <a:srgbClr val="3D4A57"/>
                </a:solidFill>
                <a:latin typeface="IBM Plex Sans" pitchFamily="34" charset="0"/>
                <a:ea typeface="IBM Plex Sans" pitchFamily="34" charset="-122"/>
                <a:cs typeface="IBM Plex Sans" pitchFamily="34" charset="-120"/>
              </a:rPr>
              <a:t>every organism has both</a:t>
            </a:r>
            <a:r>
              <a:rPr lang="en-US" sz="1300" dirty="0">
                <a:solidFill>
                  <a:srgbClr val="3D4A57"/>
                </a:solidFill>
                <a:latin typeface="IBM Plex Sans" pitchFamily="34" charset="0"/>
                <a:ea typeface="IBM Plex Sans" pitchFamily="34" charset="-122"/>
                <a:cs typeface="IBM Plex Sans" pitchFamily="34" charset="-120"/>
              </a:rPr>
              <a:t>. The only way that happens is if the duplication happened before LUCA.</a:t>
            </a:r>
            <a:endParaRPr lang="en-US" sz="1300" dirty="0"/>
          </a:p>
        </p:txBody>
      </p:sp>
      <p:sp>
        <p:nvSpPr>
          <p:cNvPr id="15" name="Shape 12"/>
          <p:cNvSpPr/>
          <p:nvPr/>
        </p:nvSpPr>
        <p:spPr>
          <a:xfrm>
            <a:off x="6019800" y="3321683"/>
            <a:ext cx="5359400" cy="1302385"/>
          </a:xfrm>
          <a:prstGeom prst="roundRect">
            <a:avLst>
              <a:gd name="adj" fmla="val 3901"/>
            </a:avLst>
          </a:prstGeom>
          <a:solidFill>
            <a:srgbClr val="FFFDF8"/>
          </a:solidFill>
          <a:ln/>
        </p:spPr>
      </p:sp>
      <p:sp>
        <p:nvSpPr>
          <p:cNvPr id="16" name="Shape 13"/>
          <p:cNvSpPr/>
          <p:nvPr/>
        </p:nvSpPr>
        <p:spPr>
          <a:xfrm>
            <a:off x="6045200" y="3321683"/>
            <a:ext cx="0" cy="1302385"/>
          </a:xfrm>
          <a:prstGeom prst="line">
            <a:avLst/>
          </a:prstGeom>
          <a:noFill/>
          <a:ln w="50800">
            <a:solidFill>
              <a:srgbClr val="2E6E6B"/>
            </a:solidFill>
            <a:prstDash val="solid"/>
          </a:ln>
        </p:spPr>
      </p:sp>
      <p:sp>
        <p:nvSpPr>
          <p:cNvPr id="17" name="Text 14"/>
          <p:cNvSpPr/>
          <p:nvPr/>
        </p:nvSpPr>
        <p:spPr>
          <a:xfrm>
            <a:off x="6248400" y="3474083"/>
            <a:ext cx="51015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22E"/>
                </a:solidFill>
                <a:latin typeface="IBM Plex Sans" pitchFamily="34" charset="0"/>
                <a:ea typeface="IBM Plex Sans" pitchFamily="34" charset="-122"/>
                <a:cs typeface="IBM Plex Sans" pitchFamily="34" charset="-120"/>
              </a:rPr>
              <a:t>So each copy has the same shape</a:t>
            </a:r>
            <a:endParaRPr lang="en-US" sz="1500" dirty="0"/>
          </a:p>
        </p:txBody>
      </p:sp>
      <p:sp>
        <p:nvSpPr>
          <p:cNvPr id="18" name="Text 15"/>
          <p:cNvSpPr/>
          <p:nvPr/>
        </p:nvSpPr>
        <p:spPr>
          <a:xfrm>
            <a:off x="6248400" y="3753483"/>
            <a:ext cx="5101590"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Both families were carried down through every later split, so </a:t>
            </a:r>
            <a:r>
              <a:rPr lang="en-US" sz="1300" b="1" dirty="0">
                <a:solidFill>
                  <a:srgbClr val="3D4A57"/>
                </a:solidFill>
                <a:latin typeface="IBM Plex Sans" pitchFamily="34" charset="0"/>
                <a:ea typeface="IBM Plex Sans" pitchFamily="34" charset="-122"/>
                <a:cs typeface="IBM Plex Sans" pitchFamily="34" charset="-120"/>
              </a:rPr>
              <a:t>each one contains all three domains</a:t>
            </a:r>
            <a:r>
              <a:rPr lang="en-US" sz="1300" dirty="0">
                <a:solidFill>
                  <a:srgbClr val="3D4A57"/>
                </a:solidFill>
                <a:latin typeface="IBM Plex Sans" pitchFamily="34" charset="0"/>
                <a:ea typeface="IBM Plex Sans" pitchFamily="34" charset="-122"/>
                <a:cs typeface="IBM Plex Sans" pitchFamily="34" charset="-120"/>
              </a:rPr>
              <a:t> — two independent copies of the same history.</a:t>
            </a:r>
            <a:endParaRPr lang="en-US" sz="1300" dirty="0"/>
          </a:p>
        </p:txBody>
      </p:sp>
      <p:sp>
        <p:nvSpPr>
          <p:cNvPr id="19" name="Shape 16"/>
          <p:cNvSpPr/>
          <p:nvPr/>
        </p:nvSpPr>
        <p:spPr>
          <a:xfrm>
            <a:off x="6019800" y="4763777"/>
            <a:ext cx="5359400" cy="1078230"/>
          </a:xfrm>
          <a:prstGeom prst="roundRect">
            <a:avLst>
              <a:gd name="adj" fmla="val 4711"/>
            </a:avLst>
          </a:prstGeom>
          <a:solidFill>
            <a:srgbClr val="2E6E6B"/>
          </a:solidFill>
          <a:ln/>
        </p:spPr>
      </p:sp>
      <p:sp>
        <p:nvSpPr>
          <p:cNvPr id="20" name="Text 17"/>
          <p:cNvSpPr/>
          <p:nvPr/>
        </p:nvSpPr>
        <p:spPr>
          <a:xfrm>
            <a:off x="6197600" y="4916177"/>
            <a:ext cx="515391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FFDF8"/>
                </a:solidFill>
                <a:latin typeface="IBM Plex Sans" pitchFamily="34" charset="0"/>
                <a:ea typeface="IBM Plex Sans" pitchFamily="34" charset="-122"/>
                <a:cs typeface="IBM Plex Sans" pitchFamily="34" charset="-120"/>
              </a:rPr>
              <a:t>And that gives you the outgroup. The EF-G family sits outside the EF-Tu family in time, so </a:t>
            </a:r>
            <a:r>
              <a:rPr lang="en-US" sz="1400" b="1" dirty="0">
                <a:solidFill>
                  <a:srgbClr val="FFFDF8"/>
                </a:solidFill>
                <a:latin typeface="IBM Plex Sans" pitchFamily="34" charset="0"/>
                <a:ea typeface="IBM Plex Sans" pitchFamily="34" charset="-122"/>
                <a:cs typeface="IBM Plex Sans" pitchFamily="34" charset="-120"/>
              </a:rPr>
              <a:t>each family roots the other</a:t>
            </a:r>
            <a:r>
              <a:rPr lang="en-US" sz="1400" dirty="0">
                <a:solidFill>
                  <a:srgbClr val="FFFDF8"/>
                </a:solidFill>
                <a:latin typeface="IBM Plex Sans" pitchFamily="34" charset="0"/>
                <a:ea typeface="IBM Plex Sans" pitchFamily="34" charset="-122"/>
                <a:cs typeface="IBM Plex Sans" pitchFamily="34" charset="-120"/>
              </a:rPr>
              <a:t> — without needing an organism from outside life.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222E"/>
                </a:solidFill>
                <a:latin typeface="EB Garamond" pitchFamily="34" charset="0"/>
                <a:ea typeface="EB Garamond" pitchFamily="34" charset="-122"/>
                <a:cs typeface="EB Garamond" pitchFamily="34" charset="-120"/>
              </a:rPr>
              <a:t>Analyse both copies together and the tree roots itself</a:t>
            </a:r>
            <a:endParaRPr lang="en-US" sz="3200" dirty="0"/>
          </a:p>
        </p:txBody>
      </p:sp>
      <p:pic>
        <p:nvPicPr>
          <p:cNvPr id="3" name="Image 0" descr="One tree containing both elongation factor families; the deepest split is the duplication, and each family contains Bacteria, Archaea and Eucarya with the same branching order">    </p:cNvPr>
          <p:cNvPicPr>
            <a:picLocks noChangeAspect="1"/>
          </p:cNvPicPr>
          <p:nvPr/>
        </p:nvPicPr>
        <p:blipFill>
          <a:blip r:embed="rId1"/>
          <a:srcRect l="-33" r="-33" t="0" b="0"/>
          <a:stretch/>
        </p:blipFill>
        <p:spPr>
          <a:xfrm>
            <a:off x="812800" y="1412242"/>
            <a:ext cx="10566400" cy="2413000"/>
          </a:xfrm>
          <a:prstGeom prst="rect">
            <a:avLst/>
          </a:prstGeom>
        </p:spPr>
      </p:pic>
      <p:sp>
        <p:nvSpPr>
          <p:cNvPr id="4" name="Text 1"/>
          <p:cNvSpPr/>
          <p:nvPr/>
        </p:nvSpPr>
        <p:spPr>
          <a:xfrm>
            <a:off x="1066800" y="1539242"/>
            <a:ext cx="2354580"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The deepest split is the </a:t>
            </a:r>
            <a:r>
              <a:rPr lang="en-US" sz="1200" b="1" dirty="0">
                <a:solidFill>
                  <a:srgbClr val="55616E"/>
                </a:solidFill>
                <a:latin typeface="IBM Plex Sans" pitchFamily="34" charset="0"/>
                <a:ea typeface="IBM Plex Sans" pitchFamily="34" charset="-122"/>
                <a:cs typeface="IBM Plex Sans" pitchFamily="34" charset="-120"/>
              </a:rPr>
              <a:t>duplication</a:t>
            </a:r>
            <a:r>
              <a:rPr lang="en-US" sz="1200" dirty="0">
                <a:solidFill>
                  <a:srgbClr val="55616E"/>
                </a:solidFill>
                <a:latin typeface="IBM Plex Sans" pitchFamily="34" charset="0"/>
                <a:ea typeface="IBM Plex Sans" pitchFamily="34" charset="-122"/>
                <a:cs typeface="IBM Plex Sans" pitchFamily="34" charset="-120"/>
              </a:rPr>
              <a:t> — older than every speciation on this tree, which is exactly what an outgroup has to be.</a:t>
            </a:r>
            <a:endParaRPr lang="en-US" sz="1200" dirty="0"/>
          </a:p>
        </p:txBody>
      </p:sp>
      <p:sp>
        <p:nvSpPr>
          <p:cNvPr id="5" name="Text 2"/>
          <p:cNvSpPr/>
          <p:nvPr/>
        </p:nvSpPr>
        <p:spPr>
          <a:xfrm>
            <a:off x="1295400" y="3355342"/>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Bacteria</a:t>
            </a:r>
            <a:endParaRPr lang="en-US" sz="1200" dirty="0"/>
          </a:p>
        </p:txBody>
      </p:sp>
      <p:sp>
        <p:nvSpPr>
          <p:cNvPr id="6" name="Text 3"/>
          <p:cNvSpPr/>
          <p:nvPr/>
        </p:nvSpPr>
        <p:spPr>
          <a:xfrm>
            <a:off x="2946400" y="3355342"/>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Archaea</a:t>
            </a:r>
            <a:endParaRPr lang="en-US" sz="1200" dirty="0"/>
          </a:p>
        </p:txBody>
      </p:sp>
      <p:sp>
        <p:nvSpPr>
          <p:cNvPr id="7" name="Text 4"/>
          <p:cNvSpPr/>
          <p:nvPr/>
        </p:nvSpPr>
        <p:spPr>
          <a:xfrm>
            <a:off x="4470400" y="3355342"/>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Eucarya</a:t>
            </a:r>
            <a:endParaRPr lang="en-US" sz="1200" dirty="0"/>
          </a:p>
        </p:txBody>
      </p:sp>
      <p:sp>
        <p:nvSpPr>
          <p:cNvPr id="8" name="Text 5"/>
          <p:cNvSpPr/>
          <p:nvPr/>
        </p:nvSpPr>
        <p:spPr>
          <a:xfrm>
            <a:off x="6654800" y="3355342"/>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Bacteria</a:t>
            </a:r>
            <a:endParaRPr lang="en-US" sz="1200" dirty="0"/>
          </a:p>
        </p:txBody>
      </p:sp>
      <p:sp>
        <p:nvSpPr>
          <p:cNvPr id="9" name="Text 6"/>
          <p:cNvSpPr/>
          <p:nvPr/>
        </p:nvSpPr>
        <p:spPr>
          <a:xfrm>
            <a:off x="7988300" y="3355342"/>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Archaea</a:t>
            </a:r>
            <a:endParaRPr lang="en-US" sz="1200" dirty="0"/>
          </a:p>
        </p:txBody>
      </p:sp>
      <p:sp>
        <p:nvSpPr>
          <p:cNvPr id="10" name="Text 7"/>
          <p:cNvSpPr/>
          <p:nvPr/>
        </p:nvSpPr>
        <p:spPr>
          <a:xfrm>
            <a:off x="9448800" y="3355342"/>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Eucarya</a:t>
            </a:r>
            <a:endParaRPr lang="en-US" sz="1200" dirty="0"/>
          </a:p>
        </p:txBody>
      </p:sp>
      <p:sp>
        <p:nvSpPr>
          <p:cNvPr id="11" name="Text 8"/>
          <p:cNvSpPr/>
          <p:nvPr/>
        </p:nvSpPr>
        <p:spPr>
          <a:xfrm>
            <a:off x="1254125" y="3596642"/>
            <a:ext cx="457835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2E6E6B"/>
                </a:solidFill>
                <a:latin typeface="IBM Plex Sans" pitchFamily="34" charset="0"/>
                <a:ea typeface="IBM Plex Sans" pitchFamily="34" charset="-122"/>
                <a:cs typeface="IBM Plex Sans" pitchFamily="34" charset="-120"/>
              </a:rPr>
              <a:t>EF-Tu family</a:t>
            </a:r>
            <a:endParaRPr lang="en-US" sz="1400" dirty="0"/>
          </a:p>
        </p:txBody>
      </p:sp>
      <p:sp>
        <p:nvSpPr>
          <p:cNvPr id="12" name="Text 9"/>
          <p:cNvSpPr/>
          <p:nvPr/>
        </p:nvSpPr>
        <p:spPr>
          <a:xfrm>
            <a:off x="6619240" y="3596642"/>
            <a:ext cx="418592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B24C2E"/>
                </a:solidFill>
                <a:latin typeface="IBM Plex Sans" pitchFamily="34" charset="0"/>
                <a:ea typeface="IBM Plex Sans" pitchFamily="34" charset="-122"/>
                <a:cs typeface="IBM Plex Sans" pitchFamily="34" charset="-120"/>
              </a:rPr>
              <a:t>EF-G family</a:t>
            </a:r>
            <a:endParaRPr lang="en-US" sz="1400" dirty="0"/>
          </a:p>
        </p:txBody>
      </p:sp>
      <p:sp>
        <p:nvSpPr>
          <p:cNvPr id="13" name="Text 10"/>
          <p:cNvSpPr/>
          <p:nvPr/>
        </p:nvSpPr>
        <p:spPr>
          <a:xfrm>
            <a:off x="812800" y="3977642"/>
            <a:ext cx="5337048"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7222E"/>
                </a:solidFill>
                <a:latin typeface="IBM Plex Sans" pitchFamily="34" charset="0"/>
                <a:ea typeface="IBM Plex Sans" pitchFamily="34" charset="-122"/>
                <a:cs typeface="IBM Plex Sans" pitchFamily="34" charset="-120"/>
              </a:rPr>
              <a:t>Read the </a:t>
            </a:r>
            <a:r>
              <a:rPr lang="en-US" sz="1300" b="1" dirty="0">
                <a:solidFill>
                  <a:srgbClr val="17222E"/>
                </a:solidFill>
                <a:latin typeface="IBM Plex Sans" pitchFamily="34" charset="0"/>
                <a:ea typeface="IBM Plex Sans" pitchFamily="34" charset="-122"/>
                <a:cs typeface="IBM Plex Sans" pitchFamily="34" charset="-120"/>
              </a:rPr>
              <a:t>EF-Tu half</a:t>
            </a:r>
            <a:r>
              <a:rPr lang="en-US" sz="1300" dirty="0">
                <a:solidFill>
                  <a:srgbClr val="17222E"/>
                </a:solidFill>
                <a:latin typeface="IBM Plex Sans" pitchFamily="34" charset="0"/>
                <a:ea typeface="IBM Plex Sans" pitchFamily="34" charset="-122"/>
                <a:cs typeface="IBM Plex Sans" pitchFamily="34" charset="-120"/>
              </a:rPr>
              <a:t>: the EF-G sequences sit outside it, and they put the root on the bacterial branch.</a:t>
            </a:r>
            <a:endParaRPr lang="en-US" sz="1300" dirty="0"/>
          </a:p>
        </p:txBody>
      </p:sp>
      <p:sp>
        <p:nvSpPr>
          <p:cNvPr id="14" name="Shape 11"/>
          <p:cNvSpPr/>
          <p:nvPr/>
        </p:nvSpPr>
        <p:spPr>
          <a:xfrm>
            <a:off x="815975" y="4510410"/>
            <a:ext cx="5175250" cy="1263650"/>
          </a:xfrm>
          <a:prstGeom prst="roundRect">
            <a:avLst>
              <a:gd name="adj" fmla="val 7789"/>
            </a:avLst>
          </a:prstGeom>
          <a:solidFill>
            <a:srgbClr val="FFFDF8"/>
          </a:solidFill>
          <a:ln w="6350">
            <a:solidFill>
              <a:srgbClr val="E4DDD0"/>
            </a:solidFill>
            <a:prstDash val="solid"/>
          </a:ln>
        </p:spPr>
      </p:sp>
      <p:pic>
        <p:nvPicPr>
          <p:cNvPr id="15" name="Image 1" descr="The EF-Tu family rooted with the EF-G family collapsed to a triangle as the outgroup; the root falls on the bacterial branch">    </p:cNvPr>
          <p:cNvPicPr>
            <a:picLocks noChangeAspect="1"/>
          </p:cNvPicPr>
          <p:nvPr/>
        </p:nvPicPr>
        <p:blipFill>
          <a:blip r:embed="rId2"/>
          <a:srcRect l="0" r="0" t="0" b="0"/>
          <a:stretch/>
        </p:blipFill>
        <p:spPr>
          <a:xfrm>
            <a:off x="812800" y="4507235"/>
            <a:ext cx="5181600" cy="1270000"/>
          </a:xfrm>
          <a:prstGeom prst="rect">
            <a:avLst/>
          </a:prstGeom>
        </p:spPr>
      </p:pic>
      <p:sp>
        <p:nvSpPr>
          <p:cNvPr id="16" name="Text 12"/>
          <p:cNvSpPr/>
          <p:nvPr/>
        </p:nvSpPr>
        <p:spPr>
          <a:xfrm>
            <a:off x="889000" y="4596135"/>
            <a:ext cx="7493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root</a:t>
            </a:r>
            <a:endParaRPr lang="en-US" sz="1200" dirty="0"/>
          </a:p>
        </p:txBody>
      </p:sp>
      <p:sp>
        <p:nvSpPr>
          <p:cNvPr id="17" name="Text 13"/>
          <p:cNvSpPr/>
          <p:nvPr/>
        </p:nvSpPr>
        <p:spPr>
          <a:xfrm>
            <a:off x="977900" y="5472435"/>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EF-G</a:t>
            </a:r>
            <a:endParaRPr lang="en-US" sz="1200" dirty="0"/>
          </a:p>
        </p:txBody>
      </p:sp>
      <p:sp>
        <p:nvSpPr>
          <p:cNvPr id="18" name="Text 14"/>
          <p:cNvSpPr/>
          <p:nvPr/>
        </p:nvSpPr>
        <p:spPr>
          <a:xfrm>
            <a:off x="2184400" y="5472435"/>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Bacteria</a:t>
            </a:r>
            <a:endParaRPr lang="en-US" sz="1200" dirty="0"/>
          </a:p>
        </p:txBody>
      </p:sp>
      <p:sp>
        <p:nvSpPr>
          <p:cNvPr id="19" name="Text 15"/>
          <p:cNvSpPr/>
          <p:nvPr/>
        </p:nvSpPr>
        <p:spPr>
          <a:xfrm>
            <a:off x="3263900" y="5472435"/>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Archaea</a:t>
            </a:r>
            <a:endParaRPr lang="en-US" sz="1200" dirty="0"/>
          </a:p>
        </p:txBody>
      </p:sp>
      <p:sp>
        <p:nvSpPr>
          <p:cNvPr id="20" name="Text 16"/>
          <p:cNvSpPr/>
          <p:nvPr/>
        </p:nvSpPr>
        <p:spPr>
          <a:xfrm>
            <a:off x="4343400" y="5472435"/>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Eucarya</a:t>
            </a:r>
            <a:endParaRPr lang="en-US" sz="1200" dirty="0"/>
          </a:p>
        </p:txBody>
      </p:sp>
      <p:sp>
        <p:nvSpPr>
          <p:cNvPr id="21" name="Text 17"/>
          <p:cNvSpPr/>
          <p:nvPr/>
        </p:nvSpPr>
        <p:spPr>
          <a:xfrm>
            <a:off x="6197600" y="3977642"/>
            <a:ext cx="5337048"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7222E"/>
                </a:solidFill>
                <a:latin typeface="IBM Plex Sans" pitchFamily="34" charset="0"/>
                <a:ea typeface="IBM Plex Sans" pitchFamily="34" charset="-122"/>
                <a:cs typeface="IBM Plex Sans" pitchFamily="34" charset="-120"/>
              </a:rPr>
              <a:t>Now read the </a:t>
            </a:r>
            <a:r>
              <a:rPr lang="en-US" sz="1300" b="1" dirty="0">
                <a:solidFill>
                  <a:srgbClr val="17222E"/>
                </a:solidFill>
                <a:latin typeface="IBM Plex Sans" pitchFamily="34" charset="0"/>
                <a:ea typeface="IBM Plex Sans" pitchFamily="34" charset="-122"/>
                <a:cs typeface="IBM Plex Sans" pitchFamily="34" charset="-120"/>
              </a:rPr>
              <a:t>EF-G half</a:t>
            </a:r>
            <a:r>
              <a:rPr lang="en-US" sz="1300" dirty="0">
                <a:solidFill>
                  <a:srgbClr val="17222E"/>
                </a:solidFill>
                <a:latin typeface="IBM Plex Sans" pitchFamily="34" charset="0"/>
                <a:ea typeface="IBM Plex Sans" pitchFamily="34" charset="-122"/>
                <a:cs typeface="IBM Plex Sans" pitchFamily="34" charset="-120"/>
              </a:rPr>
              <a:t>: the EF-Tu sequences are outside it, and they put the root in the same place.</a:t>
            </a:r>
            <a:endParaRPr lang="en-US" sz="1300" dirty="0"/>
          </a:p>
        </p:txBody>
      </p:sp>
      <p:sp>
        <p:nvSpPr>
          <p:cNvPr id="22" name="Shape 18"/>
          <p:cNvSpPr/>
          <p:nvPr/>
        </p:nvSpPr>
        <p:spPr>
          <a:xfrm>
            <a:off x="6200775" y="4510410"/>
            <a:ext cx="5175250" cy="1263650"/>
          </a:xfrm>
          <a:prstGeom prst="roundRect">
            <a:avLst>
              <a:gd name="adj" fmla="val 7789"/>
            </a:avLst>
          </a:prstGeom>
          <a:solidFill>
            <a:srgbClr val="FFFDF8"/>
          </a:solidFill>
          <a:ln w="6350">
            <a:solidFill>
              <a:srgbClr val="E4DDD0"/>
            </a:solidFill>
            <a:prstDash val="solid"/>
          </a:ln>
        </p:spPr>
      </p:sp>
      <p:pic>
        <p:nvPicPr>
          <p:cNvPr id="23" name="Image 2" descr="The EF-G family rooted with the EF-Tu family collapsed to a triangle as the outgroup; the root again falls on the bacterial branch">    </p:cNvPr>
          <p:cNvPicPr>
            <a:picLocks noChangeAspect="1"/>
          </p:cNvPicPr>
          <p:nvPr/>
        </p:nvPicPr>
        <p:blipFill>
          <a:blip r:embed="rId3"/>
          <a:srcRect l="0" r="0" t="0" b="0"/>
          <a:stretch/>
        </p:blipFill>
        <p:spPr>
          <a:xfrm>
            <a:off x="6197600" y="4507235"/>
            <a:ext cx="5181600" cy="1270000"/>
          </a:xfrm>
          <a:prstGeom prst="rect">
            <a:avLst/>
          </a:prstGeom>
        </p:spPr>
      </p:pic>
      <p:sp>
        <p:nvSpPr>
          <p:cNvPr id="24" name="Text 19"/>
          <p:cNvSpPr/>
          <p:nvPr/>
        </p:nvSpPr>
        <p:spPr>
          <a:xfrm>
            <a:off x="6273800" y="4596135"/>
            <a:ext cx="7493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7222E"/>
                </a:solidFill>
                <a:latin typeface="IBM Plex Sans" pitchFamily="34" charset="0"/>
                <a:ea typeface="IBM Plex Sans" pitchFamily="34" charset="-122"/>
                <a:cs typeface="IBM Plex Sans" pitchFamily="34" charset="-120"/>
              </a:rPr>
              <a:t>root</a:t>
            </a:r>
            <a:endParaRPr lang="en-US" sz="1200" dirty="0"/>
          </a:p>
        </p:txBody>
      </p:sp>
      <p:sp>
        <p:nvSpPr>
          <p:cNvPr id="25" name="Text 20"/>
          <p:cNvSpPr/>
          <p:nvPr/>
        </p:nvSpPr>
        <p:spPr>
          <a:xfrm>
            <a:off x="6362700" y="5472435"/>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E6E6B"/>
                </a:solidFill>
                <a:latin typeface="IBM Plex Sans" pitchFamily="34" charset="0"/>
                <a:ea typeface="IBM Plex Sans" pitchFamily="34" charset="-122"/>
                <a:cs typeface="IBM Plex Sans" pitchFamily="34" charset="-120"/>
              </a:rPr>
              <a:t>EF-Tu</a:t>
            </a:r>
            <a:endParaRPr lang="en-US" sz="1200" dirty="0"/>
          </a:p>
        </p:txBody>
      </p:sp>
      <p:sp>
        <p:nvSpPr>
          <p:cNvPr id="26" name="Text 21"/>
          <p:cNvSpPr/>
          <p:nvPr/>
        </p:nvSpPr>
        <p:spPr>
          <a:xfrm>
            <a:off x="7569200" y="5472435"/>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Bacteria</a:t>
            </a:r>
            <a:endParaRPr lang="en-US" sz="1200" dirty="0"/>
          </a:p>
        </p:txBody>
      </p:sp>
      <p:sp>
        <p:nvSpPr>
          <p:cNvPr id="27" name="Text 22"/>
          <p:cNvSpPr/>
          <p:nvPr/>
        </p:nvSpPr>
        <p:spPr>
          <a:xfrm>
            <a:off x="8648700" y="5472435"/>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Archaea</a:t>
            </a:r>
            <a:endParaRPr lang="en-US" sz="1200" dirty="0"/>
          </a:p>
        </p:txBody>
      </p:sp>
      <p:sp>
        <p:nvSpPr>
          <p:cNvPr id="28" name="Text 23"/>
          <p:cNvSpPr/>
          <p:nvPr/>
        </p:nvSpPr>
        <p:spPr>
          <a:xfrm>
            <a:off x="9728200" y="5472435"/>
            <a:ext cx="1066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Eucarya</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EC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4C2E"/>
                </a:solidFill>
                <a:latin typeface="IBM Plex Sans" pitchFamily="34" charset="0"/>
                <a:ea typeface="IBM Plex Sans" pitchFamily="34" charset="-122"/>
                <a:cs typeface="IBM Plex Sans" pitchFamily="34" charset="-120"/>
              </a:rPr>
              <a:t>THE ANSWER</a:t>
            </a:r>
            <a:endParaRPr lang="en-US" sz="1200" dirty="0"/>
          </a:p>
        </p:txBody>
      </p:sp>
      <p:sp>
        <p:nvSpPr>
          <p:cNvPr id="3" name="Text 1"/>
          <p:cNvSpPr/>
          <p:nvPr/>
        </p:nvSpPr>
        <p:spPr>
          <a:xfrm>
            <a:off x="812800" y="1254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7222E"/>
                </a:solidFill>
                <a:latin typeface="EB Garamond" pitchFamily="34" charset="0"/>
                <a:ea typeface="EB Garamond" pitchFamily="34" charset="-122"/>
                <a:cs typeface="EB Garamond" pitchFamily="34" charset="-120"/>
              </a:rPr>
              <a:t>The root sits on the bacterial branch</a:t>
            </a:r>
            <a:endParaRPr lang="en-US" sz="3200" dirty="0"/>
          </a:p>
        </p:txBody>
      </p:sp>
      <p:sp>
        <p:nvSpPr>
          <p:cNvPr id="4" name="Shape 2"/>
          <p:cNvSpPr/>
          <p:nvPr/>
        </p:nvSpPr>
        <p:spPr>
          <a:xfrm>
            <a:off x="815975" y="1933575"/>
            <a:ext cx="5708650" cy="3041650"/>
          </a:xfrm>
          <a:prstGeom prst="roundRect">
            <a:avLst>
              <a:gd name="adj" fmla="val 3236"/>
            </a:avLst>
          </a:prstGeom>
          <a:solidFill>
            <a:srgbClr val="FDFBF7"/>
          </a:solidFill>
          <a:ln w="6350">
            <a:solidFill>
              <a:srgbClr val="E0D8C9"/>
            </a:solidFill>
            <a:prstDash val="solid"/>
          </a:ln>
        </p:spPr>
      </p:sp>
      <p:pic>
        <p:nvPicPr>
          <p:cNvPr id="5" name="Image 0" descr="The tree of life rooted on the branch leading to Bacteria, with Archaea and Eucarya as sister groups">    </p:cNvPr>
          <p:cNvPicPr>
            <a:picLocks noChangeAspect="1"/>
          </p:cNvPicPr>
          <p:nvPr/>
        </p:nvPicPr>
        <p:blipFill>
          <a:blip r:embed="rId1"/>
          <a:srcRect l="0" r="0" t="0" b="0"/>
          <a:stretch/>
        </p:blipFill>
        <p:spPr>
          <a:xfrm>
            <a:off x="812800" y="1930400"/>
            <a:ext cx="5715000" cy="3048000"/>
          </a:xfrm>
          <a:prstGeom prst="rect">
            <a:avLst/>
          </a:prstGeom>
        </p:spPr>
      </p:pic>
      <p:sp>
        <p:nvSpPr>
          <p:cNvPr id="6" name="Text 3"/>
          <p:cNvSpPr/>
          <p:nvPr/>
        </p:nvSpPr>
        <p:spPr>
          <a:xfrm>
            <a:off x="1066800" y="2095500"/>
            <a:ext cx="196215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24C2E"/>
                </a:solidFill>
                <a:latin typeface="IBM Plex Sans" pitchFamily="34" charset="0"/>
                <a:ea typeface="IBM Plex Sans" pitchFamily="34" charset="-122"/>
                <a:cs typeface="IBM Plex Sans" pitchFamily="34" charset="-120"/>
              </a:rPr>
              <a:t>root, placed by the EF-Tu / EF-G comparison</a:t>
            </a:r>
            <a:endParaRPr lang="en-US" sz="1200" dirty="0"/>
          </a:p>
        </p:txBody>
      </p:sp>
      <p:sp>
        <p:nvSpPr>
          <p:cNvPr id="7" name="Text 4"/>
          <p:cNvSpPr/>
          <p:nvPr/>
        </p:nvSpPr>
        <p:spPr>
          <a:xfrm>
            <a:off x="5003800" y="2908300"/>
            <a:ext cx="138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6E"/>
                </a:solidFill>
                <a:latin typeface="IBM Plex Sans" pitchFamily="34" charset="0"/>
                <a:ea typeface="IBM Plex Sans" pitchFamily="34" charset="-122"/>
                <a:cs typeface="IBM Plex Sans" pitchFamily="34" charset="-120"/>
              </a:rPr>
              <a:t>sister groups</a:t>
            </a:r>
            <a:endParaRPr lang="en-US" sz="1200" dirty="0"/>
          </a:p>
        </p:txBody>
      </p:sp>
      <p:sp>
        <p:nvSpPr>
          <p:cNvPr id="8" name="Text 5"/>
          <p:cNvSpPr/>
          <p:nvPr/>
        </p:nvSpPr>
        <p:spPr>
          <a:xfrm>
            <a:off x="1041400" y="4533900"/>
            <a:ext cx="14478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24C2E"/>
                </a:solidFill>
                <a:latin typeface="IBM Plex Sans" pitchFamily="34" charset="0"/>
                <a:ea typeface="IBM Plex Sans" pitchFamily="34" charset="-122"/>
                <a:cs typeface="IBM Plex Sans" pitchFamily="34" charset="-120"/>
              </a:rPr>
              <a:t>Bacteria</a:t>
            </a:r>
            <a:endParaRPr lang="en-US" sz="1500" dirty="0"/>
          </a:p>
        </p:txBody>
      </p:sp>
      <p:sp>
        <p:nvSpPr>
          <p:cNvPr id="9" name="Text 6"/>
          <p:cNvSpPr/>
          <p:nvPr/>
        </p:nvSpPr>
        <p:spPr>
          <a:xfrm>
            <a:off x="3073400" y="4533900"/>
            <a:ext cx="14478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4A6FA5"/>
                </a:solidFill>
                <a:latin typeface="IBM Plex Sans" pitchFamily="34" charset="0"/>
                <a:ea typeface="IBM Plex Sans" pitchFamily="34" charset="-122"/>
                <a:cs typeface="IBM Plex Sans" pitchFamily="34" charset="-120"/>
              </a:rPr>
              <a:t>Archaea</a:t>
            </a:r>
            <a:endParaRPr lang="en-US" sz="1500" dirty="0"/>
          </a:p>
        </p:txBody>
      </p:sp>
      <p:sp>
        <p:nvSpPr>
          <p:cNvPr id="10" name="Text 7"/>
          <p:cNvSpPr/>
          <p:nvPr/>
        </p:nvSpPr>
        <p:spPr>
          <a:xfrm>
            <a:off x="5105400" y="4533900"/>
            <a:ext cx="14478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E6E6B"/>
                </a:solidFill>
                <a:latin typeface="IBM Plex Sans" pitchFamily="34" charset="0"/>
                <a:ea typeface="IBM Plex Sans" pitchFamily="34" charset="-122"/>
                <a:cs typeface="IBM Plex Sans" pitchFamily="34" charset="-120"/>
              </a:rPr>
              <a:t>Eucarya</a:t>
            </a:r>
            <a:endParaRPr lang="en-US" sz="1500" dirty="0"/>
          </a:p>
        </p:txBody>
      </p:sp>
      <p:sp>
        <p:nvSpPr>
          <p:cNvPr id="11" name="Shape 8"/>
          <p:cNvSpPr/>
          <p:nvPr/>
        </p:nvSpPr>
        <p:spPr>
          <a:xfrm>
            <a:off x="6781800" y="1930400"/>
            <a:ext cx="4597400" cy="1078230"/>
          </a:xfrm>
          <a:prstGeom prst="roundRect">
            <a:avLst>
              <a:gd name="adj" fmla="val 4711"/>
            </a:avLst>
          </a:prstGeom>
          <a:solidFill>
            <a:srgbClr val="FDFBF7"/>
          </a:solidFill>
          <a:ln/>
        </p:spPr>
      </p:sp>
      <p:sp>
        <p:nvSpPr>
          <p:cNvPr id="12" name="Shape 9"/>
          <p:cNvSpPr/>
          <p:nvPr/>
        </p:nvSpPr>
        <p:spPr>
          <a:xfrm>
            <a:off x="6807200" y="1930400"/>
            <a:ext cx="0" cy="1078230"/>
          </a:xfrm>
          <a:prstGeom prst="line">
            <a:avLst/>
          </a:prstGeom>
          <a:noFill/>
          <a:ln w="50800">
            <a:solidFill>
              <a:srgbClr val="2E6E6B"/>
            </a:solidFill>
            <a:prstDash val="solid"/>
          </a:ln>
        </p:spPr>
      </p:sp>
      <p:sp>
        <p:nvSpPr>
          <p:cNvPr id="13" name="Text 10"/>
          <p:cNvSpPr/>
          <p:nvPr/>
        </p:nvSpPr>
        <p:spPr>
          <a:xfrm>
            <a:off x="7010400" y="2082800"/>
            <a:ext cx="4316730" cy="79883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7222E"/>
                </a:solidFill>
                <a:latin typeface="IBM Plex Sans" pitchFamily="34" charset="0"/>
                <a:ea typeface="IBM Plex Sans" pitchFamily="34" charset="-122"/>
                <a:cs typeface="IBM Plex Sans" pitchFamily="34" charset="-120"/>
              </a:rPr>
              <a:t>Archaea and Eucarya are sisters.</a:t>
            </a:r>
            <a:r>
              <a:rPr lang="en-US" sz="1400" dirty="0">
                <a:solidFill>
                  <a:srgbClr val="17222E"/>
                </a:solidFill>
                <a:latin typeface="IBM Plex Sans" pitchFamily="34" charset="0"/>
                <a:ea typeface="IBM Plex Sans" pitchFamily="34" charset="-122"/>
                <a:cs typeface="IBM Plex Sans" pitchFamily="34" charset="-120"/>
              </a:rPr>
              <a:t> We are more closely related to a thermophilic archaeon than either of us is to </a:t>
            </a:r>
            <a:r>
              <a:rPr lang="en-US" sz="1400" i="1" dirty="0">
                <a:solidFill>
                  <a:srgbClr val="17222E"/>
                </a:solidFill>
                <a:latin typeface="IBM Plex Sans" pitchFamily="34" charset="0"/>
                <a:ea typeface="IBM Plex Sans" pitchFamily="34" charset="-122"/>
                <a:cs typeface="IBM Plex Sans" pitchFamily="34" charset="-120"/>
              </a:rPr>
              <a:t>E. coli</a:t>
            </a:r>
            <a:r>
              <a:rPr lang="en-US" sz="1400" dirty="0">
                <a:solidFill>
                  <a:srgbClr val="17222E"/>
                </a:solidFill>
                <a:latin typeface="IBM Plex Sans" pitchFamily="34" charset="0"/>
                <a:ea typeface="IBM Plex Sans" pitchFamily="34" charset="-122"/>
                <a:cs typeface="IBM Plex Sans" pitchFamily="34" charset="-120"/>
              </a:rPr>
              <a:t>.</a:t>
            </a:r>
            <a:endParaRPr lang="en-US" sz="1400" dirty="0"/>
          </a:p>
        </p:txBody>
      </p:sp>
      <p:sp>
        <p:nvSpPr>
          <p:cNvPr id="14" name="Shape 11"/>
          <p:cNvSpPr/>
          <p:nvPr/>
        </p:nvSpPr>
        <p:spPr>
          <a:xfrm>
            <a:off x="6781800" y="3148335"/>
            <a:ext cx="4597400" cy="1078230"/>
          </a:xfrm>
          <a:prstGeom prst="roundRect">
            <a:avLst>
              <a:gd name="adj" fmla="val 4711"/>
            </a:avLst>
          </a:prstGeom>
          <a:solidFill>
            <a:srgbClr val="FDFBF7"/>
          </a:solidFill>
          <a:ln/>
        </p:spPr>
      </p:sp>
      <p:sp>
        <p:nvSpPr>
          <p:cNvPr id="15" name="Shape 12"/>
          <p:cNvSpPr/>
          <p:nvPr/>
        </p:nvSpPr>
        <p:spPr>
          <a:xfrm>
            <a:off x="6807200" y="3148335"/>
            <a:ext cx="0" cy="1078230"/>
          </a:xfrm>
          <a:prstGeom prst="line">
            <a:avLst/>
          </a:prstGeom>
          <a:noFill/>
          <a:ln w="50800">
            <a:solidFill>
              <a:srgbClr val="2E6E6B"/>
            </a:solidFill>
            <a:prstDash val="solid"/>
          </a:ln>
        </p:spPr>
      </p:sp>
      <p:sp>
        <p:nvSpPr>
          <p:cNvPr id="16" name="Text 13"/>
          <p:cNvSpPr/>
          <p:nvPr/>
        </p:nvSpPr>
        <p:spPr>
          <a:xfrm>
            <a:off x="7010400" y="3300735"/>
            <a:ext cx="4316730"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22E"/>
                </a:solidFill>
                <a:latin typeface="IBM Plex Sans" pitchFamily="34" charset="0"/>
                <a:ea typeface="IBM Plex Sans" pitchFamily="34" charset="-122"/>
                <a:cs typeface="IBM Plex Sans" pitchFamily="34" charset="-120"/>
              </a:rPr>
              <a:t>Now every branch has a </a:t>
            </a:r>
            <a:r>
              <a:rPr lang="en-US" sz="1400" b="1" dirty="0">
                <a:solidFill>
                  <a:srgbClr val="17222E"/>
                </a:solidFill>
                <a:latin typeface="IBM Plex Sans" pitchFamily="34" charset="0"/>
                <a:ea typeface="IBM Plex Sans" pitchFamily="34" charset="-122"/>
                <a:cs typeface="IBM Plex Sans" pitchFamily="34" charset="-120"/>
              </a:rPr>
              <a:t>direction</a:t>
            </a:r>
            <a:r>
              <a:rPr lang="en-US" sz="1400" dirty="0">
                <a:solidFill>
                  <a:srgbClr val="17222E"/>
                </a:solidFill>
                <a:latin typeface="IBM Plex Sans" pitchFamily="34" charset="0"/>
                <a:ea typeface="IBM Plex Sans" pitchFamily="34" charset="-122"/>
                <a:cs typeface="IBM Plex Sans" pitchFamily="34" charset="-120"/>
              </a:rPr>
              <a:t>. You can say which state is ancestral and which derived, polarise a character change, and ask what LUCA already had.</a:t>
            </a:r>
            <a:endParaRPr lang="en-US" sz="1400" dirty="0"/>
          </a:p>
        </p:txBody>
      </p:sp>
      <p:sp>
        <p:nvSpPr>
          <p:cNvPr id="17" name="Shape 14"/>
          <p:cNvSpPr/>
          <p:nvPr/>
        </p:nvSpPr>
        <p:spPr>
          <a:xfrm>
            <a:off x="6781800" y="4366258"/>
            <a:ext cx="4597400" cy="1078230"/>
          </a:xfrm>
          <a:prstGeom prst="roundRect">
            <a:avLst>
              <a:gd name="adj" fmla="val 4711"/>
            </a:avLst>
          </a:prstGeom>
          <a:solidFill>
            <a:srgbClr val="17222E"/>
          </a:solidFill>
          <a:ln/>
        </p:spPr>
      </p:sp>
      <p:sp>
        <p:nvSpPr>
          <p:cNvPr id="18" name="Text 15"/>
          <p:cNvSpPr/>
          <p:nvPr/>
        </p:nvSpPr>
        <p:spPr>
          <a:xfrm>
            <a:off x="6959600" y="4518658"/>
            <a:ext cx="436905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4F1EA"/>
                </a:solidFill>
                <a:latin typeface="IBM Plex Sans" pitchFamily="34" charset="0"/>
                <a:ea typeface="IBM Plex Sans" pitchFamily="34" charset="-122"/>
                <a:cs typeface="IBM Plex Sans" pitchFamily="34" charset="-120"/>
              </a:rPr>
              <a:t>And the whole thing rests on a gene duplication — the same event that in part one was mostly a way to get your dates wrong.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recap: duplication, parsimony, rooting</dc:title>
  <dc:subject>PptxGenJS Presentation</dc:subject>
  <dc:creator>PptxGenJS</dc:creator>
  <cp:lastModifiedBy>PptxGenJS</cp:lastModifiedBy>
  <cp:revision>1</cp:revision>
  <dcterms:created xsi:type="dcterms:W3CDTF">2026-09-17T20:26:17Z</dcterms:created>
  <dcterms:modified xsi:type="dcterms:W3CDTF">2026-09-17T20:26:17Z</dcterms:modified>
</cp:coreProperties>
</file>